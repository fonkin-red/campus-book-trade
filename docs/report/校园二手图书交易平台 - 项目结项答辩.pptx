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4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4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333333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3" name="AutoShap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blipFill rotWithShape="1">
            <a:blip r:embed="rId1">
              <a:alphaModFix amt="100000"/>
              <a:alphaModFix amt="100000"/>
            </a:blip>
            <a:stretch>
              <a:fillRect/>
            </a:stretch>
          </a:blipFill>
          <a:ln>
            <a:headEnd type="none"/>
            <a:tailEnd type="none"/>
          </a:ln>
        </p:spPr>
      </p:sp>
      <p:sp>
        <p:nvSpPr>
          <p:cNvPr id="4" name="AutoShape 4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F3D">
              <a:alpha val="65098"/>
            </a:srgbClr>
          </a:solidFill>
          <a:ln>
            <a:headEnd type="none"/>
            <a:tailEnd type="none"/>
          </a:ln>
        </p:spPr>
      </p:sp>
      <p:sp>
        <p:nvSpPr>
          <p:cNvPr id="5" name="AutoShape 5"/>
          <p:cNvSpPr/>
          <p:nvPr/>
        </p:nvSpPr>
        <p:spPr>
          <a:xfrm>
            <a:off x="609448" y="700088"/>
            <a:ext cx="228543" cy="19050"/>
          </a:xfrm>
          <a:prstGeom prst="rect">
            <a:avLst/>
          </a:prstGeom>
          <a:solidFill>
            <a:srgbClr val="5B8CB8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6" name="TextBox 6"/>
          <p:cNvSpPr txBox="1"/>
          <p:nvPr/>
        </p:nvSpPr>
        <p:spPr>
          <a:xfrm>
            <a:off x="952261" y="628650"/>
            <a:ext cx="2058224" cy="1524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000" b="0" i="0" strike="noStrike">
                <a:solidFill>
                  <a:srgbClr val="F1F3F5">
                    <a:alpha val="100000"/>
                  </a:srgbClr>
                </a:solidFill>
                <a:latin typeface="Inter"/>
                <a:ea typeface="Inter"/>
                <a:cs typeface="Inter"/>
              </a:rPr>
              <a:t>Project Defense 2026</a:t>
            </a:r>
            <a:endParaRPr lang="en-US" sz="1100"/>
          </a:p>
        </p:txBody>
      </p:sp>
      <p:sp>
        <p:nvSpPr>
          <p:cNvPr id="7" name="TextBox 7"/>
          <p:cNvSpPr txBox="1"/>
          <p:nvPr/>
        </p:nvSpPr>
        <p:spPr>
          <a:xfrm>
            <a:off x="2344052" y="2180481"/>
            <a:ext cx="7500847" cy="1508523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1"/>
          <a:lstStyle/>
          <a:p>
            <a:pPr algn="ctr">
              <a:defRPr/>
            </a:pPr>
            <a:r>
              <a:rPr lang="en-US" sz="5400" b="1" i="0" strike="noStrike">
                <a:solidFill>
                  <a:srgbClr val="F1F3F5">
                    <a:alpha val="100000"/>
                  </a:srgbClr>
                </a:solidFill>
                <a:latin typeface="Source Han Serif CN"/>
                <a:ea typeface="Source Han Serif CN"/>
                <a:cs typeface="Source Han Serif CN"/>
              </a:rPr>
              <a:t>校园二手图书</a:t>
            </a:r>
            <a:endParaRPr lang="en-US" sz="1100"/>
          </a:p>
          <a:p>
            <a:pPr algn="ctr"/>
            <a:r>
              <a:rPr sz="5400" b="1" i="0" strike="noStrike">
                <a:solidFill>
                  <a:srgbClr val="F1F3F5">
                    <a:alpha val="100000"/>
                  </a:srgbClr>
                </a:solidFill>
                <a:latin typeface="Source Han Serif CN"/>
                <a:ea typeface="Source Han Serif CN"/>
                <a:cs typeface="Source Han Serif CN"/>
              </a:rPr>
              <a:t>交易平台</a:t>
            </a:r>
            <a:endParaRPr sz="5400" b="1" i="0" strike="noStrike">
              <a:solidFill>
                <a:srgbClr val="F1F3F5">
                  <a:alpha val="100000"/>
                </a:srgbClr>
              </a:solidFill>
              <a:latin typeface="Source Han Serif CN"/>
              <a:ea typeface="Source Han Serif CN"/>
              <a:cs typeface="Source Han Serif CN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2055175" y="3894684"/>
            <a:ext cx="8078603" cy="335161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1"/>
          <a:lstStyle/>
          <a:p>
            <a:pPr algn="ctr">
              <a:defRPr/>
            </a:pPr>
            <a:r>
              <a:rPr lang="en-US" sz="1600" b="0" i="0" strike="noStrike">
                <a:solidFill>
                  <a:srgbClr val="F1F3F5">
                    <a:alpha val="90196"/>
                  </a:srgbClr>
                </a:solidFill>
                <a:latin typeface="Source Han Sans"/>
                <a:ea typeface="Source Han Sans"/>
                <a:cs typeface="Source Han Sans"/>
              </a:rPr>
              <a:t>计算机学院第 17 小组 · 项目结项答辩 · 2026 年 5 月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09448" y="5600700"/>
            <a:ext cx="10970057" cy="9525"/>
          </a:xfrm>
          <a:prstGeom prst="line">
            <a:avLst/>
          </a:prstGeom>
          <a:ln w="9525">
            <a:solidFill>
              <a:srgbClr val="F1F3F5">
                <a:alpha val="23921"/>
              </a:srgbClr>
            </a:solidFill>
            <a:prstDash val="solid"/>
            <a:headEnd type="none"/>
            <a:tailEnd type="none"/>
          </a:ln>
        </p:spPr>
      </p:sp>
      <p:sp>
        <p:nvSpPr>
          <p:cNvPr id="10" name="TextBox 10"/>
          <p:cNvSpPr txBox="1"/>
          <p:nvPr/>
        </p:nvSpPr>
        <p:spPr>
          <a:xfrm>
            <a:off x="609448" y="5857875"/>
            <a:ext cx="2585688" cy="14287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900" b="1" i="0" strike="noStrike">
                <a:solidFill>
                  <a:srgbClr val="5B8CB8">
                    <a:alpha val="100000"/>
                  </a:srgbClr>
                </a:solidFill>
                <a:latin typeface="Inter"/>
                <a:ea typeface="Inter"/>
                <a:cs typeface="Inter"/>
              </a:rPr>
              <a:t>COMPUTER SCIENCE DEPT.</a:t>
            </a:r>
            <a:endParaRPr lang="en-US" sz="1100"/>
          </a:p>
        </p:txBody>
      </p:sp>
      <p:sp>
        <p:nvSpPr>
          <p:cNvPr id="11" name="TextBox 11"/>
          <p:cNvSpPr txBox="1"/>
          <p:nvPr/>
        </p:nvSpPr>
        <p:spPr>
          <a:xfrm>
            <a:off x="609448" y="6081712"/>
            <a:ext cx="10970057" cy="14287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solidFill>
                  <a:srgbClr val="F1F3F5">
                    <a:alpha val="100000"/>
                  </a:srgbClr>
                </a:solidFill>
                <a:latin typeface="Inter"/>
                <a:ea typeface="Inter"/>
                <a:cs typeface="Inter"/>
              </a:rPr>
              <a:t>School of Computer Science &amp; Technology</a:t>
            </a:r>
            <a:endParaRPr lang="en-US" sz="1100"/>
          </a:p>
        </p:txBody>
      </p:sp>
      <p:sp>
        <p:nvSpPr>
          <p:cNvPr id="12" name="TextBox 12"/>
          <p:cNvSpPr txBox="1"/>
          <p:nvPr/>
        </p:nvSpPr>
        <p:spPr>
          <a:xfrm>
            <a:off x="11200831" y="6081712"/>
            <a:ext cx="407241" cy="14287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900" b="1" i="0" strike="noStrike">
                <a:solidFill>
                  <a:srgbClr val="F1F3F5">
                    <a:alpha val="100000"/>
                  </a:srgbClr>
                </a:solidFill>
                <a:latin typeface="Inter"/>
                <a:ea typeface="Inter"/>
                <a:cs typeface="Inter"/>
              </a:rPr>
              <a:t>01 / 12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333333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3" name="AutoShap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3F5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4" name="TextBox 4"/>
          <p:cNvSpPr txBox="1"/>
          <p:nvPr/>
        </p:nvSpPr>
        <p:spPr>
          <a:xfrm>
            <a:off x="457086" y="476250"/>
            <a:ext cx="11274781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solidFill>
                  <a:srgbClr val="5B8CB8">
                    <a:alpha val="50196"/>
                  </a:srgbClr>
                </a:solidFill>
                <a:latin typeface="Inter"/>
                <a:ea typeface="Inter"/>
                <a:cs typeface="Inter"/>
              </a:rPr>
              <a:t>Table of Contents</a:t>
            </a:r>
            <a:endParaRPr lang="en-US" sz="1100"/>
          </a:p>
        </p:txBody>
      </p:sp>
      <p:sp>
        <p:nvSpPr>
          <p:cNvPr id="5" name="TextBox 5"/>
          <p:cNvSpPr txBox="1"/>
          <p:nvPr/>
        </p:nvSpPr>
        <p:spPr>
          <a:xfrm>
            <a:off x="457086" y="750541"/>
            <a:ext cx="11274781" cy="5048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3600" b="1" i="0" strike="noStrike">
                <a:solidFill>
                  <a:srgbClr val="0A1F3D">
                    <a:alpha val="100000"/>
                  </a:srgbClr>
                </a:solidFill>
                <a:latin typeface="Source Han Serif CN"/>
                <a:ea typeface="Source Han Serif CN"/>
                <a:cs typeface="Source Han Serif CN"/>
              </a:rPr>
              <a:t>汇报目录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457086" y="2398216"/>
            <a:ext cx="11274781" cy="9525"/>
          </a:xfrm>
          <a:prstGeom prst="line">
            <a:avLst/>
          </a:prstGeom>
          <a:ln w="9525">
            <a:solidFill>
              <a:srgbClr val="D1D5DB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7" name="TextBox 7"/>
          <p:cNvSpPr txBox="1"/>
          <p:nvPr/>
        </p:nvSpPr>
        <p:spPr>
          <a:xfrm>
            <a:off x="457086" y="2032546"/>
            <a:ext cx="457086" cy="1619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200" b="1" i="0" strike="noStrike">
                <a:solidFill>
                  <a:srgbClr val="5B8CB8">
                    <a:alpha val="80000"/>
                  </a:srgbClr>
                </a:solidFill>
                <a:latin typeface="Inter"/>
                <a:ea typeface="Inter"/>
                <a:cs typeface="Inter"/>
              </a:rPr>
              <a:t>01</a:t>
            </a:r>
            <a:endParaRPr lang="en-US" sz="1100"/>
          </a:p>
        </p:txBody>
      </p:sp>
      <p:sp>
        <p:nvSpPr>
          <p:cNvPr id="8" name="TextBox 8"/>
          <p:cNvSpPr txBox="1"/>
          <p:nvPr/>
        </p:nvSpPr>
        <p:spPr>
          <a:xfrm>
            <a:off x="1157891" y="1956346"/>
            <a:ext cx="10181911" cy="25717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800" b="0" i="0" strike="noStrike">
                <a:solidFill>
                  <a:srgbClr val="0A1F3D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项目背景与目标</a:t>
            </a:r>
            <a:endParaRPr lang="en-US" sz="1100"/>
          </a:p>
        </p:txBody>
      </p:sp>
      <p:sp>
        <p:nvSpPr>
          <p:cNvPr id="9" name="TextBox 9"/>
          <p:cNvSpPr txBox="1"/>
          <p:nvPr/>
        </p:nvSpPr>
        <p:spPr>
          <a:xfrm>
            <a:off x="11583521" y="2032546"/>
            <a:ext cx="186435" cy="1524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000" b="0" i="0" strike="noStrike">
                <a:solidFill>
                  <a:srgbClr val="0A1F3D">
                    <a:alpha val="40000"/>
                  </a:srgbClr>
                </a:solidFill>
                <a:latin typeface="Inter"/>
                <a:ea typeface="Inter"/>
                <a:cs typeface="Inter"/>
              </a:rPr>
              <a:t>03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57086" y="3183136"/>
            <a:ext cx="11274781" cy="9525"/>
          </a:xfrm>
          <a:prstGeom prst="line">
            <a:avLst/>
          </a:prstGeom>
          <a:ln w="9525">
            <a:solidFill>
              <a:srgbClr val="D1D5DB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1" name="TextBox 11"/>
          <p:cNvSpPr txBox="1"/>
          <p:nvPr/>
        </p:nvSpPr>
        <p:spPr>
          <a:xfrm>
            <a:off x="457086" y="2817466"/>
            <a:ext cx="457086" cy="1619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200" b="1" i="0" strike="noStrike">
                <a:solidFill>
                  <a:srgbClr val="5B8CB8">
                    <a:alpha val="80000"/>
                  </a:srgbClr>
                </a:solidFill>
                <a:latin typeface="Inter"/>
                <a:ea typeface="Inter"/>
                <a:cs typeface="Inter"/>
              </a:rPr>
              <a:t>02</a:t>
            </a:r>
            <a:endParaRPr lang="en-US" sz="1100"/>
          </a:p>
        </p:txBody>
      </p:sp>
      <p:sp>
        <p:nvSpPr>
          <p:cNvPr id="12" name="TextBox 12"/>
          <p:cNvSpPr txBox="1"/>
          <p:nvPr/>
        </p:nvSpPr>
        <p:spPr>
          <a:xfrm>
            <a:off x="1157891" y="2741266"/>
            <a:ext cx="10181911" cy="25717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800" b="0" i="0" strike="noStrike">
                <a:solidFill>
                  <a:srgbClr val="0A1F3D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用户需求与场景</a:t>
            </a:r>
            <a:endParaRPr lang="en-US" sz="1100"/>
          </a:p>
        </p:txBody>
      </p:sp>
      <p:sp>
        <p:nvSpPr>
          <p:cNvPr id="13" name="TextBox 13"/>
          <p:cNvSpPr txBox="1"/>
          <p:nvPr/>
        </p:nvSpPr>
        <p:spPr>
          <a:xfrm>
            <a:off x="11583521" y="2817466"/>
            <a:ext cx="186435" cy="1524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000" b="0" i="0" strike="noStrike">
                <a:solidFill>
                  <a:srgbClr val="0A1F3D">
                    <a:alpha val="40000"/>
                  </a:srgbClr>
                </a:solidFill>
                <a:latin typeface="Inter"/>
                <a:ea typeface="Inter"/>
                <a:cs typeface="Inter"/>
              </a:rPr>
              <a:t>08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457086" y="3968055"/>
            <a:ext cx="11274781" cy="9525"/>
          </a:xfrm>
          <a:prstGeom prst="line">
            <a:avLst/>
          </a:prstGeom>
          <a:ln w="9525">
            <a:solidFill>
              <a:srgbClr val="D1D5DB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5" name="TextBox 15"/>
          <p:cNvSpPr txBox="1"/>
          <p:nvPr/>
        </p:nvSpPr>
        <p:spPr>
          <a:xfrm>
            <a:off x="457086" y="3602384"/>
            <a:ext cx="457086" cy="1619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200" b="1" i="0" strike="noStrike">
                <a:solidFill>
                  <a:srgbClr val="5B8CB8">
                    <a:alpha val="80000"/>
                  </a:srgbClr>
                </a:solidFill>
                <a:latin typeface="Inter"/>
                <a:ea typeface="Inter"/>
                <a:cs typeface="Inter"/>
              </a:rPr>
              <a:t>03</a:t>
            </a:r>
            <a:endParaRPr lang="en-US" sz="1100"/>
          </a:p>
        </p:txBody>
      </p:sp>
      <p:sp>
        <p:nvSpPr>
          <p:cNvPr id="16" name="TextBox 16"/>
          <p:cNvSpPr txBox="1"/>
          <p:nvPr/>
        </p:nvSpPr>
        <p:spPr>
          <a:xfrm>
            <a:off x="1157891" y="3526184"/>
            <a:ext cx="10181911" cy="25717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800" b="0" i="0" strike="noStrike">
                <a:solidFill>
                  <a:srgbClr val="0A1F3D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技术架构设计</a:t>
            </a:r>
            <a:endParaRPr lang="en-US" sz="1100"/>
          </a:p>
        </p:txBody>
      </p:sp>
      <p:sp>
        <p:nvSpPr>
          <p:cNvPr id="17" name="TextBox 17"/>
          <p:cNvSpPr txBox="1"/>
          <p:nvPr/>
        </p:nvSpPr>
        <p:spPr>
          <a:xfrm>
            <a:off x="11583521" y="3602384"/>
            <a:ext cx="186435" cy="1524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000" b="0" i="0" strike="noStrike">
                <a:solidFill>
                  <a:srgbClr val="0A1F3D">
                    <a:alpha val="40000"/>
                  </a:srgbClr>
                </a:solidFill>
                <a:latin typeface="Inter"/>
                <a:ea typeface="Inter"/>
                <a:cs typeface="Inter"/>
              </a:rPr>
              <a:t>15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457086" y="4752975"/>
            <a:ext cx="11274781" cy="9525"/>
          </a:xfrm>
          <a:prstGeom prst="line">
            <a:avLst/>
          </a:prstGeom>
          <a:ln w="9525">
            <a:solidFill>
              <a:srgbClr val="D1D5DB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9" name="TextBox 19"/>
          <p:cNvSpPr txBox="1"/>
          <p:nvPr/>
        </p:nvSpPr>
        <p:spPr>
          <a:xfrm>
            <a:off x="457086" y="4387304"/>
            <a:ext cx="457086" cy="1619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200" b="1" i="0" strike="noStrike">
                <a:solidFill>
                  <a:srgbClr val="5B8CB8">
                    <a:alpha val="80000"/>
                  </a:srgbClr>
                </a:solidFill>
                <a:latin typeface="Inter"/>
                <a:ea typeface="Inter"/>
                <a:cs typeface="Inter"/>
              </a:rPr>
              <a:t>04</a:t>
            </a:r>
            <a:endParaRPr lang="en-US" sz="1100"/>
          </a:p>
        </p:txBody>
      </p:sp>
      <p:sp>
        <p:nvSpPr>
          <p:cNvPr id="20" name="TextBox 20"/>
          <p:cNvSpPr txBox="1"/>
          <p:nvPr/>
        </p:nvSpPr>
        <p:spPr>
          <a:xfrm>
            <a:off x="1157891" y="4311104"/>
            <a:ext cx="10181911" cy="25717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800" b="0" i="0" strike="noStrike">
                <a:solidFill>
                  <a:srgbClr val="0A1F3D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功能实现与测试</a:t>
            </a:r>
            <a:endParaRPr lang="en-US" sz="1100"/>
          </a:p>
        </p:txBody>
      </p:sp>
      <p:sp>
        <p:nvSpPr>
          <p:cNvPr id="21" name="TextBox 21"/>
          <p:cNvSpPr txBox="1"/>
          <p:nvPr/>
        </p:nvSpPr>
        <p:spPr>
          <a:xfrm>
            <a:off x="11583521" y="4387304"/>
            <a:ext cx="186435" cy="1524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000" b="0" i="0" strike="noStrike">
                <a:solidFill>
                  <a:srgbClr val="0A1F3D">
                    <a:alpha val="40000"/>
                  </a:srgbClr>
                </a:solidFill>
                <a:latin typeface="Inter"/>
                <a:ea typeface="Inter"/>
                <a:cs typeface="Inter"/>
              </a:rPr>
              <a:t>22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457086" y="5537746"/>
            <a:ext cx="11274781" cy="9525"/>
          </a:xfrm>
          <a:prstGeom prst="line">
            <a:avLst/>
          </a:prstGeom>
          <a:ln w="9525">
            <a:solidFill>
              <a:srgbClr val="D1D5DB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23" name="TextBox 23"/>
          <p:cNvSpPr txBox="1"/>
          <p:nvPr/>
        </p:nvSpPr>
        <p:spPr>
          <a:xfrm>
            <a:off x="457086" y="5172075"/>
            <a:ext cx="457086" cy="1619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200" b="1" i="0" strike="noStrike">
                <a:solidFill>
                  <a:srgbClr val="5B8CB8">
                    <a:alpha val="80000"/>
                  </a:srgbClr>
                </a:solidFill>
                <a:latin typeface="Inter"/>
                <a:ea typeface="Inter"/>
                <a:cs typeface="Inter"/>
              </a:rPr>
              <a:t>05</a:t>
            </a:r>
            <a:endParaRPr lang="en-US" sz="1100"/>
          </a:p>
        </p:txBody>
      </p:sp>
      <p:sp>
        <p:nvSpPr>
          <p:cNvPr id="24" name="TextBox 24"/>
          <p:cNvSpPr txBox="1"/>
          <p:nvPr/>
        </p:nvSpPr>
        <p:spPr>
          <a:xfrm>
            <a:off x="1157891" y="5095875"/>
            <a:ext cx="10181911" cy="25717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800" b="0" i="0" strike="noStrike">
                <a:solidFill>
                  <a:srgbClr val="0A1F3D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总结与展望</a:t>
            </a:r>
            <a:endParaRPr lang="en-US" sz="1100"/>
          </a:p>
        </p:txBody>
      </p:sp>
      <p:sp>
        <p:nvSpPr>
          <p:cNvPr id="25" name="TextBox 25"/>
          <p:cNvSpPr txBox="1"/>
          <p:nvPr/>
        </p:nvSpPr>
        <p:spPr>
          <a:xfrm>
            <a:off x="11583521" y="5172075"/>
            <a:ext cx="186435" cy="1524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000" b="0" i="0" strike="noStrike">
                <a:solidFill>
                  <a:srgbClr val="0A1F3D">
                    <a:alpha val="40000"/>
                  </a:srgbClr>
                </a:solidFill>
                <a:latin typeface="Inter"/>
                <a:ea typeface="Inter"/>
                <a:cs typeface="Inter"/>
              </a:rPr>
              <a:t>28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457086" y="6116984"/>
            <a:ext cx="11274781" cy="9525"/>
          </a:xfrm>
          <a:prstGeom prst="line">
            <a:avLst/>
          </a:prstGeom>
          <a:ln w="9525">
            <a:solidFill>
              <a:srgbClr val="D1D5DB">
                <a:alpha val="60000"/>
              </a:srgbClr>
            </a:solidFill>
            <a:prstDash val="solid"/>
            <a:headEnd type="none"/>
            <a:tailEnd type="none"/>
          </a:ln>
        </p:spPr>
      </p:sp>
      <p:sp>
        <p:nvSpPr>
          <p:cNvPr id="27" name="TextBox 27"/>
          <p:cNvSpPr txBox="1"/>
          <p:nvPr/>
        </p:nvSpPr>
        <p:spPr>
          <a:xfrm>
            <a:off x="457086" y="6248400"/>
            <a:ext cx="485803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solidFill>
                  <a:srgbClr val="0A1F3D">
                    <a:alpha val="100000"/>
                  </a:srgbClr>
                </a:solidFill>
                <a:latin typeface="Inter"/>
                <a:ea typeface="Inter"/>
                <a:cs typeface="Inter"/>
              </a:rPr>
              <a:t>目录 · 02</a:t>
            </a:r>
            <a:endParaRPr lang="en-US" sz="1100"/>
          </a:p>
        </p:txBody>
      </p:sp>
      <p:sp>
        <p:nvSpPr>
          <p:cNvPr id="28" name="TextBox 28"/>
          <p:cNvSpPr txBox="1"/>
          <p:nvPr/>
        </p:nvSpPr>
        <p:spPr>
          <a:xfrm>
            <a:off x="10589152" y="6248400"/>
            <a:ext cx="1171282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solidFill>
                  <a:srgbClr val="0A1F3D">
                    <a:alpha val="100000"/>
                  </a:srgbClr>
                </a:solidFill>
                <a:latin typeface="Inter"/>
                <a:ea typeface="Inter"/>
                <a:cs typeface="Inter"/>
              </a:rPr>
              <a:t>校园二手图书交易平台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333333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3" name="AutoShap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3F5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4" name="TextBox 4"/>
          <p:cNvSpPr txBox="1"/>
          <p:nvPr/>
        </p:nvSpPr>
        <p:spPr>
          <a:xfrm>
            <a:off x="457086" y="476250"/>
            <a:ext cx="11274781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solidFill>
                  <a:srgbClr val="0A1F3D">
                    <a:alpha val="60000"/>
                  </a:srgbClr>
                </a:solidFill>
                <a:latin typeface="Inter"/>
                <a:ea typeface="Inter"/>
                <a:cs typeface="Inter"/>
              </a:rPr>
              <a:t>PROJECT OVERVIEW</a:t>
            </a:r>
            <a:endParaRPr lang="en-US" sz="1100"/>
          </a:p>
        </p:txBody>
      </p:sp>
      <p:sp>
        <p:nvSpPr>
          <p:cNvPr id="5" name="TextBox 5"/>
          <p:cNvSpPr txBox="1"/>
          <p:nvPr/>
        </p:nvSpPr>
        <p:spPr>
          <a:xfrm>
            <a:off x="457086" y="750541"/>
            <a:ext cx="11274781" cy="4381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3100" b="1" i="0" strike="noStrike">
                <a:solidFill>
                  <a:srgbClr val="0A1F3D">
                    <a:alpha val="100000"/>
                  </a:srgbClr>
                </a:solidFill>
                <a:latin typeface="Source Han Serif CN"/>
                <a:ea typeface="Source Han Serif CN"/>
                <a:cs typeface="Source Han Serif CN"/>
              </a:rPr>
              <a:t>项目背景与核心目标</a:t>
            </a:r>
            <a:endParaRPr lang="en-US" sz="1100"/>
          </a:p>
        </p:txBody>
      </p:sp>
      <p:sp>
        <p:nvSpPr>
          <p:cNvPr id="6" name="TextBox 6"/>
          <p:cNvSpPr txBox="1"/>
          <p:nvPr/>
        </p:nvSpPr>
        <p:spPr>
          <a:xfrm>
            <a:off x="457086" y="1318023"/>
            <a:ext cx="11274781" cy="464791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300" b="0" i="0" strike="noStrike">
                <a:solidFill>
                  <a:srgbClr val="0A1F3D">
                    <a:alpha val="80000"/>
                  </a:srgbClr>
                </a:solidFill>
                <a:latin typeface="AlibabaPuHuiTi"/>
                <a:ea typeface="AlibabaPuHuiTi"/>
                <a:cs typeface="AlibabaPuHuiTi"/>
              </a:rPr>
              <a:t>构建面向校园内部的 Web 交易平台，通过线上化、流程化、规范化的设计，盘活闲置图书资源，促</a:t>
            </a:r>
            <a:endParaRPr lang="en-US" sz="1100"/>
          </a:p>
          <a:p>
            <a:pPr algn="l"/>
            <a:r>
              <a:rPr sz="1300" b="0" i="0" strike="noStrike">
                <a:solidFill>
                  <a:srgbClr val="0A1F3D">
                    <a:alpha val="80000"/>
                  </a:srgbClr>
                </a:solidFill>
                <a:latin typeface="AlibabaPuHuiTi"/>
                <a:ea typeface="AlibabaPuHuiTi"/>
                <a:cs typeface="AlibabaPuHuiTi"/>
              </a:rPr>
              <a:t>进绿色阅读与资源循环利用。</a:t>
            </a:r>
            <a:endParaRPr sz="1300" b="0" i="0" strike="noStrike">
              <a:solidFill>
                <a:srgbClr val="0A1F3D">
                  <a:alpha val="80000"/>
                </a:srgbClr>
              </a:solidFill>
              <a:latin typeface="AlibabaPuHuiTi"/>
              <a:ea typeface="AlibabaPuHuiTi"/>
              <a:cs typeface="AlibabaPuHuiTi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457086" y="2133303"/>
            <a:ext cx="5523120" cy="3552825"/>
          </a:xfrm>
          <a:prstGeom prst="roundRect">
            <a:avLst>
              <a:gd name="adj" fmla="val 138"/>
            </a:avLst>
          </a:prstGeom>
          <a:blipFill rotWithShape="1">
            <a:blip r:embed="rId1">
              <a:alphaModFix amt="100000"/>
              <a:alphaModFix amt="100000"/>
            </a:blip>
            <a:stretch>
              <a:fillRect/>
            </a:stretch>
          </a:blipFill>
          <a:ln>
            <a:headEnd type="none"/>
            <a:tailEnd type="none"/>
          </a:ln>
        </p:spPr>
      </p:sp>
      <p:sp>
        <p:nvSpPr>
          <p:cNvPr id="8" name="AutoShape 8"/>
          <p:cNvSpPr/>
          <p:nvPr/>
        </p:nvSpPr>
        <p:spPr>
          <a:xfrm>
            <a:off x="745964" y="2533353"/>
            <a:ext cx="228543" cy="228600"/>
          </a:xfrm>
          <a:custGeom>
            <a:avLst/>
            <a:gdLst/>
            <a:ahLst/>
            <a:cxnLst/>
            <a:rect l="l" t="t" r="r" b="b"/>
            <a:pathLst>
              <a:path w="9998" h="10000">
                <a:moveTo>
                  <a:pt x="5415" y="254"/>
                </a:moveTo>
                <a:lnTo>
                  <a:pt x="9955" y="9188"/>
                </a:lnTo>
                <a:cubicBezTo>
                  <a:pt x="10018" y="9310"/>
                  <a:pt x="10032" y="9444"/>
                  <a:pt x="9998" y="9589"/>
                </a:cubicBezTo>
                <a:cubicBezTo>
                  <a:pt x="9963" y="9733"/>
                  <a:pt x="9888" y="9844"/>
                  <a:pt x="9774" y="9924"/>
                </a:cubicBezTo>
                <a:cubicBezTo>
                  <a:pt x="9704" y="9974"/>
                  <a:pt x="9625" y="10000"/>
                  <a:pt x="9536" y="10000"/>
                </a:cubicBezTo>
                <a:lnTo>
                  <a:pt x="476" y="10000"/>
                </a:lnTo>
                <a:cubicBezTo>
                  <a:pt x="342" y="10000"/>
                  <a:pt x="230" y="9946"/>
                  <a:pt x="138" y="9838"/>
                </a:cubicBezTo>
                <a:cubicBezTo>
                  <a:pt x="46" y="9729"/>
                  <a:pt x="0" y="9603"/>
                  <a:pt x="0" y="9459"/>
                </a:cubicBezTo>
                <a:cubicBezTo>
                  <a:pt x="0" y="9357"/>
                  <a:pt x="19" y="9267"/>
                  <a:pt x="57" y="9188"/>
                </a:cubicBezTo>
                <a:lnTo>
                  <a:pt x="4597" y="254"/>
                </a:lnTo>
                <a:cubicBezTo>
                  <a:pt x="4660" y="124"/>
                  <a:pt x="4755" y="40"/>
                  <a:pt x="4882" y="0"/>
                </a:cubicBezTo>
                <a:cubicBezTo>
                  <a:pt x="5009" y="-40"/>
                  <a:pt x="5130" y="-23"/>
                  <a:pt x="5244" y="49"/>
                </a:cubicBezTo>
                <a:cubicBezTo>
                  <a:pt x="5320" y="99"/>
                  <a:pt x="5377" y="168"/>
                  <a:pt x="5415" y="254"/>
                </a:cubicBezTo>
                <a:moveTo>
                  <a:pt x="5006" y="1608"/>
                </a:moveTo>
                <a:lnTo>
                  <a:pt x="1294" y="8917"/>
                </a:lnTo>
                <a:lnTo>
                  <a:pt x="8718" y="8917"/>
                </a:lnTo>
                <a:lnTo>
                  <a:pt x="5006" y="1608"/>
                </a:lnTo>
                <a:moveTo>
                  <a:pt x="4530" y="8376"/>
                </a:moveTo>
                <a:lnTo>
                  <a:pt x="4530" y="7293"/>
                </a:lnTo>
                <a:lnTo>
                  <a:pt x="5482" y="7293"/>
                </a:lnTo>
                <a:lnTo>
                  <a:pt x="5482" y="8376"/>
                </a:lnTo>
                <a:lnTo>
                  <a:pt x="4530" y="8376"/>
                </a:lnTo>
                <a:moveTo>
                  <a:pt x="4530" y="6210"/>
                </a:moveTo>
                <a:lnTo>
                  <a:pt x="4530" y="3503"/>
                </a:lnTo>
                <a:lnTo>
                  <a:pt x="5482" y="3503"/>
                </a:lnTo>
                <a:lnTo>
                  <a:pt x="5482" y="6210"/>
                </a:lnTo>
              </a:path>
            </a:pathLst>
          </a:custGeom>
          <a:solidFill>
            <a:srgbClr val="0A1F3D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9" name="TextBox 9"/>
          <p:cNvSpPr txBox="1"/>
          <p:nvPr/>
        </p:nvSpPr>
        <p:spPr>
          <a:xfrm>
            <a:off x="1063409" y="2523828"/>
            <a:ext cx="1428393" cy="2476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800" b="1" i="0" strike="noStrike">
                <a:solidFill>
                  <a:srgbClr val="0A1F3D">
                    <a:alpha val="100000"/>
                  </a:srgbClr>
                </a:solidFill>
                <a:latin typeface="Source Han Serif CN"/>
                <a:ea typeface="Source Han Serif CN"/>
                <a:cs typeface="Source Han Serif CN"/>
              </a:rPr>
              <a:t>传统交易痛点</a:t>
            </a:r>
            <a:endParaRPr lang="en-US" sz="1100"/>
          </a:p>
        </p:txBody>
      </p:sp>
      <p:sp>
        <p:nvSpPr>
          <p:cNvPr id="10" name="TextBox 10"/>
          <p:cNvSpPr txBox="1"/>
          <p:nvPr/>
        </p:nvSpPr>
        <p:spPr>
          <a:xfrm>
            <a:off x="999875" y="3095328"/>
            <a:ext cx="4980329" cy="420886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200" b="1" i="0" strike="noStrike">
                <a:solidFill>
                  <a:srgbClr val="0A1F3D">
                    <a:alpha val="100000"/>
                  </a:srgbClr>
                </a:solidFill>
                <a:latin typeface="AlibabaPuHuiTi"/>
                <a:ea typeface="AlibabaPuHuiTi"/>
                <a:cs typeface="AlibabaPuHuiTi"/>
              </a:rPr>
              <a:t>信息高度分散：</a:t>
            </a:r>
            <a:r>
              <a:rPr sz="1200" b="0" i="0" strike="noStrike">
                <a:solidFill>
                  <a:srgbClr val="0A1F3D">
                    <a:alpha val="100000"/>
                  </a:srgbClr>
                </a:solidFill>
                <a:latin typeface="AlibabaPuHuiTi"/>
                <a:ea typeface="AlibabaPuHuiTi"/>
                <a:cs typeface="AlibabaPuHuiTi"/>
              </a:rPr>
              <a:t>毕业季摆摊和班级群发布导致买家难以快速检索所需</a:t>
            </a:r>
            <a:endParaRPr lang="en-US" sz="1100"/>
          </a:p>
          <a:p>
            <a:pPr algn="l"/>
            <a:r>
              <a:rPr sz="1200" b="0" i="0" strike="noStrike">
                <a:solidFill>
                  <a:srgbClr val="0A1F3D">
                    <a:alpha val="100000"/>
                  </a:srgbClr>
                </a:solidFill>
                <a:latin typeface="AlibabaPuHuiTi"/>
                <a:ea typeface="AlibabaPuHuiTi"/>
                <a:cs typeface="AlibabaPuHuiTi"/>
              </a:rPr>
              <a:t>图书，卖家曝光率有限。</a:t>
            </a:r>
            <a:endParaRPr sz="1200" b="0" i="0" strike="noStrike">
              <a:solidFill>
                <a:srgbClr val="0A1F3D">
                  <a:alpha val="100000"/>
                </a:srgbClr>
              </a:solidFill>
              <a:latin typeface="AlibabaPuHuiTi"/>
              <a:ea typeface="AlibabaPuHuiTi"/>
              <a:cs typeface="AlibabaPuHuiTi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999875" y="3803749"/>
            <a:ext cx="4980329" cy="420886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200" b="1" i="0" strike="noStrike">
                <a:solidFill>
                  <a:srgbClr val="0A1F3D">
                    <a:alpha val="100000"/>
                  </a:srgbClr>
                </a:solidFill>
                <a:latin typeface="AlibabaPuHuiTi"/>
                <a:ea typeface="AlibabaPuHuiTi"/>
                <a:cs typeface="AlibabaPuHuiTi"/>
              </a:rPr>
              <a:t>交易状态不透明：</a:t>
            </a:r>
            <a:r>
              <a:rPr sz="1200" b="0" i="0" strike="noStrike">
                <a:solidFill>
                  <a:srgbClr val="0A1F3D">
                    <a:alpha val="100000"/>
                  </a:srgbClr>
                </a:solidFill>
                <a:latin typeface="AlibabaPuHuiTi"/>
                <a:ea typeface="AlibabaPuHuiTi"/>
                <a:cs typeface="AlibabaPuHuiTi"/>
              </a:rPr>
              <a:t>买卖双方无法实时了解图书是否已售出，常出现重</a:t>
            </a:r>
            <a:endParaRPr lang="en-US" sz="1100"/>
          </a:p>
          <a:p>
            <a:pPr algn="l"/>
            <a:r>
              <a:rPr sz="1200" b="0" i="0" strike="noStrike">
                <a:solidFill>
                  <a:srgbClr val="0A1F3D">
                    <a:alpha val="100000"/>
                  </a:srgbClr>
                </a:solidFill>
                <a:latin typeface="AlibabaPuHuiTi"/>
                <a:ea typeface="AlibabaPuHuiTi"/>
                <a:cs typeface="AlibabaPuHuiTi"/>
              </a:rPr>
              <a:t>复沟通和无效联系。</a:t>
            </a:r>
            <a:endParaRPr sz="1200" b="0" i="0" strike="noStrike">
              <a:solidFill>
                <a:srgbClr val="0A1F3D">
                  <a:alpha val="100000"/>
                </a:srgbClr>
              </a:solidFill>
              <a:latin typeface="AlibabaPuHuiTi"/>
              <a:ea typeface="AlibabaPuHuiTi"/>
              <a:cs typeface="AlibabaPuHuiTi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999875" y="4512172"/>
            <a:ext cx="4980329" cy="420886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200" b="1" i="0" strike="noStrike">
                <a:solidFill>
                  <a:srgbClr val="0A1F3D">
                    <a:alpha val="100000"/>
                  </a:srgbClr>
                </a:solidFill>
                <a:latin typeface="AlibabaPuHuiTi"/>
                <a:ea typeface="AlibabaPuHuiTi"/>
                <a:cs typeface="AlibabaPuHuiTi"/>
              </a:rPr>
              <a:t>沟通效率低下：</a:t>
            </a:r>
            <a:r>
              <a:rPr sz="1200" b="0" i="0" strike="noStrike">
                <a:solidFill>
                  <a:srgbClr val="0A1F3D">
                    <a:alpha val="100000"/>
                  </a:srgbClr>
                </a:solidFill>
                <a:latin typeface="AlibabaPuHuiTi"/>
                <a:ea typeface="AlibabaPuHuiTi"/>
                <a:cs typeface="AlibabaPuHuiTi"/>
              </a:rPr>
              <a:t>缺乏统一平台，价格协商、交付方式等细节需多次私</a:t>
            </a:r>
            <a:endParaRPr lang="en-US" sz="1100"/>
          </a:p>
          <a:p>
            <a:pPr algn="l"/>
            <a:r>
              <a:rPr sz="1200" b="0" i="0" strike="noStrike">
                <a:solidFill>
                  <a:srgbClr val="0A1F3D">
                    <a:alpha val="100000"/>
                  </a:srgbClr>
                </a:solidFill>
                <a:latin typeface="AlibabaPuHuiTi"/>
                <a:ea typeface="AlibabaPuHuiTi"/>
                <a:cs typeface="AlibabaPuHuiTi"/>
              </a:rPr>
              <a:t>下确认，体验较差。</a:t>
            </a:r>
            <a:endParaRPr sz="1200" b="0" i="0" strike="noStrike">
              <a:solidFill>
                <a:srgbClr val="0A1F3D">
                  <a:alpha val="100000"/>
                </a:srgbClr>
              </a:solidFill>
              <a:latin typeface="AlibabaPuHuiTi"/>
              <a:ea typeface="AlibabaPuHuiTi"/>
              <a:cs typeface="AlibabaPuHuiTi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6208747" y="2133303"/>
            <a:ext cx="5523120" cy="3552825"/>
          </a:xfrm>
          <a:prstGeom prst="roundRect">
            <a:avLst>
              <a:gd name="adj" fmla="val 138"/>
            </a:avLst>
          </a:prstGeom>
          <a:blipFill rotWithShape="1">
            <a:blip r:embed="rId2">
              <a:alphaModFix amt="100000"/>
              <a:alphaModFix amt="100000"/>
            </a:blip>
            <a:stretch>
              <a:fillRect/>
            </a:stretch>
          </a:blipFill>
          <a:ln>
            <a:headEnd type="none"/>
            <a:tailEnd type="none"/>
          </a:ln>
        </p:spPr>
      </p:sp>
      <p:sp>
        <p:nvSpPr>
          <p:cNvPr id="14" name="TextBox 14"/>
          <p:cNvSpPr txBox="1"/>
          <p:nvPr/>
        </p:nvSpPr>
        <p:spPr>
          <a:xfrm>
            <a:off x="6637265" y="2523828"/>
            <a:ext cx="1428393" cy="2476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800" b="1" i="0" strike="noStrike">
                <a:solidFill>
                  <a:srgbClr val="0A1F3D">
                    <a:alpha val="100000"/>
                  </a:srgbClr>
                </a:solidFill>
                <a:latin typeface="Source Han Serif CN"/>
                <a:ea typeface="Source Han Serif CN"/>
                <a:cs typeface="Source Han Serif CN"/>
              </a:rPr>
              <a:t>平台建设目标</a:t>
            </a:r>
            <a:endParaRPr lang="en-US" sz="1100"/>
          </a:p>
        </p:txBody>
      </p:sp>
      <p:sp>
        <p:nvSpPr>
          <p:cNvPr id="15" name="TextBox 15"/>
          <p:cNvSpPr txBox="1"/>
          <p:nvPr/>
        </p:nvSpPr>
        <p:spPr>
          <a:xfrm>
            <a:off x="6751537" y="3095328"/>
            <a:ext cx="4980329" cy="420886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200" b="1" i="0" strike="noStrike">
                <a:solidFill>
                  <a:srgbClr val="0A1F3D">
                    <a:alpha val="100000"/>
                  </a:srgbClr>
                </a:solidFill>
                <a:latin typeface="AlibabaPuHuiTi"/>
                <a:ea typeface="AlibabaPuHuiTi"/>
                <a:cs typeface="AlibabaPuHuiTi"/>
              </a:rPr>
              <a:t>信息透明化：</a:t>
            </a:r>
            <a:r>
              <a:rPr sz="1200" b="0" i="0" strike="noStrike">
                <a:solidFill>
                  <a:srgbClr val="0A1F3D">
                    <a:alpha val="100000"/>
                  </a:srgbClr>
                </a:solidFill>
                <a:latin typeface="AlibabaPuHuiTi"/>
                <a:ea typeface="AlibabaPuHuiTi"/>
                <a:cs typeface="AlibabaPuHuiTi"/>
              </a:rPr>
              <a:t>完整展示图书标题、ISBN、新旧程度、售价及卖家信息</a:t>
            </a:r>
            <a:endParaRPr lang="en-US" sz="1100"/>
          </a:p>
          <a:p>
            <a:pPr algn="l"/>
            <a:r>
              <a:rPr sz="1200" b="0" i="0" strike="noStrike">
                <a:solidFill>
                  <a:srgbClr val="0A1F3D">
                    <a:alpha val="100000"/>
                  </a:srgbClr>
                </a:solidFill>
                <a:latin typeface="AlibabaPuHuiTi"/>
                <a:ea typeface="AlibabaPuHuiTi"/>
                <a:cs typeface="AlibabaPuHuiTi"/>
              </a:rPr>
              <a:t>等核心数据。</a:t>
            </a:r>
            <a:endParaRPr sz="1200" b="0" i="0" strike="noStrike">
              <a:solidFill>
                <a:srgbClr val="0A1F3D">
                  <a:alpha val="100000"/>
                </a:srgbClr>
              </a:solidFill>
              <a:latin typeface="AlibabaPuHuiTi"/>
              <a:ea typeface="AlibabaPuHuiTi"/>
              <a:cs typeface="AlibabaPuHuiTi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6751537" y="3803749"/>
            <a:ext cx="4980329" cy="420886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200" b="1" i="0" strike="noStrike">
                <a:solidFill>
                  <a:srgbClr val="0A1F3D">
                    <a:alpha val="100000"/>
                  </a:srgbClr>
                </a:solidFill>
                <a:latin typeface="AlibabaPuHuiTi"/>
                <a:ea typeface="AlibabaPuHuiTi"/>
                <a:cs typeface="AlibabaPuHuiTi"/>
              </a:rPr>
              <a:t>交易流程化：</a:t>
            </a:r>
            <a:r>
              <a:rPr sz="1200" b="0" i="0" strike="noStrike">
                <a:solidFill>
                  <a:srgbClr val="0A1F3D">
                    <a:alpha val="100000"/>
                  </a:srgbClr>
                </a:solidFill>
                <a:latin typeface="AlibabaPuHuiTi"/>
                <a:ea typeface="AlibabaPuHuiTi"/>
                <a:cs typeface="AlibabaPuHuiTi"/>
              </a:rPr>
              <a:t>支持浏览→收藏→下单→模拟付款→发货→确认收货的</a:t>
            </a:r>
            <a:endParaRPr lang="en-US" sz="1100"/>
          </a:p>
          <a:p>
            <a:pPr algn="l"/>
            <a:r>
              <a:rPr sz="1200" b="0" i="0" strike="noStrike">
                <a:solidFill>
                  <a:srgbClr val="0A1F3D">
                    <a:alpha val="100000"/>
                  </a:srgbClr>
                </a:solidFill>
                <a:latin typeface="AlibabaPuHuiTi"/>
                <a:ea typeface="AlibabaPuHuiTi"/>
                <a:cs typeface="AlibabaPuHuiTi"/>
              </a:rPr>
              <a:t>完整闭环。</a:t>
            </a:r>
            <a:endParaRPr sz="1200" b="0" i="0" strike="noStrike">
              <a:solidFill>
                <a:srgbClr val="0A1F3D">
                  <a:alpha val="100000"/>
                </a:srgbClr>
              </a:solidFill>
              <a:latin typeface="AlibabaPuHuiTi"/>
              <a:ea typeface="AlibabaPuHuiTi"/>
              <a:cs typeface="AlibabaPuHuiTi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6751537" y="4512172"/>
            <a:ext cx="4980329" cy="420886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200" b="1" i="0" strike="noStrike">
                <a:solidFill>
                  <a:srgbClr val="0A1F3D">
                    <a:alpha val="100000"/>
                  </a:srgbClr>
                </a:solidFill>
                <a:latin typeface="AlibabaPuHuiTi"/>
                <a:ea typeface="AlibabaPuHuiTi"/>
                <a:cs typeface="AlibabaPuHuiTi"/>
              </a:rPr>
              <a:t>管理便捷化：</a:t>
            </a:r>
            <a:r>
              <a:rPr sz="1200" b="0" i="0" strike="noStrike">
                <a:solidFill>
                  <a:srgbClr val="0A1F3D">
                    <a:alpha val="100000"/>
                  </a:srgbClr>
                </a:solidFill>
                <a:latin typeface="AlibabaPuHuiTi"/>
                <a:ea typeface="AlibabaPuHuiTi"/>
                <a:cs typeface="AlibabaPuHuiTi"/>
              </a:rPr>
              <a:t>提供管理员后台，对用户状态、图书分类、订单状态进</a:t>
            </a:r>
            <a:endParaRPr lang="en-US" sz="1100"/>
          </a:p>
          <a:p>
            <a:pPr algn="l"/>
            <a:r>
              <a:rPr sz="1200" b="0" i="0" strike="noStrike">
                <a:solidFill>
                  <a:srgbClr val="0A1F3D">
                    <a:alpha val="100000"/>
                  </a:srgbClr>
                </a:solidFill>
                <a:latin typeface="AlibabaPuHuiTi"/>
                <a:ea typeface="AlibabaPuHuiTi"/>
                <a:cs typeface="AlibabaPuHuiTi"/>
              </a:rPr>
              <a:t>行统一维护。</a:t>
            </a:r>
            <a:endParaRPr sz="1200" b="0" i="0" strike="noStrike">
              <a:solidFill>
                <a:srgbClr val="0A1F3D">
                  <a:alpha val="100000"/>
                </a:srgbClr>
              </a:solidFill>
              <a:latin typeface="AlibabaPuHuiTi"/>
              <a:ea typeface="AlibabaPuHuiTi"/>
              <a:cs typeface="AlibabaPuHuiTi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6751537" y="5220593"/>
            <a:ext cx="4980329" cy="420886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200" b="1" i="0" strike="noStrike">
                <a:solidFill>
                  <a:srgbClr val="0A1F3D">
                    <a:alpha val="100000"/>
                  </a:srgbClr>
                </a:solidFill>
                <a:latin typeface="AlibabaPuHuiTi"/>
                <a:ea typeface="AlibabaPuHuiTi"/>
                <a:cs typeface="AlibabaPuHuiTi"/>
              </a:rPr>
              <a:t>协作规范化：</a:t>
            </a:r>
            <a:r>
              <a:rPr sz="1200" b="0" i="0" strike="noStrike">
                <a:solidFill>
                  <a:srgbClr val="0A1F3D">
                    <a:alpha val="100000"/>
                  </a:srgbClr>
                </a:solidFill>
                <a:latin typeface="AlibabaPuHuiTi"/>
                <a:ea typeface="AlibabaPuHuiTi"/>
                <a:cs typeface="AlibabaPuHuiTi"/>
              </a:rPr>
              <a:t>使用 Git 进行版本控制，保留主要开发过程和问题修复</a:t>
            </a:r>
            <a:endParaRPr lang="en-US" sz="1100"/>
          </a:p>
          <a:p>
            <a:pPr algn="l"/>
            <a:r>
              <a:rPr sz="1200" b="0" i="0" strike="noStrike">
                <a:solidFill>
                  <a:srgbClr val="0A1F3D">
                    <a:alpha val="100000"/>
                  </a:srgbClr>
                </a:solidFill>
                <a:latin typeface="AlibabaPuHuiTi"/>
                <a:ea typeface="AlibabaPuHuiTi"/>
                <a:cs typeface="AlibabaPuHuiTi"/>
              </a:rPr>
              <a:t>记录，便于团队追溯。</a:t>
            </a:r>
            <a:endParaRPr sz="1200" b="0" i="0" strike="noStrike">
              <a:solidFill>
                <a:srgbClr val="0A1F3D">
                  <a:alpha val="100000"/>
                </a:srgbClr>
              </a:solidFill>
              <a:latin typeface="AlibabaPuHuiTi"/>
              <a:ea typeface="AlibabaPuHuiTi"/>
              <a:cs typeface="AlibabaPuHuiTi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457086" y="6067425"/>
            <a:ext cx="11274781" cy="9525"/>
          </a:xfrm>
          <a:prstGeom prst="line">
            <a:avLst/>
          </a:prstGeom>
          <a:ln w="9525">
            <a:solidFill>
              <a:srgbClr val="D1D5DB">
                <a:alpha val="60000"/>
              </a:srgbClr>
            </a:solidFill>
            <a:prstDash val="solid"/>
            <a:headEnd type="none"/>
            <a:tailEnd type="none"/>
          </a:ln>
        </p:spPr>
      </p:sp>
      <p:sp>
        <p:nvSpPr>
          <p:cNvPr id="20" name="TextBox 20"/>
          <p:cNvSpPr txBox="1"/>
          <p:nvPr/>
        </p:nvSpPr>
        <p:spPr>
          <a:xfrm>
            <a:off x="457086" y="6248400"/>
            <a:ext cx="1365752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solidFill>
                  <a:srgbClr val="0A1F3D">
                    <a:alpha val="100000"/>
                  </a:srgbClr>
                </a:solidFill>
                <a:latin typeface="Inter"/>
                <a:ea typeface="Inter"/>
                <a:cs typeface="Inter"/>
              </a:rPr>
              <a:t>项目背景与核心目标 · 03</a:t>
            </a:r>
            <a:endParaRPr lang="en-US" sz="1100"/>
          </a:p>
        </p:txBody>
      </p:sp>
      <p:sp>
        <p:nvSpPr>
          <p:cNvPr id="21" name="TextBox 21"/>
          <p:cNvSpPr txBox="1"/>
          <p:nvPr/>
        </p:nvSpPr>
        <p:spPr>
          <a:xfrm>
            <a:off x="10532016" y="6248400"/>
            <a:ext cx="1228418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solidFill>
                  <a:srgbClr val="0A1F3D">
                    <a:alpha val="100000"/>
                  </a:srgbClr>
                </a:solidFill>
                <a:latin typeface="Inter"/>
                <a:ea typeface="Inter"/>
                <a:cs typeface="Inter"/>
              </a:rPr>
              <a:t>校园二手图书交易平台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333333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3" name="AutoShap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3F5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4" name="TextBox 4"/>
          <p:cNvSpPr txBox="1"/>
          <p:nvPr/>
        </p:nvSpPr>
        <p:spPr>
          <a:xfrm>
            <a:off x="457086" y="466725"/>
            <a:ext cx="11274781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solidFill>
                  <a:srgbClr val="5B8CB8">
                    <a:alpha val="60000"/>
                  </a:srgbClr>
                </a:solidFill>
                <a:latin typeface="Inter"/>
                <a:ea typeface="Inter"/>
                <a:cs typeface="Inter"/>
              </a:rPr>
              <a:t>System Architecture</a:t>
            </a:r>
            <a:endParaRPr lang="en-US" sz="1100"/>
          </a:p>
        </p:txBody>
      </p:sp>
      <p:sp>
        <p:nvSpPr>
          <p:cNvPr id="5" name="TextBox 5"/>
          <p:cNvSpPr txBox="1"/>
          <p:nvPr/>
        </p:nvSpPr>
        <p:spPr>
          <a:xfrm>
            <a:off x="457086" y="752475"/>
            <a:ext cx="11274781" cy="5048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3600" b="1" i="0" strike="noStrike">
                <a:solidFill>
                  <a:srgbClr val="0A1F3D">
                    <a:alpha val="100000"/>
                  </a:srgbClr>
                </a:solidFill>
                <a:latin typeface="Source Han Serif CN"/>
                <a:ea typeface="Source Han Serif CN"/>
                <a:cs typeface="Source Han Serif CN"/>
              </a:rPr>
              <a:t>目标用户与使用场景分析</a:t>
            </a:r>
            <a:endParaRPr lang="en-US" sz="1100"/>
          </a:p>
        </p:txBody>
      </p:sp>
      <p:sp>
        <p:nvSpPr>
          <p:cNvPr id="6" name="TextBox 6"/>
          <p:cNvSpPr txBox="1"/>
          <p:nvPr/>
        </p:nvSpPr>
        <p:spPr>
          <a:xfrm>
            <a:off x="457086" y="1485900"/>
            <a:ext cx="11274781" cy="469106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300" b="0" i="0" strike="noStrike">
                <a:solidFill>
                  <a:srgbClr val="0A1F3D">
                    <a:alpha val="80000"/>
                  </a:srgbClr>
                </a:solidFill>
                <a:latin typeface="Source Han Sans"/>
                <a:ea typeface="Source Han Sans"/>
                <a:cs typeface="Source Han Sans"/>
              </a:rPr>
              <a:t>系统服务普通学生和管理员两类用户，覆盖出售、购买、收藏、订单、个人信息维护等五大学生</a:t>
            </a:r>
            <a:endParaRPr lang="en-US" sz="1100"/>
          </a:p>
          <a:p>
            <a:pPr algn="l"/>
            <a:r>
              <a:rPr sz="1300" b="0" i="0" strike="noStrike">
                <a:solidFill>
                  <a:srgbClr val="0A1F3D">
                    <a:alpha val="80000"/>
                  </a:srgbClr>
                </a:solidFill>
                <a:latin typeface="Source Han Sans"/>
                <a:ea typeface="Source Han Sans"/>
                <a:cs typeface="Source Han Sans"/>
              </a:rPr>
              <a:t>场景，以及用户管理、分类管理、订单管理、公告管理四大管理场景。</a:t>
            </a:r>
            <a:endParaRPr sz="1300" b="0" i="0" strike="noStrike">
              <a:solidFill>
                <a:srgbClr val="0A1F3D">
                  <a:alpha val="80000"/>
                </a:srgbClr>
              </a:solidFill>
              <a:latin typeface="Source Han Sans"/>
              <a:ea typeface="Source Han Sans"/>
              <a:cs typeface="Source Han Sans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457086" y="2309812"/>
            <a:ext cx="5485028" cy="4095750"/>
          </a:xfrm>
          <a:prstGeom prst="roundRect">
            <a:avLst>
              <a:gd name="adj" fmla="val 104"/>
            </a:avLst>
          </a:prstGeom>
          <a:blipFill rotWithShape="1">
            <a:blip r:embed="rId1">
              <a:alphaModFix amt="100000"/>
              <a:alphaModFix amt="100000"/>
            </a:blip>
            <a:stretch>
              <a:fillRect/>
            </a:stretch>
          </a:blipFill>
          <a:ln>
            <a:headEnd type="none"/>
            <a:tailEnd type="none"/>
          </a:ln>
        </p:spPr>
      </p:sp>
      <p:sp>
        <p:nvSpPr>
          <p:cNvPr id="8" name="AutoShape 8"/>
          <p:cNvSpPr/>
          <p:nvPr/>
        </p:nvSpPr>
        <p:spPr>
          <a:xfrm>
            <a:off x="466608" y="2319338"/>
            <a:ext cx="5465983" cy="38100"/>
          </a:xfrm>
          <a:prstGeom prst="rect">
            <a:avLst/>
          </a:prstGeom>
          <a:solidFill>
            <a:srgbClr val="5B8CB8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9" name="AutoShape 9"/>
          <p:cNvSpPr/>
          <p:nvPr/>
        </p:nvSpPr>
        <p:spPr>
          <a:xfrm>
            <a:off x="739639" y="2652712"/>
            <a:ext cx="285679" cy="285750"/>
          </a:xfrm>
          <a:custGeom>
            <a:avLst/>
            <a:gdLst/>
            <a:ahLst/>
            <a:cxnLst/>
            <a:rect l="l" t="t" r="r" b="b"/>
            <a:pathLst>
              <a:path w="9998" h="10000">
                <a:moveTo>
                  <a:pt x="4999" y="10000"/>
                </a:moveTo>
                <a:cubicBezTo>
                  <a:pt x="4319" y="10000"/>
                  <a:pt x="3669" y="9870"/>
                  <a:pt x="3049" y="9610"/>
                </a:cubicBezTo>
                <a:cubicBezTo>
                  <a:pt x="2456" y="9356"/>
                  <a:pt x="1928" y="8998"/>
                  <a:pt x="1465" y="8535"/>
                </a:cubicBezTo>
                <a:cubicBezTo>
                  <a:pt x="1001" y="8071"/>
                  <a:pt x="643" y="7543"/>
                  <a:pt x="390" y="6950"/>
                </a:cubicBezTo>
                <a:cubicBezTo>
                  <a:pt x="130" y="6330"/>
                  <a:pt x="0" y="5680"/>
                  <a:pt x="0" y="5000"/>
                </a:cubicBezTo>
                <a:cubicBezTo>
                  <a:pt x="0" y="4320"/>
                  <a:pt x="130" y="3670"/>
                  <a:pt x="390" y="3050"/>
                </a:cubicBezTo>
                <a:cubicBezTo>
                  <a:pt x="643" y="2456"/>
                  <a:pt x="1001" y="1928"/>
                  <a:pt x="1465" y="1465"/>
                </a:cubicBezTo>
                <a:cubicBezTo>
                  <a:pt x="1928" y="1001"/>
                  <a:pt x="2456" y="643"/>
                  <a:pt x="3049" y="390"/>
                </a:cubicBezTo>
                <a:cubicBezTo>
                  <a:pt x="3669" y="130"/>
                  <a:pt x="4319" y="0"/>
                  <a:pt x="4999" y="0"/>
                </a:cubicBezTo>
                <a:cubicBezTo>
                  <a:pt x="5679" y="0"/>
                  <a:pt x="6329" y="130"/>
                  <a:pt x="6949" y="390"/>
                </a:cubicBezTo>
                <a:cubicBezTo>
                  <a:pt x="7541" y="643"/>
                  <a:pt x="8069" y="1001"/>
                  <a:pt x="8533" y="1465"/>
                </a:cubicBezTo>
                <a:cubicBezTo>
                  <a:pt x="8996" y="1928"/>
                  <a:pt x="9354" y="2456"/>
                  <a:pt x="9608" y="3050"/>
                </a:cubicBezTo>
                <a:cubicBezTo>
                  <a:pt x="9868" y="3670"/>
                  <a:pt x="9998" y="4320"/>
                  <a:pt x="9998" y="5000"/>
                </a:cubicBezTo>
                <a:cubicBezTo>
                  <a:pt x="9998" y="5680"/>
                  <a:pt x="9868" y="6330"/>
                  <a:pt x="9608" y="6950"/>
                </a:cubicBezTo>
                <a:cubicBezTo>
                  <a:pt x="9354" y="7543"/>
                  <a:pt x="8996" y="8071"/>
                  <a:pt x="8533" y="8535"/>
                </a:cubicBezTo>
                <a:cubicBezTo>
                  <a:pt x="8069" y="8998"/>
                  <a:pt x="7541" y="9356"/>
                  <a:pt x="6949" y="9610"/>
                </a:cubicBezTo>
                <a:cubicBezTo>
                  <a:pt x="6329" y="9870"/>
                  <a:pt x="5679" y="10000"/>
                  <a:pt x="4999" y="10000"/>
                </a:cubicBezTo>
                <a:moveTo>
                  <a:pt x="4999" y="9000"/>
                </a:moveTo>
                <a:cubicBezTo>
                  <a:pt x="5725" y="9000"/>
                  <a:pt x="6399" y="8816"/>
                  <a:pt x="7019" y="8450"/>
                </a:cubicBezTo>
                <a:cubicBezTo>
                  <a:pt x="7618" y="8096"/>
                  <a:pt x="8094" y="7620"/>
                  <a:pt x="8448" y="7020"/>
                </a:cubicBezTo>
                <a:cubicBezTo>
                  <a:pt x="8814" y="6400"/>
                  <a:pt x="8998" y="5726"/>
                  <a:pt x="8998" y="5000"/>
                </a:cubicBezTo>
                <a:cubicBezTo>
                  <a:pt x="8998" y="4273"/>
                  <a:pt x="8814" y="3600"/>
                  <a:pt x="8448" y="2980"/>
                </a:cubicBezTo>
                <a:cubicBezTo>
                  <a:pt x="8094" y="2380"/>
                  <a:pt x="7618" y="1903"/>
                  <a:pt x="7019" y="1550"/>
                </a:cubicBezTo>
                <a:cubicBezTo>
                  <a:pt x="6399" y="1183"/>
                  <a:pt x="5725" y="1000"/>
                  <a:pt x="4999" y="1000"/>
                </a:cubicBezTo>
                <a:cubicBezTo>
                  <a:pt x="4272" y="1000"/>
                  <a:pt x="3599" y="1183"/>
                  <a:pt x="2979" y="1550"/>
                </a:cubicBezTo>
                <a:cubicBezTo>
                  <a:pt x="2379" y="1903"/>
                  <a:pt x="1903" y="2380"/>
                  <a:pt x="1550" y="2980"/>
                </a:cubicBezTo>
                <a:cubicBezTo>
                  <a:pt x="1183" y="3600"/>
                  <a:pt x="1000" y="4273"/>
                  <a:pt x="1000" y="5000"/>
                </a:cubicBezTo>
                <a:cubicBezTo>
                  <a:pt x="1000" y="5726"/>
                  <a:pt x="1183" y="6400"/>
                  <a:pt x="1550" y="7020"/>
                </a:cubicBezTo>
                <a:cubicBezTo>
                  <a:pt x="1903" y="7620"/>
                  <a:pt x="2379" y="8096"/>
                  <a:pt x="2979" y="8450"/>
                </a:cubicBezTo>
                <a:cubicBezTo>
                  <a:pt x="3599" y="8816"/>
                  <a:pt x="4272" y="9000"/>
                  <a:pt x="4999" y="9000"/>
                </a:cubicBezTo>
                <a:moveTo>
                  <a:pt x="2500" y="5000"/>
                </a:moveTo>
                <a:lnTo>
                  <a:pt x="3499" y="5000"/>
                </a:lnTo>
                <a:cubicBezTo>
                  <a:pt x="3499" y="5273"/>
                  <a:pt x="3565" y="5525"/>
                  <a:pt x="3699" y="5755"/>
                </a:cubicBezTo>
                <a:cubicBezTo>
                  <a:pt x="3832" y="5985"/>
                  <a:pt x="4014" y="6166"/>
                  <a:pt x="4244" y="6300"/>
                </a:cubicBezTo>
                <a:cubicBezTo>
                  <a:pt x="4474" y="6433"/>
                  <a:pt x="4725" y="6500"/>
                  <a:pt x="4999" y="6500"/>
                </a:cubicBezTo>
                <a:cubicBezTo>
                  <a:pt x="5272" y="6500"/>
                  <a:pt x="5524" y="6433"/>
                  <a:pt x="5754" y="6300"/>
                </a:cubicBezTo>
                <a:cubicBezTo>
                  <a:pt x="5984" y="6166"/>
                  <a:pt x="6165" y="5985"/>
                  <a:pt x="6299" y="5755"/>
                </a:cubicBezTo>
                <a:cubicBezTo>
                  <a:pt x="6432" y="5525"/>
                  <a:pt x="6499" y="5273"/>
                  <a:pt x="6499" y="5000"/>
                </a:cubicBezTo>
                <a:lnTo>
                  <a:pt x="7498" y="5000"/>
                </a:lnTo>
                <a:cubicBezTo>
                  <a:pt x="7498" y="5453"/>
                  <a:pt x="7386" y="5871"/>
                  <a:pt x="7164" y="6255"/>
                </a:cubicBezTo>
                <a:cubicBezTo>
                  <a:pt x="6940" y="6638"/>
                  <a:pt x="6637" y="6941"/>
                  <a:pt x="6254" y="7165"/>
                </a:cubicBezTo>
                <a:cubicBezTo>
                  <a:pt x="5870" y="7388"/>
                  <a:pt x="5452" y="7500"/>
                  <a:pt x="4999" y="7500"/>
                </a:cubicBezTo>
                <a:cubicBezTo>
                  <a:pt x="4545" y="7500"/>
                  <a:pt x="4127" y="7388"/>
                  <a:pt x="3744" y="7165"/>
                </a:cubicBezTo>
                <a:cubicBezTo>
                  <a:pt x="3360" y="6941"/>
                  <a:pt x="3057" y="6638"/>
                  <a:pt x="2834" y="6255"/>
                </a:cubicBezTo>
                <a:cubicBezTo>
                  <a:pt x="2611" y="5871"/>
                  <a:pt x="2500" y="5453"/>
                  <a:pt x="2500" y="5000"/>
                </a:cubicBezTo>
              </a:path>
            </a:pathLst>
          </a:custGeom>
          <a:solidFill>
            <a:srgbClr val="5B8CB8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10" name="TextBox 10"/>
          <p:cNvSpPr txBox="1"/>
          <p:nvPr/>
        </p:nvSpPr>
        <p:spPr>
          <a:xfrm>
            <a:off x="1107897" y="2671762"/>
            <a:ext cx="1428393" cy="2476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800" b="1" i="0" strike="noStrike">
                <a:solidFill>
                  <a:srgbClr val="0A1F3D">
                    <a:alpha val="100000"/>
                  </a:srgbClr>
                </a:solidFill>
                <a:latin typeface="Source Han Serif CN"/>
                <a:ea typeface="Source Han Serif CN"/>
                <a:cs typeface="Source Han Serif CN"/>
              </a:rPr>
              <a:t>普通学生用户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750204" y="3252788"/>
            <a:ext cx="190452" cy="190500"/>
          </a:xfrm>
          <a:custGeom>
            <a:avLst/>
            <a:gdLst/>
            <a:ahLst/>
            <a:cxnLst/>
            <a:rect l="l" t="t" r="r" b="b"/>
            <a:pathLst>
              <a:path w="9998" h="10000">
                <a:moveTo>
                  <a:pt x="9498" y="9000"/>
                </a:moveTo>
                <a:lnTo>
                  <a:pt x="5499" y="9000"/>
                </a:lnTo>
                <a:lnTo>
                  <a:pt x="5499" y="10000"/>
                </a:lnTo>
                <a:lnTo>
                  <a:pt x="4499" y="10000"/>
                </a:lnTo>
                <a:lnTo>
                  <a:pt x="4499" y="9000"/>
                </a:lnTo>
                <a:lnTo>
                  <a:pt x="500" y="9000"/>
                </a:lnTo>
                <a:cubicBezTo>
                  <a:pt x="360" y="9000"/>
                  <a:pt x="241" y="8951"/>
                  <a:pt x="145" y="8855"/>
                </a:cubicBezTo>
                <a:cubicBezTo>
                  <a:pt x="48" y="8758"/>
                  <a:pt x="0" y="8640"/>
                  <a:pt x="0" y="8500"/>
                </a:cubicBezTo>
                <a:lnTo>
                  <a:pt x="0" y="500"/>
                </a:lnTo>
                <a:cubicBezTo>
                  <a:pt x="0" y="360"/>
                  <a:pt x="48" y="241"/>
                  <a:pt x="145" y="145"/>
                </a:cubicBezTo>
                <a:cubicBezTo>
                  <a:pt x="241" y="48"/>
                  <a:pt x="360" y="0"/>
                  <a:pt x="500" y="0"/>
                </a:cubicBezTo>
                <a:lnTo>
                  <a:pt x="3499" y="0"/>
                </a:lnTo>
                <a:cubicBezTo>
                  <a:pt x="3792" y="0"/>
                  <a:pt x="4069" y="60"/>
                  <a:pt x="4329" y="180"/>
                </a:cubicBezTo>
                <a:cubicBezTo>
                  <a:pt x="4589" y="300"/>
                  <a:pt x="4812" y="466"/>
                  <a:pt x="4999" y="680"/>
                </a:cubicBezTo>
                <a:cubicBezTo>
                  <a:pt x="5185" y="466"/>
                  <a:pt x="5409" y="300"/>
                  <a:pt x="5669" y="180"/>
                </a:cubicBezTo>
                <a:cubicBezTo>
                  <a:pt x="5929" y="60"/>
                  <a:pt x="6205" y="0"/>
                  <a:pt x="6499" y="0"/>
                </a:cubicBezTo>
                <a:lnTo>
                  <a:pt x="9498" y="0"/>
                </a:lnTo>
                <a:cubicBezTo>
                  <a:pt x="9638" y="0"/>
                  <a:pt x="9756" y="48"/>
                  <a:pt x="9853" y="145"/>
                </a:cubicBezTo>
                <a:cubicBezTo>
                  <a:pt x="9949" y="241"/>
                  <a:pt x="9998" y="360"/>
                  <a:pt x="9998" y="500"/>
                </a:cubicBezTo>
                <a:lnTo>
                  <a:pt x="9998" y="8500"/>
                </a:lnTo>
                <a:cubicBezTo>
                  <a:pt x="9998" y="8640"/>
                  <a:pt x="9949" y="8758"/>
                  <a:pt x="9853" y="8855"/>
                </a:cubicBezTo>
                <a:cubicBezTo>
                  <a:pt x="9756" y="8951"/>
                  <a:pt x="9638" y="9000"/>
                  <a:pt x="9498" y="9000"/>
                </a:cubicBezTo>
                <a:moveTo>
                  <a:pt x="5499" y="8000"/>
                </a:moveTo>
                <a:lnTo>
                  <a:pt x="8998" y="8000"/>
                </a:lnTo>
                <a:lnTo>
                  <a:pt x="8998" y="1000"/>
                </a:lnTo>
                <a:lnTo>
                  <a:pt x="6499" y="1000"/>
                </a:lnTo>
                <a:cubicBezTo>
                  <a:pt x="6319" y="1000"/>
                  <a:pt x="6152" y="1045"/>
                  <a:pt x="5999" y="1135"/>
                </a:cubicBezTo>
                <a:cubicBezTo>
                  <a:pt x="5845" y="1225"/>
                  <a:pt x="5724" y="1346"/>
                  <a:pt x="5634" y="1500"/>
                </a:cubicBezTo>
                <a:cubicBezTo>
                  <a:pt x="5544" y="1653"/>
                  <a:pt x="5499" y="1820"/>
                  <a:pt x="5499" y="2000"/>
                </a:cubicBezTo>
                <a:lnTo>
                  <a:pt x="5499" y="8000"/>
                </a:lnTo>
                <a:moveTo>
                  <a:pt x="1000" y="8000"/>
                </a:moveTo>
                <a:lnTo>
                  <a:pt x="4499" y="8000"/>
                </a:lnTo>
                <a:lnTo>
                  <a:pt x="4499" y="2000"/>
                </a:lnTo>
                <a:cubicBezTo>
                  <a:pt x="4499" y="1820"/>
                  <a:pt x="4454" y="1653"/>
                  <a:pt x="4364" y="1500"/>
                </a:cubicBezTo>
                <a:cubicBezTo>
                  <a:pt x="4274" y="1346"/>
                  <a:pt x="4152" y="1225"/>
                  <a:pt x="3999" y="1135"/>
                </a:cubicBezTo>
                <a:cubicBezTo>
                  <a:pt x="3845" y="1045"/>
                  <a:pt x="3679" y="1000"/>
                  <a:pt x="3499" y="1000"/>
                </a:cubicBezTo>
                <a:lnTo>
                  <a:pt x="1000" y="1000"/>
                </a:lnTo>
              </a:path>
            </a:pathLst>
          </a:custGeom>
          <a:solidFill>
            <a:srgbClr val="5B8CB8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12" name="TextBox 12"/>
          <p:cNvSpPr txBox="1"/>
          <p:nvPr/>
        </p:nvSpPr>
        <p:spPr>
          <a:xfrm>
            <a:off x="1033799" y="3233738"/>
            <a:ext cx="4517888" cy="40957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200" b="1" i="0" strike="noStrike">
                <a:solidFill>
                  <a:srgbClr val="0A1F3D">
                    <a:alpha val="90196"/>
                  </a:srgbClr>
                </a:solidFill>
                <a:latin typeface="Source Han Sans"/>
                <a:ea typeface="Source Han Sans"/>
                <a:cs typeface="Source Han Sans"/>
              </a:rPr>
              <a:t>出售图书：</a:t>
            </a:r>
            <a:r>
              <a:rPr sz="1200" b="0" i="0" strike="noStrike">
                <a:solidFill>
                  <a:srgbClr val="0A1F3D">
                    <a:alpha val="90196"/>
                  </a:srgbClr>
                </a:solidFill>
                <a:latin typeface="Source Han Sans"/>
                <a:ea typeface="Source Han Sans"/>
                <a:cs typeface="Source Han Sans"/>
              </a:rPr>
              <a:t>登录后发布二手书信息，填写书名、作者、ISBN、分</a:t>
            </a:r>
            <a:endParaRPr lang="en-US" sz="1100"/>
          </a:p>
          <a:p>
            <a:pPr algn="l"/>
            <a:r>
              <a:rPr sz="1200" b="0" i="0" strike="noStrike">
                <a:solidFill>
                  <a:srgbClr val="0A1F3D">
                    <a:alpha val="90196"/>
                  </a:srgbClr>
                </a:solidFill>
                <a:latin typeface="Source Han Sans"/>
                <a:ea typeface="Source Han Sans"/>
                <a:cs typeface="Source Han Sans"/>
              </a:rPr>
              <a:t>类、价格、新旧程度、描述并上传封面图片</a:t>
            </a:r>
            <a:endParaRPr sz="1200" b="0" i="0" strike="noStrike">
              <a:solidFill>
                <a:srgbClr val="0A1F3D">
                  <a:alpha val="90196"/>
                </a:srgbClr>
              </a:solidFill>
              <a:latin typeface="Source Han Sans"/>
              <a:ea typeface="Source Han Sans"/>
              <a:cs typeface="Source Han Sans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750204" y="3900488"/>
            <a:ext cx="190452" cy="190500"/>
          </a:xfrm>
          <a:custGeom>
            <a:avLst/>
            <a:gdLst/>
            <a:ahLst/>
            <a:cxnLst/>
            <a:rect l="l" t="t" r="r" b="b"/>
            <a:pathLst>
              <a:path w="9998" h="10000">
                <a:moveTo>
                  <a:pt x="1551" y="7646"/>
                </a:moveTo>
                <a:lnTo>
                  <a:pt x="1551" y="2194"/>
                </a:lnTo>
                <a:lnTo>
                  <a:pt x="0" y="669"/>
                </a:lnTo>
                <a:lnTo>
                  <a:pt x="670" y="0"/>
                </a:lnTo>
                <a:lnTo>
                  <a:pt x="2222" y="1525"/>
                </a:lnTo>
                <a:lnTo>
                  <a:pt x="9519" y="1525"/>
                </a:lnTo>
                <a:cubicBezTo>
                  <a:pt x="9653" y="1525"/>
                  <a:pt x="9766" y="1570"/>
                  <a:pt x="9859" y="1662"/>
                </a:cubicBezTo>
                <a:cubicBezTo>
                  <a:pt x="9951" y="1752"/>
                  <a:pt x="9998" y="1864"/>
                  <a:pt x="9998" y="1996"/>
                </a:cubicBezTo>
                <a:cubicBezTo>
                  <a:pt x="9998" y="2040"/>
                  <a:pt x="9991" y="2084"/>
                  <a:pt x="9979" y="2128"/>
                </a:cubicBezTo>
                <a:lnTo>
                  <a:pt x="8830" y="5895"/>
                </a:lnTo>
                <a:cubicBezTo>
                  <a:pt x="8804" y="5995"/>
                  <a:pt x="8748" y="6076"/>
                  <a:pt x="8662" y="6139"/>
                </a:cubicBezTo>
                <a:cubicBezTo>
                  <a:pt x="8576" y="6202"/>
                  <a:pt x="8478" y="6234"/>
                  <a:pt x="8370" y="6234"/>
                </a:cubicBezTo>
                <a:lnTo>
                  <a:pt x="2509" y="6234"/>
                </a:lnTo>
                <a:lnTo>
                  <a:pt x="2509" y="7175"/>
                </a:lnTo>
                <a:lnTo>
                  <a:pt x="7776" y="7175"/>
                </a:lnTo>
                <a:lnTo>
                  <a:pt x="7776" y="8117"/>
                </a:lnTo>
                <a:lnTo>
                  <a:pt x="2030" y="8117"/>
                </a:lnTo>
                <a:cubicBezTo>
                  <a:pt x="1896" y="8117"/>
                  <a:pt x="1782" y="8071"/>
                  <a:pt x="1690" y="7980"/>
                </a:cubicBezTo>
                <a:cubicBezTo>
                  <a:pt x="1597" y="7889"/>
                  <a:pt x="1551" y="7778"/>
                  <a:pt x="1551" y="7646"/>
                </a:cubicBezTo>
                <a:moveTo>
                  <a:pt x="8878" y="2467"/>
                </a:moveTo>
                <a:lnTo>
                  <a:pt x="2509" y="2467"/>
                </a:lnTo>
                <a:lnTo>
                  <a:pt x="2509" y="5292"/>
                </a:lnTo>
                <a:lnTo>
                  <a:pt x="8016" y="5292"/>
                </a:lnTo>
                <a:lnTo>
                  <a:pt x="8878" y="2467"/>
                </a:lnTo>
                <a:moveTo>
                  <a:pt x="2270" y="10000"/>
                </a:moveTo>
                <a:cubicBezTo>
                  <a:pt x="2072" y="10000"/>
                  <a:pt x="1902" y="9931"/>
                  <a:pt x="1762" y="9793"/>
                </a:cubicBezTo>
                <a:cubicBezTo>
                  <a:pt x="1621" y="9655"/>
                  <a:pt x="1551" y="9488"/>
                  <a:pt x="1551" y="9294"/>
                </a:cubicBezTo>
                <a:cubicBezTo>
                  <a:pt x="1551" y="9099"/>
                  <a:pt x="1621" y="8933"/>
                  <a:pt x="1762" y="8795"/>
                </a:cubicBezTo>
                <a:cubicBezTo>
                  <a:pt x="1902" y="8657"/>
                  <a:pt x="2072" y="8588"/>
                  <a:pt x="2270" y="8588"/>
                </a:cubicBezTo>
                <a:cubicBezTo>
                  <a:pt x="2468" y="8588"/>
                  <a:pt x="2637" y="8657"/>
                  <a:pt x="2777" y="8795"/>
                </a:cubicBezTo>
                <a:cubicBezTo>
                  <a:pt x="2917" y="8933"/>
                  <a:pt x="2988" y="9099"/>
                  <a:pt x="2988" y="9294"/>
                </a:cubicBezTo>
                <a:cubicBezTo>
                  <a:pt x="2988" y="9488"/>
                  <a:pt x="2917" y="9655"/>
                  <a:pt x="2777" y="9793"/>
                </a:cubicBezTo>
                <a:cubicBezTo>
                  <a:pt x="2637" y="9931"/>
                  <a:pt x="2468" y="10000"/>
                  <a:pt x="2270" y="10000"/>
                </a:cubicBezTo>
                <a:moveTo>
                  <a:pt x="8016" y="10000"/>
                </a:moveTo>
                <a:cubicBezTo>
                  <a:pt x="7818" y="10000"/>
                  <a:pt x="7648" y="9931"/>
                  <a:pt x="7508" y="9793"/>
                </a:cubicBezTo>
                <a:cubicBezTo>
                  <a:pt x="7367" y="9655"/>
                  <a:pt x="7297" y="9488"/>
                  <a:pt x="7297" y="9294"/>
                </a:cubicBezTo>
                <a:cubicBezTo>
                  <a:pt x="7297" y="9099"/>
                  <a:pt x="7367" y="8933"/>
                  <a:pt x="7508" y="8795"/>
                </a:cubicBezTo>
                <a:cubicBezTo>
                  <a:pt x="7648" y="8657"/>
                  <a:pt x="7818" y="8588"/>
                  <a:pt x="8016" y="8588"/>
                </a:cubicBezTo>
                <a:cubicBezTo>
                  <a:pt x="8214" y="8588"/>
                  <a:pt x="8383" y="8657"/>
                  <a:pt x="8523" y="8795"/>
                </a:cubicBezTo>
                <a:cubicBezTo>
                  <a:pt x="8663" y="8933"/>
                  <a:pt x="8734" y="9099"/>
                  <a:pt x="8734" y="9294"/>
                </a:cubicBezTo>
                <a:cubicBezTo>
                  <a:pt x="8734" y="9488"/>
                  <a:pt x="8663" y="9655"/>
                  <a:pt x="8523" y="9793"/>
                </a:cubicBezTo>
                <a:cubicBezTo>
                  <a:pt x="8383" y="9931"/>
                  <a:pt x="8214" y="10000"/>
                  <a:pt x="8016" y="10000"/>
                </a:cubicBezTo>
              </a:path>
            </a:pathLst>
          </a:custGeom>
          <a:solidFill>
            <a:srgbClr val="5B8CB8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14" name="TextBox 14"/>
          <p:cNvSpPr txBox="1"/>
          <p:nvPr/>
        </p:nvSpPr>
        <p:spPr>
          <a:xfrm>
            <a:off x="1033799" y="3881438"/>
            <a:ext cx="4517888" cy="40957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200" b="1" i="0" strike="noStrike">
                <a:solidFill>
                  <a:srgbClr val="0A1F3D">
                    <a:alpha val="90196"/>
                  </a:srgbClr>
                </a:solidFill>
                <a:latin typeface="Source Han Sans"/>
                <a:ea typeface="Source Han Sans"/>
                <a:cs typeface="Source Han Sans"/>
              </a:rPr>
              <a:t>购买图书：</a:t>
            </a:r>
            <a:r>
              <a:rPr sz="1200" b="0" i="0" strike="noStrike">
                <a:solidFill>
                  <a:srgbClr val="0A1F3D">
                    <a:alpha val="90196"/>
                  </a:srgbClr>
                </a:solidFill>
                <a:latin typeface="Source Han Sans"/>
                <a:ea typeface="Source Han Sans"/>
                <a:cs typeface="Source Han Sans"/>
              </a:rPr>
              <a:t>在首页浏览或按分类、关键词搜索图书，进入详情页后</a:t>
            </a:r>
            <a:endParaRPr lang="en-US" sz="1100"/>
          </a:p>
          <a:p>
            <a:pPr algn="l"/>
            <a:r>
              <a:rPr sz="1200" b="0" i="0" strike="noStrike">
                <a:solidFill>
                  <a:srgbClr val="0A1F3D">
                    <a:alpha val="90196"/>
                  </a:srgbClr>
                </a:solidFill>
                <a:latin typeface="Source Han Sans"/>
                <a:ea typeface="Source Han Sans"/>
                <a:cs typeface="Source Han Sans"/>
              </a:rPr>
              <a:t>加入购物车或直接下单购买</a:t>
            </a:r>
            <a:endParaRPr sz="1200" b="0" i="0" strike="noStrike">
              <a:solidFill>
                <a:srgbClr val="0A1F3D">
                  <a:alpha val="90196"/>
                </a:srgbClr>
              </a:solidFill>
              <a:latin typeface="Source Han Sans"/>
              <a:ea typeface="Source Han Sans"/>
              <a:cs typeface="Source Han Sans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750204" y="4548188"/>
            <a:ext cx="190452" cy="190500"/>
          </a:xfrm>
          <a:custGeom>
            <a:avLst/>
            <a:gdLst/>
            <a:ahLst/>
            <a:cxnLst/>
            <a:rect l="l" t="t" r="r" b="b"/>
            <a:pathLst>
              <a:path w="9998" h="10000">
                <a:moveTo>
                  <a:pt x="7249" y="0"/>
                </a:moveTo>
                <a:cubicBezTo>
                  <a:pt x="7748" y="0"/>
                  <a:pt x="8208" y="140"/>
                  <a:pt x="8628" y="422"/>
                </a:cubicBezTo>
                <a:cubicBezTo>
                  <a:pt x="9048" y="702"/>
                  <a:pt x="9378" y="1084"/>
                  <a:pt x="9618" y="1568"/>
                </a:cubicBezTo>
                <a:cubicBezTo>
                  <a:pt x="9871" y="2072"/>
                  <a:pt x="9998" y="2630"/>
                  <a:pt x="9998" y="3243"/>
                </a:cubicBezTo>
                <a:cubicBezTo>
                  <a:pt x="9998" y="4079"/>
                  <a:pt x="9818" y="4882"/>
                  <a:pt x="9458" y="5654"/>
                </a:cubicBezTo>
                <a:cubicBezTo>
                  <a:pt x="9151" y="6310"/>
                  <a:pt x="8714" y="6940"/>
                  <a:pt x="8148" y="7546"/>
                </a:cubicBezTo>
                <a:cubicBezTo>
                  <a:pt x="7708" y="8021"/>
                  <a:pt x="7185" y="8486"/>
                  <a:pt x="6579" y="8941"/>
                </a:cubicBezTo>
                <a:cubicBezTo>
                  <a:pt x="6239" y="9193"/>
                  <a:pt x="5792" y="9495"/>
                  <a:pt x="5239" y="9849"/>
                </a:cubicBezTo>
                <a:lnTo>
                  <a:pt x="4999" y="10000"/>
                </a:lnTo>
                <a:lnTo>
                  <a:pt x="4759" y="9849"/>
                </a:lnTo>
                <a:cubicBezTo>
                  <a:pt x="4205" y="9495"/>
                  <a:pt x="3759" y="9193"/>
                  <a:pt x="3419" y="8941"/>
                </a:cubicBezTo>
                <a:cubicBezTo>
                  <a:pt x="2812" y="8486"/>
                  <a:pt x="2289" y="8021"/>
                  <a:pt x="1850" y="7546"/>
                </a:cubicBezTo>
                <a:cubicBezTo>
                  <a:pt x="1283" y="6940"/>
                  <a:pt x="846" y="6310"/>
                  <a:pt x="540" y="5654"/>
                </a:cubicBezTo>
                <a:cubicBezTo>
                  <a:pt x="180" y="4882"/>
                  <a:pt x="0" y="4079"/>
                  <a:pt x="0" y="3243"/>
                </a:cubicBezTo>
                <a:cubicBezTo>
                  <a:pt x="0" y="2630"/>
                  <a:pt x="126" y="2072"/>
                  <a:pt x="380" y="1568"/>
                </a:cubicBezTo>
                <a:cubicBezTo>
                  <a:pt x="620" y="1084"/>
                  <a:pt x="950" y="702"/>
                  <a:pt x="1370" y="422"/>
                </a:cubicBezTo>
                <a:cubicBezTo>
                  <a:pt x="1790" y="140"/>
                  <a:pt x="2249" y="0"/>
                  <a:pt x="2749" y="0"/>
                </a:cubicBezTo>
                <a:cubicBezTo>
                  <a:pt x="3182" y="7"/>
                  <a:pt x="3612" y="122"/>
                  <a:pt x="4039" y="346"/>
                </a:cubicBezTo>
                <a:cubicBezTo>
                  <a:pt x="4399" y="533"/>
                  <a:pt x="4719" y="778"/>
                  <a:pt x="4999" y="1081"/>
                </a:cubicBezTo>
                <a:cubicBezTo>
                  <a:pt x="5279" y="778"/>
                  <a:pt x="5599" y="533"/>
                  <a:pt x="5959" y="346"/>
                </a:cubicBezTo>
                <a:cubicBezTo>
                  <a:pt x="6385" y="115"/>
                  <a:pt x="6815" y="0"/>
                  <a:pt x="7249" y="0"/>
                </a:cubicBezTo>
                <a:moveTo>
                  <a:pt x="5469" y="8443"/>
                </a:moveTo>
                <a:cubicBezTo>
                  <a:pt x="5922" y="8133"/>
                  <a:pt x="6325" y="7826"/>
                  <a:pt x="6679" y="7524"/>
                </a:cubicBezTo>
                <a:cubicBezTo>
                  <a:pt x="7438" y="6868"/>
                  <a:pt x="8011" y="6195"/>
                  <a:pt x="8398" y="5503"/>
                </a:cubicBezTo>
                <a:cubicBezTo>
                  <a:pt x="8798" y="4782"/>
                  <a:pt x="8998" y="4032"/>
                  <a:pt x="8998" y="3254"/>
                </a:cubicBezTo>
                <a:cubicBezTo>
                  <a:pt x="8998" y="2836"/>
                  <a:pt x="8921" y="2461"/>
                  <a:pt x="8768" y="2130"/>
                </a:cubicBezTo>
                <a:cubicBezTo>
                  <a:pt x="8614" y="1798"/>
                  <a:pt x="8404" y="1542"/>
                  <a:pt x="8138" y="1362"/>
                </a:cubicBezTo>
                <a:cubicBezTo>
                  <a:pt x="7871" y="1182"/>
                  <a:pt x="7575" y="1088"/>
                  <a:pt x="7249" y="1081"/>
                </a:cubicBezTo>
                <a:cubicBezTo>
                  <a:pt x="6982" y="1081"/>
                  <a:pt x="6712" y="1151"/>
                  <a:pt x="6439" y="1292"/>
                </a:cubicBezTo>
                <a:cubicBezTo>
                  <a:pt x="6165" y="1432"/>
                  <a:pt x="5922" y="1618"/>
                  <a:pt x="5709" y="1849"/>
                </a:cubicBezTo>
                <a:lnTo>
                  <a:pt x="4999" y="2616"/>
                </a:lnTo>
                <a:lnTo>
                  <a:pt x="4289" y="1849"/>
                </a:lnTo>
                <a:cubicBezTo>
                  <a:pt x="4075" y="1618"/>
                  <a:pt x="3832" y="1432"/>
                  <a:pt x="3559" y="1292"/>
                </a:cubicBezTo>
                <a:cubicBezTo>
                  <a:pt x="3285" y="1151"/>
                  <a:pt x="3015" y="1081"/>
                  <a:pt x="2749" y="1081"/>
                </a:cubicBezTo>
                <a:cubicBezTo>
                  <a:pt x="2429" y="1081"/>
                  <a:pt x="2136" y="1174"/>
                  <a:pt x="1870" y="1362"/>
                </a:cubicBezTo>
                <a:cubicBezTo>
                  <a:pt x="1603" y="1549"/>
                  <a:pt x="1391" y="1807"/>
                  <a:pt x="1235" y="2135"/>
                </a:cubicBezTo>
                <a:cubicBezTo>
                  <a:pt x="1078" y="2463"/>
                  <a:pt x="1000" y="2836"/>
                  <a:pt x="1000" y="3254"/>
                </a:cubicBezTo>
                <a:cubicBezTo>
                  <a:pt x="1000" y="4032"/>
                  <a:pt x="1200" y="4782"/>
                  <a:pt x="1600" y="5503"/>
                </a:cubicBezTo>
                <a:cubicBezTo>
                  <a:pt x="1986" y="6195"/>
                  <a:pt x="2559" y="6868"/>
                  <a:pt x="3319" y="7524"/>
                </a:cubicBezTo>
                <a:cubicBezTo>
                  <a:pt x="3672" y="7826"/>
                  <a:pt x="4075" y="8133"/>
                  <a:pt x="4529" y="8443"/>
                </a:cubicBezTo>
                <a:cubicBezTo>
                  <a:pt x="4669" y="8537"/>
                  <a:pt x="4825" y="8638"/>
                  <a:pt x="4999" y="8746"/>
                </a:cubicBezTo>
                <a:cubicBezTo>
                  <a:pt x="5172" y="8638"/>
                  <a:pt x="5329" y="8537"/>
                  <a:pt x="5469" y="8443"/>
                </a:cubicBezTo>
              </a:path>
            </a:pathLst>
          </a:custGeom>
          <a:solidFill>
            <a:srgbClr val="5B8CB8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16" name="TextBox 16"/>
          <p:cNvSpPr txBox="1"/>
          <p:nvPr/>
        </p:nvSpPr>
        <p:spPr>
          <a:xfrm>
            <a:off x="1033799" y="4529138"/>
            <a:ext cx="4517888" cy="40957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200" b="1" i="0" strike="noStrike">
                <a:solidFill>
                  <a:srgbClr val="0A1F3D">
                    <a:alpha val="90196"/>
                  </a:srgbClr>
                </a:solidFill>
                <a:latin typeface="Source Han Sans"/>
                <a:ea typeface="Source Han Sans"/>
                <a:cs typeface="Source Han Sans"/>
              </a:rPr>
              <a:t>收藏管理：</a:t>
            </a:r>
            <a:r>
              <a:rPr sz="1200" b="0" i="0" strike="noStrike">
                <a:solidFill>
                  <a:srgbClr val="0A1F3D">
                    <a:alpha val="90196"/>
                  </a:srgbClr>
                </a:solidFill>
                <a:latin typeface="Source Han Sans"/>
                <a:ea typeface="Source Han Sans"/>
                <a:cs typeface="Source Han Sans"/>
              </a:rPr>
              <a:t>对暂时不购买但感兴趣的图书进行收藏，后续在收藏页</a:t>
            </a:r>
            <a:endParaRPr lang="en-US" sz="1100"/>
          </a:p>
          <a:p>
            <a:pPr algn="l"/>
            <a:r>
              <a:rPr sz="1200" b="0" i="0" strike="noStrike">
                <a:solidFill>
                  <a:srgbClr val="0A1F3D">
                    <a:alpha val="90196"/>
                  </a:srgbClr>
                </a:solidFill>
                <a:latin typeface="Source Han Sans"/>
                <a:ea typeface="Source Han Sans"/>
                <a:cs typeface="Source Han Sans"/>
              </a:rPr>
              <a:t>统一查看和管理</a:t>
            </a:r>
            <a:endParaRPr sz="1200" b="0" i="0" strike="noStrike">
              <a:solidFill>
                <a:srgbClr val="0A1F3D">
                  <a:alpha val="90196"/>
                </a:srgbClr>
              </a:solidFill>
              <a:latin typeface="Source Han Sans"/>
              <a:ea typeface="Source Han Sans"/>
              <a:cs typeface="Source Han Sans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750204" y="5195888"/>
            <a:ext cx="190452" cy="190500"/>
          </a:xfrm>
          <a:custGeom>
            <a:avLst/>
            <a:gdLst/>
            <a:ahLst/>
            <a:cxnLst/>
            <a:rect l="l" t="t" r="r" b="b"/>
            <a:pathLst>
              <a:path w="9998" h="10000">
                <a:moveTo>
                  <a:pt x="8498" y="10000"/>
                </a:moveTo>
                <a:lnTo>
                  <a:pt x="1500" y="10000"/>
                </a:lnTo>
                <a:cubicBezTo>
                  <a:pt x="1226" y="10000"/>
                  <a:pt x="975" y="9933"/>
                  <a:pt x="745" y="9800"/>
                </a:cubicBezTo>
                <a:cubicBezTo>
                  <a:pt x="515" y="9666"/>
                  <a:pt x="333" y="9485"/>
                  <a:pt x="200" y="9255"/>
                </a:cubicBezTo>
                <a:cubicBezTo>
                  <a:pt x="66" y="9025"/>
                  <a:pt x="0" y="8773"/>
                  <a:pt x="0" y="8500"/>
                </a:cubicBezTo>
                <a:lnTo>
                  <a:pt x="0" y="500"/>
                </a:lnTo>
                <a:cubicBezTo>
                  <a:pt x="0" y="360"/>
                  <a:pt x="48" y="241"/>
                  <a:pt x="145" y="145"/>
                </a:cubicBezTo>
                <a:cubicBezTo>
                  <a:pt x="241" y="48"/>
                  <a:pt x="360" y="0"/>
                  <a:pt x="500" y="0"/>
                </a:cubicBezTo>
                <a:lnTo>
                  <a:pt x="7499" y="0"/>
                </a:lnTo>
                <a:cubicBezTo>
                  <a:pt x="7638" y="0"/>
                  <a:pt x="7756" y="48"/>
                  <a:pt x="7853" y="145"/>
                </a:cubicBezTo>
                <a:cubicBezTo>
                  <a:pt x="7949" y="241"/>
                  <a:pt x="7998" y="360"/>
                  <a:pt x="7998" y="500"/>
                </a:cubicBezTo>
                <a:lnTo>
                  <a:pt x="7998" y="6500"/>
                </a:lnTo>
                <a:lnTo>
                  <a:pt x="9998" y="6500"/>
                </a:lnTo>
                <a:lnTo>
                  <a:pt x="9998" y="8500"/>
                </a:lnTo>
                <a:cubicBezTo>
                  <a:pt x="9998" y="8773"/>
                  <a:pt x="9931" y="9025"/>
                  <a:pt x="9798" y="9255"/>
                </a:cubicBezTo>
                <a:cubicBezTo>
                  <a:pt x="9664" y="9485"/>
                  <a:pt x="9483" y="9666"/>
                  <a:pt x="9253" y="9800"/>
                </a:cubicBezTo>
                <a:cubicBezTo>
                  <a:pt x="9023" y="9933"/>
                  <a:pt x="8771" y="10000"/>
                  <a:pt x="8498" y="10000"/>
                </a:cubicBezTo>
                <a:moveTo>
                  <a:pt x="8998" y="7500"/>
                </a:moveTo>
                <a:lnTo>
                  <a:pt x="7998" y="7500"/>
                </a:lnTo>
                <a:lnTo>
                  <a:pt x="7998" y="8500"/>
                </a:lnTo>
                <a:cubicBezTo>
                  <a:pt x="7998" y="8640"/>
                  <a:pt x="8046" y="8758"/>
                  <a:pt x="8143" y="8855"/>
                </a:cubicBezTo>
                <a:cubicBezTo>
                  <a:pt x="8239" y="8951"/>
                  <a:pt x="8358" y="9000"/>
                  <a:pt x="8498" y="9000"/>
                </a:cubicBezTo>
                <a:cubicBezTo>
                  <a:pt x="8638" y="9000"/>
                  <a:pt x="8756" y="8951"/>
                  <a:pt x="8853" y="8855"/>
                </a:cubicBezTo>
                <a:cubicBezTo>
                  <a:pt x="8949" y="8758"/>
                  <a:pt x="8998" y="8640"/>
                  <a:pt x="8998" y="8500"/>
                </a:cubicBezTo>
                <a:lnTo>
                  <a:pt x="8998" y="7500"/>
                </a:lnTo>
                <a:moveTo>
                  <a:pt x="1500" y="9000"/>
                </a:moveTo>
                <a:lnTo>
                  <a:pt x="6999" y="9000"/>
                </a:lnTo>
                <a:lnTo>
                  <a:pt x="6999" y="1000"/>
                </a:lnTo>
                <a:lnTo>
                  <a:pt x="1000" y="1000"/>
                </a:lnTo>
                <a:lnTo>
                  <a:pt x="1000" y="8500"/>
                </a:lnTo>
                <a:cubicBezTo>
                  <a:pt x="1000" y="8640"/>
                  <a:pt x="1048" y="8758"/>
                  <a:pt x="1145" y="8855"/>
                </a:cubicBezTo>
                <a:cubicBezTo>
                  <a:pt x="1241" y="8951"/>
                  <a:pt x="1360" y="9000"/>
                  <a:pt x="1500" y="9000"/>
                </a:cubicBezTo>
                <a:moveTo>
                  <a:pt x="2000" y="3500"/>
                </a:moveTo>
                <a:lnTo>
                  <a:pt x="2000" y="2500"/>
                </a:lnTo>
                <a:lnTo>
                  <a:pt x="5999" y="2500"/>
                </a:lnTo>
                <a:lnTo>
                  <a:pt x="5999" y="3500"/>
                </a:lnTo>
                <a:lnTo>
                  <a:pt x="2000" y="3500"/>
                </a:lnTo>
                <a:moveTo>
                  <a:pt x="2000" y="5500"/>
                </a:moveTo>
                <a:lnTo>
                  <a:pt x="2000" y="4500"/>
                </a:lnTo>
                <a:lnTo>
                  <a:pt x="5999" y="4500"/>
                </a:lnTo>
                <a:lnTo>
                  <a:pt x="5999" y="5500"/>
                </a:lnTo>
                <a:lnTo>
                  <a:pt x="2000" y="5500"/>
                </a:lnTo>
                <a:moveTo>
                  <a:pt x="2000" y="7500"/>
                </a:moveTo>
                <a:lnTo>
                  <a:pt x="2000" y="6500"/>
                </a:lnTo>
                <a:lnTo>
                  <a:pt x="4499" y="6500"/>
                </a:lnTo>
                <a:lnTo>
                  <a:pt x="4499" y="7500"/>
                </a:lnTo>
              </a:path>
            </a:pathLst>
          </a:custGeom>
          <a:solidFill>
            <a:srgbClr val="5B8CB8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18" name="TextBox 18"/>
          <p:cNvSpPr txBox="1"/>
          <p:nvPr/>
        </p:nvSpPr>
        <p:spPr>
          <a:xfrm>
            <a:off x="1033799" y="5176838"/>
            <a:ext cx="4517888" cy="40957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200" b="1" i="0" strike="noStrike">
                <a:solidFill>
                  <a:srgbClr val="0A1F3D">
                    <a:alpha val="90196"/>
                  </a:srgbClr>
                </a:solidFill>
                <a:latin typeface="Source Han Sans"/>
                <a:ea typeface="Source Han Sans"/>
                <a:cs typeface="Source Han Sans"/>
              </a:rPr>
              <a:t>订单管理：</a:t>
            </a:r>
            <a:r>
              <a:rPr sz="1200" b="0" i="0" strike="noStrike">
                <a:solidFill>
                  <a:srgbClr val="0A1F3D">
                    <a:alpha val="90196"/>
                  </a:srgbClr>
                </a:solidFill>
                <a:latin typeface="Source Han Sans"/>
                <a:ea typeface="Source Han Sans"/>
                <a:cs typeface="Source Han Sans"/>
              </a:rPr>
              <a:t>查看自己的购买订单和售出订单，执行付款、发货、确</a:t>
            </a:r>
            <a:endParaRPr lang="en-US" sz="1100"/>
          </a:p>
          <a:p>
            <a:pPr algn="l"/>
            <a:r>
              <a:rPr sz="1200" b="0" i="0" strike="noStrike">
                <a:solidFill>
                  <a:srgbClr val="0A1F3D">
                    <a:alpha val="90196"/>
                  </a:srgbClr>
                </a:solidFill>
                <a:latin typeface="Source Han Sans"/>
                <a:ea typeface="Source Han Sans"/>
                <a:cs typeface="Source Han Sans"/>
              </a:rPr>
              <a:t>认收货、取消订单等操作</a:t>
            </a:r>
            <a:endParaRPr sz="1200" b="0" i="0" strike="noStrike">
              <a:solidFill>
                <a:srgbClr val="0A1F3D">
                  <a:alpha val="90196"/>
                </a:srgbClr>
              </a:solidFill>
              <a:latin typeface="Source Han Sans"/>
              <a:ea typeface="Source Han Sans"/>
              <a:cs typeface="Source Han Sans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750204" y="5843588"/>
            <a:ext cx="190452" cy="190500"/>
          </a:xfrm>
          <a:custGeom>
            <a:avLst/>
            <a:gdLst/>
            <a:ahLst/>
            <a:cxnLst/>
            <a:rect l="l" t="t" r="r" b="b"/>
            <a:pathLst>
              <a:path w="9998" h="10000">
                <a:moveTo>
                  <a:pt x="4347" y="6047"/>
                </a:moveTo>
                <a:lnTo>
                  <a:pt x="4347" y="6977"/>
                </a:lnTo>
                <a:cubicBezTo>
                  <a:pt x="3760" y="6977"/>
                  <a:pt x="3213" y="7104"/>
                  <a:pt x="2706" y="7358"/>
                </a:cubicBezTo>
                <a:cubicBezTo>
                  <a:pt x="2213" y="7606"/>
                  <a:pt x="1822" y="7941"/>
                  <a:pt x="1532" y="8363"/>
                </a:cubicBezTo>
                <a:cubicBezTo>
                  <a:pt x="1235" y="8797"/>
                  <a:pt x="1087" y="9268"/>
                  <a:pt x="1087" y="9777"/>
                </a:cubicBezTo>
                <a:lnTo>
                  <a:pt x="0" y="9777"/>
                </a:lnTo>
                <a:cubicBezTo>
                  <a:pt x="0" y="9101"/>
                  <a:pt x="199" y="8474"/>
                  <a:pt x="598" y="7898"/>
                </a:cubicBezTo>
                <a:cubicBezTo>
                  <a:pt x="982" y="7333"/>
                  <a:pt x="1500" y="6886"/>
                  <a:pt x="2152" y="6558"/>
                </a:cubicBezTo>
                <a:cubicBezTo>
                  <a:pt x="2825" y="6217"/>
                  <a:pt x="3557" y="6047"/>
                  <a:pt x="4347" y="6047"/>
                </a:cubicBezTo>
                <a:moveTo>
                  <a:pt x="4347" y="5581"/>
                </a:moveTo>
                <a:cubicBezTo>
                  <a:pt x="3760" y="5581"/>
                  <a:pt x="3213" y="5457"/>
                  <a:pt x="2706" y="5209"/>
                </a:cubicBezTo>
                <a:cubicBezTo>
                  <a:pt x="2213" y="4961"/>
                  <a:pt x="1822" y="4626"/>
                  <a:pt x="1532" y="4205"/>
                </a:cubicBezTo>
                <a:cubicBezTo>
                  <a:pt x="1235" y="3770"/>
                  <a:pt x="1087" y="3300"/>
                  <a:pt x="1087" y="2795"/>
                </a:cubicBezTo>
                <a:cubicBezTo>
                  <a:pt x="1087" y="2289"/>
                  <a:pt x="1235" y="1820"/>
                  <a:pt x="1532" y="1386"/>
                </a:cubicBezTo>
                <a:cubicBezTo>
                  <a:pt x="1822" y="964"/>
                  <a:pt x="2213" y="629"/>
                  <a:pt x="2706" y="381"/>
                </a:cubicBezTo>
                <a:cubicBezTo>
                  <a:pt x="3213" y="127"/>
                  <a:pt x="3762" y="0"/>
                  <a:pt x="4352" y="0"/>
                </a:cubicBezTo>
                <a:cubicBezTo>
                  <a:pt x="4942" y="0"/>
                  <a:pt x="5491" y="127"/>
                  <a:pt x="5999" y="381"/>
                </a:cubicBezTo>
                <a:cubicBezTo>
                  <a:pt x="6484" y="629"/>
                  <a:pt x="6872" y="964"/>
                  <a:pt x="7162" y="1386"/>
                </a:cubicBezTo>
                <a:cubicBezTo>
                  <a:pt x="7458" y="1820"/>
                  <a:pt x="7607" y="2289"/>
                  <a:pt x="7607" y="2795"/>
                </a:cubicBezTo>
                <a:cubicBezTo>
                  <a:pt x="7607" y="3300"/>
                  <a:pt x="7458" y="3770"/>
                  <a:pt x="7162" y="4205"/>
                </a:cubicBezTo>
                <a:cubicBezTo>
                  <a:pt x="6872" y="4626"/>
                  <a:pt x="6484" y="4961"/>
                  <a:pt x="5999" y="5209"/>
                </a:cubicBezTo>
                <a:cubicBezTo>
                  <a:pt x="5491" y="5457"/>
                  <a:pt x="4941" y="5581"/>
                  <a:pt x="4347" y="5581"/>
                </a:cubicBezTo>
                <a:moveTo>
                  <a:pt x="4347" y="4651"/>
                </a:moveTo>
                <a:cubicBezTo>
                  <a:pt x="4738" y="4651"/>
                  <a:pt x="5100" y="4569"/>
                  <a:pt x="5434" y="4405"/>
                </a:cubicBezTo>
                <a:cubicBezTo>
                  <a:pt x="5767" y="4240"/>
                  <a:pt x="6031" y="4015"/>
                  <a:pt x="6227" y="3730"/>
                </a:cubicBezTo>
                <a:cubicBezTo>
                  <a:pt x="6422" y="3444"/>
                  <a:pt x="6520" y="3133"/>
                  <a:pt x="6520" y="2795"/>
                </a:cubicBezTo>
                <a:cubicBezTo>
                  <a:pt x="6520" y="2457"/>
                  <a:pt x="6422" y="2145"/>
                  <a:pt x="6227" y="1860"/>
                </a:cubicBezTo>
                <a:cubicBezTo>
                  <a:pt x="6031" y="1575"/>
                  <a:pt x="5767" y="1349"/>
                  <a:pt x="5434" y="1181"/>
                </a:cubicBezTo>
                <a:cubicBezTo>
                  <a:pt x="5100" y="1013"/>
                  <a:pt x="4738" y="930"/>
                  <a:pt x="4347" y="930"/>
                </a:cubicBezTo>
                <a:cubicBezTo>
                  <a:pt x="3955" y="930"/>
                  <a:pt x="3593" y="1013"/>
                  <a:pt x="3260" y="1181"/>
                </a:cubicBezTo>
                <a:cubicBezTo>
                  <a:pt x="2926" y="1349"/>
                  <a:pt x="2662" y="1575"/>
                  <a:pt x="2467" y="1860"/>
                </a:cubicBezTo>
                <a:cubicBezTo>
                  <a:pt x="2271" y="2145"/>
                  <a:pt x="2173" y="2457"/>
                  <a:pt x="2173" y="2795"/>
                </a:cubicBezTo>
                <a:cubicBezTo>
                  <a:pt x="2173" y="3133"/>
                  <a:pt x="2271" y="3444"/>
                  <a:pt x="2467" y="3730"/>
                </a:cubicBezTo>
                <a:cubicBezTo>
                  <a:pt x="2662" y="4015"/>
                  <a:pt x="2926" y="4240"/>
                  <a:pt x="3260" y="4405"/>
                </a:cubicBezTo>
                <a:cubicBezTo>
                  <a:pt x="3593" y="4569"/>
                  <a:pt x="3955" y="4651"/>
                  <a:pt x="4347" y="4651"/>
                </a:cubicBezTo>
                <a:moveTo>
                  <a:pt x="5216" y="8558"/>
                </a:moveTo>
                <a:lnTo>
                  <a:pt x="5760" y="8288"/>
                </a:lnTo>
                <a:cubicBezTo>
                  <a:pt x="5723" y="8164"/>
                  <a:pt x="5705" y="8038"/>
                  <a:pt x="5705" y="7912"/>
                </a:cubicBezTo>
                <a:cubicBezTo>
                  <a:pt x="5705" y="7784"/>
                  <a:pt x="5723" y="7659"/>
                  <a:pt x="5760" y="7535"/>
                </a:cubicBezTo>
                <a:lnTo>
                  <a:pt x="5216" y="7265"/>
                </a:lnTo>
                <a:lnTo>
                  <a:pt x="5760" y="6465"/>
                </a:lnTo>
                <a:lnTo>
                  <a:pt x="6303" y="6726"/>
                </a:lnTo>
                <a:cubicBezTo>
                  <a:pt x="6520" y="6552"/>
                  <a:pt x="6774" y="6427"/>
                  <a:pt x="7064" y="6353"/>
                </a:cubicBezTo>
                <a:lnTo>
                  <a:pt x="7064" y="5814"/>
                </a:lnTo>
                <a:lnTo>
                  <a:pt x="8151" y="5814"/>
                </a:lnTo>
                <a:lnTo>
                  <a:pt x="8151" y="6353"/>
                </a:lnTo>
                <a:cubicBezTo>
                  <a:pt x="8440" y="6427"/>
                  <a:pt x="8693" y="6552"/>
                  <a:pt x="8911" y="6726"/>
                </a:cubicBezTo>
                <a:lnTo>
                  <a:pt x="9455" y="6465"/>
                </a:lnTo>
                <a:lnTo>
                  <a:pt x="9998" y="7265"/>
                </a:lnTo>
                <a:lnTo>
                  <a:pt x="9455" y="7535"/>
                </a:lnTo>
                <a:cubicBezTo>
                  <a:pt x="9491" y="7659"/>
                  <a:pt x="9509" y="7784"/>
                  <a:pt x="9509" y="7912"/>
                </a:cubicBezTo>
                <a:cubicBezTo>
                  <a:pt x="9509" y="8038"/>
                  <a:pt x="9491" y="8164"/>
                  <a:pt x="9455" y="8288"/>
                </a:cubicBezTo>
                <a:lnTo>
                  <a:pt x="9998" y="8558"/>
                </a:lnTo>
                <a:lnTo>
                  <a:pt x="9455" y="9358"/>
                </a:lnTo>
                <a:lnTo>
                  <a:pt x="8911" y="9098"/>
                </a:lnTo>
                <a:cubicBezTo>
                  <a:pt x="8693" y="9271"/>
                  <a:pt x="8440" y="9395"/>
                  <a:pt x="8151" y="9470"/>
                </a:cubicBezTo>
                <a:lnTo>
                  <a:pt x="8151" y="10000"/>
                </a:lnTo>
                <a:lnTo>
                  <a:pt x="7064" y="10000"/>
                </a:lnTo>
                <a:lnTo>
                  <a:pt x="7064" y="9470"/>
                </a:lnTo>
                <a:cubicBezTo>
                  <a:pt x="6774" y="9395"/>
                  <a:pt x="6520" y="9271"/>
                  <a:pt x="6303" y="9098"/>
                </a:cubicBezTo>
                <a:lnTo>
                  <a:pt x="5760" y="9358"/>
                </a:lnTo>
                <a:lnTo>
                  <a:pt x="5216" y="8558"/>
                </a:lnTo>
                <a:moveTo>
                  <a:pt x="7607" y="8614"/>
                </a:moveTo>
                <a:lnTo>
                  <a:pt x="7607" y="8605"/>
                </a:lnTo>
                <a:cubicBezTo>
                  <a:pt x="7831" y="8605"/>
                  <a:pt x="8023" y="8538"/>
                  <a:pt x="8183" y="8405"/>
                </a:cubicBezTo>
                <a:cubicBezTo>
                  <a:pt x="8342" y="8271"/>
                  <a:pt x="8422" y="8107"/>
                  <a:pt x="8422" y="7912"/>
                </a:cubicBezTo>
                <a:cubicBezTo>
                  <a:pt x="8422" y="7716"/>
                  <a:pt x="8342" y="7552"/>
                  <a:pt x="8183" y="7419"/>
                </a:cubicBezTo>
                <a:cubicBezTo>
                  <a:pt x="8023" y="7285"/>
                  <a:pt x="7831" y="7217"/>
                  <a:pt x="7607" y="7214"/>
                </a:cubicBezTo>
                <a:cubicBezTo>
                  <a:pt x="7382" y="7210"/>
                  <a:pt x="7190" y="7277"/>
                  <a:pt x="7031" y="7414"/>
                </a:cubicBezTo>
                <a:cubicBezTo>
                  <a:pt x="6871" y="7550"/>
                  <a:pt x="6792" y="7716"/>
                  <a:pt x="6792" y="7912"/>
                </a:cubicBezTo>
                <a:cubicBezTo>
                  <a:pt x="6792" y="8107"/>
                  <a:pt x="6871" y="8273"/>
                  <a:pt x="7031" y="8409"/>
                </a:cubicBezTo>
                <a:cubicBezTo>
                  <a:pt x="7190" y="8545"/>
                  <a:pt x="7382" y="8614"/>
                  <a:pt x="7607" y="8614"/>
                </a:cubicBezTo>
              </a:path>
            </a:pathLst>
          </a:custGeom>
          <a:solidFill>
            <a:srgbClr val="5B8CB8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20" name="TextBox 20"/>
          <p:cNvSpPr txBox="1"/>
          <p:nvPr/>
        </p:nvSpPr>
        <p:spPr>
          <a:xfrm>
            <a:off x="1033799" y="5824538"/>
            <a:ext cx="4517888" cy="40957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200" b="1" i="0" strike="noStrike">
                <a:solidFill>
                  <a:srgbClr val="0A1F3D">
                    <a:alpha val="90196"/>
                  </a:srgbClr>
                </a:solidFill>
                <a:latin typeface="Source Han Sans"/>
                <a:ea typeface="Source Han Sans"/>
                <a:cs typeface="Source Han Sans"/>
              </a:rPr>
              <a:t>个人信息：</a:t>
            </a:r>
            <a:r>
              <a:rPr sz="1200" b="0" i="0" strike="noStrike">
                <a:solidFill>
                  <a:srgbClr val="0A1F3D">
                    <a:alpha val="90196"/>
                  </a:srgbClr>
                </a:solidFill>
                <a:latin typeface="Source Han Sans"/>
                <a:ea typeface="Source Han Sans"/>
                <a:cs typeface="Source Han Sans"/>
              </a:rPr>
              <a:t>在个人中心查看和修改昵称、手机号、邮箱、头像等基</a:t>
            </a:r>
            <a:endParaRPr lang="en-US" sz="1100"/>
          </a:p>
          <a:p>
            <a:pPr algn="l"/>
            <a:r>
              <a:rPr sz="1200" b="0" i="0" strike="noStrike">
                <a:solidFill>
                  <a:srgbClr val="0A1F3D">
                    <a:alpha val="90196"/>
                  </a:srgbClr>
                </a:solidFill>
                <a:latin typeface="Source Han Sans"/>
                <a:ea typeface="Source Han Sans"/>
                <a:cs typeface="Source Han Sans"/>
              </a:rPr>
              <a:t>础资料</a:t>
            </a:r>
            <a:endParaRPr sz="1200" b="0" i="0" strike="noStrike">
              <a:solidFill>
                <a:srgbClr val="0A1F3D">
                  <a:alpha val="90196"/>
                </a:srgbClr>
              </a:solidFill>
              <a:latin typeface="Source Han Sans"/>
              <a:ea typeface="Source Han Sans"/>
              <a:cs typeface="Source Han Sans"/>
            </a:endParaRPr>
          </a:p>
        </p:txBody>
      </p:sp>
      <p:sp>
        <p:nvSpPr>
          <p:cNvPr id="21" name="AutoShape 21"/>
          <p:cNvSpPr/>
          <p:nvPr/>
        </p:nvSpPr>
        <p:spPr>
          <a:xfrm>
            <a:off x="6246838" y="2309812"/>
            <a:ext cx="5485028" cy="4095750"/>
          </a:xfrm>
          <a:prstGeom prst="roundRect">
            <a:avLst>
              <a:gd name="adj" fmla="val 104"/>
            </a:avLst>
          </a:prstGeom>
          <a:blipFill rotWithShape="1">
            <a:blip r:embed="rId1">
              <a:alphaModFix amt="100000"/>
              <a:alphaModFix amt="100000"/>
            </a:blip>
            <a:stretch>
              <a:fillRect/>
            </a:stretch>
          </a:blipFill>
          <a:ln>
            <a:headEnd type="none"/>
            <a:tailEnd type="none"/>
          </a:ln>
        </p:spPr>
      </p:sp>
      <p:sp>
        <p:nvSpPr>
          <p:cNvPr id="22" name="AutoShape 22"/>
          <p:cNvSpPr/>
          <p:nvPr/>
        </p:nvSpPr>
        <p:spPr>
          <a:xfrm>
            <a:off x="6256360" y="2319338"/>
            <a:ext cx="5465983" cy="38100"/>
          </a:xfrm>
          <a:prstGeom prst="rect">
            <a:avLst/>
          </a:prstGeom>
          <a:solidFill>
            <a:srgbClr val="0A1F3D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23" name="AutoShape 23"/>
          <p:cNvSpPr/>
          <p:nvPr/>
        </p:nvSpPr>
        <p:spPr>
          <a:xfrm>
            <a:off x="6529391" y="2652712"/>
            <a:ext cx="285679" cy="285750"/>
          </a:xfrm>
          <a:custGeom>
            <a:avLst/>
            <a:gdLst/>
            <a:ahLst/>
            <a:cxnLst/>
            <a:rect l="l" t="t" r="r" b="b"/>
            <a:pathLst>
              <a:path w="9998" h="10000">
                <a:moveTo>
                  <a:pt x="433" y="827"/>
                </a:moveTo>
                <a:lnTo>
                  <a:pt x="4999" y="0"/>
                </a:lnTo>
                <a:lnTo>
                  <a:pt x="9565" y="827"/>
                </a:lnTo>
                <a:cubicBezTo>
                  <a:pt x="9691" y="851"/>
                  <a:pt x="9794" y="906"/>
                  <a:pt x="9876" y="991"/>
                </a:cubicBezTo>
                <a:cubicBezTo>
                  <a:pt x="9957" y="1075"/>
                  <a:pt x="9998" y="1169"/>
                  <a:pt x="9998" y="1273"/>
                </a:cubicBezTo>
                <a:lnTo>
                  <a:pt x="9998" y="5809"/>
                </a:lnTo>
                <a:cubicBezTo>
                  <a:pt x="9998" y="6269"/>
                  <a:pt x="9866" y="6700"/>
                  <a:pt x="9604" y="7100"/>
                </a:cubicBezTo>
                <a:cubicBezTo>
                  <a:pt x="9340" y="7500"/>
                  <a:pt x="8975" y="7827"/>
                  <a:pt x="8509" y="8082"/>
                </a:cubicBezTo>
                <a:lnTo>
                  <a:pt x="4999" y="10000"/>
                </a:lnTo>
                <a:lnTo>
                  <a:pt x="1489" y="8082"/>
                </a:lnTo>
                <a:cubicBezTo>
                  <a:pt x="1022" y="7827"/>
                  <a:pt x="657" y="7500"/>
                  <a:pt x="394" y="7100"/>
                </a:cubicBezTo>
                <a:cubicBezTo>
                  <a:pt x="131" y="6700"/>
                  <a:pt x="0" y="6269"/>
                  <a:pt x="0" y="5809"/>
                </a:cubicBezTo>
                <a:lnTo>
                  <a:pt x="0" y="1273"/>
                </a:lnTo>
                <a:cubicBezTo>
                  <a:pt x="0" y="1169"/>
                  <a:pt x="40" y="1075"/>
                  <a:pt x="122" y="991"/>
                </a:cubicBezTo>
                <a:cubicBezTo>
                  <a:pt x="203" y="906"/>
                  <a:pt x="307" y="851"/>
                  <a:pt x="433" y="827"/>
                </a:cubicBezTo>
                <a:moveTo>
                  <a:pt x="8887" y="1636"/>
                </a:moveTo>
                <a:lnTo>
                  <a:pt x="4999" y="927"/>
                </a:lnTo>
                <a:lnTo>
                  <a:pt x="1111" y="1636"/>
                </a:lnTo>
                <a:lnTo>
                  <a:pt x="1111" y="5809"/>
                </a:lnTo>
                <a:cubicBezTo>
                  <a:pt x="1111" y="6118"/>
                  <a:pt x="1198" y="6406"/>
                  <a:pt x="1372" y="6673"/>
                </a:cubicBezTo>
                <a:cubicBezTo>
                  <a:pt x="1546" y="6939"/>
                  <a:pt x="1788" y="7157"/>
                  <a:pt x="2100" y="7327"/>
                </a:cubicBezTo>
                <a:lnTo>
                  <a:pt x="4999" y="8909"/>
                </a:lnTo>
                <a:lnTo>
                  <a:pt x="7898" y="7327"/>
                </a:lnTo>
                <a:cubicBezTo>
                  <a:pt x="8209" y="7157"/>
                  <a:pt x="8452" y="6939"/>
                  <a:pt x="8626" y="6673"/>
                </a:cubicBezTo>
                <a:cubicBezTo>
                  <a:pt x="8800" y="6406"/>
                  <a:pt x="8887" y="6118"/>
                  <a:pt x="8887" y="5809"/>
                </a:cubicBezTo>
                <a:lnTo>
                  <a:pt x="8887" y="1636"/>
                </a:lnTo>
                <a:moveTo>
                  <a:pt x="4999" y="2727"/>
                </a:moveTo>
                <a:cubicBezTo>
                  <a:pt x="5199" y="2727"/>
                  <a:pt x="5384" y="2768"/>
                  <a:pt x="5554" y="2850"/>
                </a:cubicBezTo>
                <a:cubicBezTo>
                  <a:pt x="5724" y="2932"/>
                  <a:pt x="5860" y="3042"/>
                  <a:pt x="5960" y="3182"/>
                </a:cubicBezTo>
                <a:cubicBezTo>
                  <a:pt x="6060" y="3321"/>
                  <a:pt x="6110" y="3472"/>
                  <a:pt x="6110" y="3636"/>
                </a:cubicBezTo>
                <a:cubicBezTo>
                  <a:pt x="6110" y="3800"/>
                  <a:pt x="6060" y="3951"/>
                  <a:pt x="5960" y="4091"/>
                </a:cubicBezTo>
                <a:cubicBezTo>
                  <a:pt x="5860" y="4230"/>
                  <a:pt x="5724" y="4342"/>
                  <a:pt x="5554" y="4427"/>
                </a:cubicBezTo>
                <a:lnTo>
                  <a:pt x="5554" y="6364"/>
                </a:lnTo>
                <a:lnTo>
                  <a:pt x="4444" y="6364"/>
                </a:lnTo>
                <a:lnTo>
                  <a:pt x="4444" y="4427"/>
                </a:lnTo>
                <a:cubicBezTo>
                  <a:pt x="4273" y="4342"/>
                  <a:pt x="4138" y="4230"/>
                  <a:pt x="4038" y="4091"/>
                </a:cubicBezTo>
                <a:cubicBezTo>
                  <a:pt x="3938" y="3951"/>
                  <a:pt x="3888" y="3800"/>
                  <a:pt x="3888" y="3636"/>
                </a:cubicBezTo>
                <a:cubicBezTo>
                  <a:pt x="3888" y="3472"/>
                  <a:pt x="3938" y="3321"/>
                  <a:pt x="4038" y="3182"/>
                </a:cubicBezTo>
                <a:cubicBezTo>
                  <a:pt x="4138" y="3042"/>
                  <a:pt x="4273" y="2932"/>
                  <a:pt x="4444" y="2850"/>
                </a:cubicBezTo>
                <a:cubicBezTo>
                  <a:pt x="4614" y="2768"/>
                  <a:pt x="4799" y="2727"/>
                  <a:pt x="4999" y="2727"/>
                </a:cubicBezTo>
              </a:path>
            </a:pathLst>
          </a:custGeom>
          <a:solidFill>
            <a:srgbClr val="0A1F3D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24" name="TextBox 24"/>
          <p:cNvSpPr txBox="1"/>
          <p:nvPr/>
        </p:nvSpPr>
        <p:spPr>
          <a:xfrm>
            <a:off x="6897649" y="2671762"/>
            <a:ext cx="1199850" cy="2476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800" b="1" i="0" strike="noStrike">
                <a:solidFill>
                  <a:srgbClr val="0A1F3D">
                    <a:alpha val="100000"/>
                  </a:srgbClr>
                </a:solidFill>
                <a:latin typeface="Source Han Serif CN"/>
                <a:ea typeface="Source Han Serif CN"/>
                <a:cs typeface="Source Han Serif CN"/>
              </a:rPr>
              <a:t>系统管理员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6539956" y="3252788"/>
            <a:ext cx="190452" cy="190500"/>
          </a:xfrm>
          <a:custGeom>
            <a:avLst/>
            <a:gdLst/>
            <a:ahLst/>
            <a:cxnLst/>
            <a:rect l="l" t="t" r="r" b="b"/>
            <a:pathLst>
              <a:path w="9998" h="10000">
                <a:moveTo>
                  <a:pt x="4999" y="4500"/>
                </a:moveTo>
                <a:cubicBezTo>
                  <a:pt x="5452" y="4500"/>
                  <a:pt x="5870" y="4611"/>
                  <a:pt x="6254" y="4835"/>
                </a:cubicBezTo>
                <a:cubicBezTo>
                  <a:pt x="6637" y="5058"/>
                  <a:pt x="6940" y="5361"/>
                  <a:pt x="7164" y="5745"/>
                </a:cubicBezTo>
                <a:cubicBezTo>
                  <a:pt x="7387" y="6128"/>
                  <a:pt x="7499" y="6546"/>
                  <a:pt x="7499" y="7000"/>
                </a:cubicBezTo>
                <a:lnTo>
                  <a:pt x="7499" y="10000"/>
                </a:lnTo>
                <a:lnTo>
                  <a:pt x="6499" y="10000"/>
                </a:lnTo>
                <a:lnTo>
                  <a:pt x="6499" y="7000"/>
                </a:lnTo>
                <a:cubicBezTo>
                  <a:pt x="6499" y="6740"/>
                  <a:pt x="6435" y="6498"/>
                  <a:pt x="6309" y="6275"/>
                </a:cubicBezTo>
                <a:cubicBezTo>
                  <a:pt x="6182" y="6051"/>
                  <a:pt x="6012" y="5871"/>
                  <a:pt x="5799" y="5735"/>
                </a:cubicBezTo>
                <a:cubicBezTo>
                  <a:pt x="5585" y="5598"/>
                  <a:pt x="5349" y="5520"/>
                  <a:pt x="5089" y="5500"/>
                </a:cubicBezTo>
                <a:lnTo>
                  <a:pt x="4999" y="5500"/>
                </a:lnTo>
                <a:cubicBezTo>
                  <a:pt x="4739" y="5500"/>
                  <a:pt x="4497" y="5563"/>
                  <a:pt x="4274" y="5690"/>
                </a:cubicBezTo>
                <a:cubicBezTo>
                  <a:pt x="4050" y="5816"/>
                  <a:pt x="3870" y="5986"/>
                  <a:pt x="3734" y="6200"/>
                </a:cubicBezTo>
                <a:cubicBezTo>
                  <a:pt x="3597" y="6413"/>
                  <a:pt x="3519" y="6650"/>
                  <a:pt x="3499" y="6910"/>
                </a:cubicBezTo>
                <a:lnTo>
                  <a:pt x="3499" y="10000"/>
                </a:lnTo>
                <a:lnTo>
                  <a:pt x="2500" y="10000"/>
                </a:lnTo>
                <a:lnTo>
                  <a:pt x="2500" y="7000"/>
                </a:lnTo>
                <a:cubicBezTo>
                  <a:pt x="2500" y="6546"/>
                  <a:pt x="2611" y="6128"/>
                  <a:pt x="2834" y="5745"/>
                </a:cubicBezTo>
                <a:cubicBezTo>
                  <a:pt x="3057" y="5361"/>
                  <a:pt x="3360" y="5058"/>
                  <a:pt x="3744" y="4835"/>
                </a:cubicBezTo>
                <a:cubicBezTo>
                  <a:pt x="4127" y="4611"/>
                  <a:pt x="4545" y="4500"/>
                  <a:pt x="4999" y="4500"/>
                </a:cubicBezTo>
                <a:moveTo>
                  <a:pt x="1750" y="6000"/>
                </a:moveTo>
                <a:cubicBezTo>
                  <a:pt x="1890" y="6000"/>
                  <a:pt x="2026" y="6016"/>
                  <a:pt x="2160" y="6050"/>
                </a:cubicBezTo>
                <a:cubicBezTo>
                  <a:pt x="2073" y="6303"/>
                  <a:pt x="2020" y="6563"/>
                  <a:pt x="2000" y="6830"/>
                </a:cubicBezTo>
                <a:lnTo>
                  <a:pt x="2000" y="7040"/>
                </a:lnTo>
                <a:cubicBezTo>
                  <a:pt x="1940" y="7020"/>
                  <a:pt x="1880" y="7006"/>
                  <a:pt x="1820" y="7000"/>
                </a:cubicBezTo>
                <a:lnTo>
                  <a:pt x="1750" y="7000"/>
                </a:lnTo>
                <a:cubicBezTo>
                  <a:pt x="1556" y="7000"/>
                  <a:pt x="1388" y="7065"/>
                  <a:pt x="1245" y="7195"/>
                </a:cubicBezTo>
                <a:cubicBezTo>
                  <a:pt x="1101" y="7325"/>
                  <a:pt x="1020" y="7486"/>
                  <a:pt x="1000" y="7680"/>
                </a:cubicBezTo>
                <a:lnTo>
                  <a:pt x="1000" y="7750"/>
                </a:lnTo>
                <a:lnTo>
                  <a:pt x="1000" y="10000"/>
                </a:lnTo>
                <a:lnTo>
                  <a:pt x="0" y="10000"/>
                </a:lnTo>
                <a:lnTo>
                  <a:pt x="0" y="7750"/>
                </a:lnTo>
                <a:cubicBezTo>
                  <a:pt x="0" y="7430"/>
                  <a:pt x="78" y="7136"/>
                  <a:pt x="235" y="6870"/>
                </a:cubicBezTo>
                <a:cubicBezTo>
                  <a:pt x="391" y="6603"/>
                  <a:pt x="603" y="6391"/>
                  <a:pt x="870" y="6235"/>
                </a:cubicBezTo>
                <a:cubicBezTo>
                  <a:pt x="1136" y="6078"/>
                  <a:pt x="1430" y="6000"/>
                  <a:pt x="1750" y="6000"/>
                </a:cubicBezTo>
                <a:moveTo>
                  <a:pt x="8248" y="6000"/>
                </a:moveTo>
                <a:cubicBezTo>
                  <a:pt x="8568" y="6000"/>
                  <a:pt x="8861" y="6078"/>
                  <a:pt x="9128" y="6235"/>
                </a:cubicBezTo>
                <a:cubicBezTo>
                  <a:pt x="9394" y="6391"/>
                  <a:pt x="9606" y="6603"/>
                  <a:pt x="9763" y="6870"/>
                </a:cubicBezTo>
                <a:cubicBezTo>
                  <a:pt x="9919" y="7136"/>
                  <a:pt x="9998" y="7430"/>
                  <a:pt x="9998" y="7750"/>
                </a:cubicBezTo>
                <a:lnTo>
                  <a:pt x="9998" y="10000"/>
                </a:lnTo>
                <a:lnTo>
                  <a:pt x="8998" y="10000"/>
                </a:lnTo>
                <a:lnTo>
                  <a:pt x="8998" y="7750"/>
                </a:lnTo>
                <a:cubicBezTo>
                  <a:pt x="8998" y="7556"/>
                  <a:pt x="8933" y="7388"/>
                  <a:pt x="8803" y="7245"/>
                </a:cubicBezTo>
                <a:cubicBezTo>
                  <a:pt x="8673" y="7101"/>
                  <a:pt x="8511" y="7020"/>
                  <a:pt x="8318" y="7000"/>
                </a:cubicBezTo>
                <a:lnTo>
                  <a:pt x="8248" y="7000"/>
                </a:lnTo>
                <a:cubicBezTo>
                  <a:pt x="8161" y="7000"/>
                  <a:pt x="8078" y="7013"/>
                  <a:pt x="7998" y="7040"/>
                </a:cubicBezTo>
                <a:lnTo>
                  <a:pt x="7998" y="7000"/>
                </a:lnTo>
                <a:cubicBezTo>
                  <a:pt x="7998" y="6673"/>
                  <a:pt x="7948" y="6356"/>
                  <a:pt x="7848" y="6050"/>
                </a:cubicBezTo>
                <a:cubicBezTo>
                  <a:pt x="7974" y="6016"/>
                  <a:pt x="8108" y="6000"/>
                  <a:pt x="8248" y="6000"/>
                </a:cubicBezTo>
                <a:moveTo>
                  <a:pt x="1750" y="3000"/>
                </a:moveTo>
                <a:cubicBezTo>
                  <a:pt x="1976" y="3000"/>
                  <a:pt x="2185" y="3056"/>
                  <a:pt x="2375" y="3170"/>
                </a:cubicBezTo>
                <a:cubicBezTo>
                  <a:pt x="2564" y="3283"/>
                  <a:pt x="2715" y="3435"/>
                  <a:pt x="2829" y="3625"/>
                </a:cubicBezTo>
                <a:cubicBezTo>
                  <a:pt x="2942" y="3815"/>
                  <a:pt x="2999" y="4023"/>
                  <a:pt x="2999" y="4250"/>
                </a:cubicBezTo>
                <a:cubicBezTo>
                  <a:pt x="2999" y="4476"/>
                  <a:pt x="2942" y="4685"/>
                  <a:pt x="2829" y="4875"/>
                </a:cubicBezTo>
                <a:cubicBezTo>
                  <a:pt x="2715" y="5065"/>
                  <a:pt x="2564" y="5216"/>
                  <a:pt x="2375" y="5330"/>
                </a:cubicBezTo>
                <a:cubicBezTo>
                  <a:pt x="2185" y="5443"/>
                  <a:pt x="1976" y="5500"/>
                  <a:pt x="1750" y="5500"/>
                </a:cubicBezTo>
                <a:cubicBezTo>
                  <a:pt x="1523" y="5500"/>
                  <a:pt x="1315" y="5443"/>
                  <a:pt x="1125" y="5330"/>
                </a:cubicBezTo>
                <a:cubicBezTo>
                  <a:pt x="935" y="5216"/>
                  <a:pt x="783" y="5065"/>
                  <a:pt x="670" y="4875"/>
                </a:cubicBezTo>
                <a:cubicBezTo>
                  <a:pt x="556" y="4685"/>
                  <a:pt x="500" y="4476"/>
                  <a:pt x="500" y="4250"/>
                </a:cubicBezTo>
                <a:cubicBezTo>
                  <a:pt x="500" y="4023"/>
                  <a:pt x="556" y="3815"/>
                  <a:pt x="670" y="3625"/>
                </a:cubicBezTo>
                <a:cubicBezTo>
                  <a:pt x="783" y="3435"/>
                  <a:pt x="935" y="3283"/>
                  <a:pt x="1125" y="3170"/>
                </a:cubicBezTo>
                <a:cubicBezTo>
                  <a:pt x="1315" y="3056"/>
                  <a:pt x="1523" y="3000"/>
                  <a:pt x="1750" y="3000"/>
                </a:cubicBezTo>
                <a:moveTo>
                  <a:pt x="8248" y="3000"/>
                </a:moveTo>
                <a:cubicBezTo>
                  <a:pt x="8474" y="3000"/>
                  <a:pt x="8683" y="3056"/>
                  <a:pt x="8873" y="3170"/>
                </a:cubicBezTo>
                <a:cubicBezTo>
                  <a:pt x="9063" y="3283"/>
                  <a:pt x="9214" y="3435"/>
                  <a:pt x="9328" y="3625"/>
                </a:cubicBezTo>
                <a:cubicBezTo>
                  <a:pt x="9441" y="3815"/>
                  <a:pt x="9498" y="4023"/>
                  <a:pt x="9498" y="4250"/>
                </a:cubicBezTo>
                <a:cubicBezTo>
                  <a:pt x="9498" y="4476"/>
                  <a:pt x="9441" y="4685"/>
                  <a:pt x="9328" y="4875"/>
                </a:cubicBezTo>
                <a:cubicBezTo>
                  <a:pt x="9214" y="5065"/>
                  <a:pt x="9063" y="5216"/>
                  <a:pt x="8873" y="5330"/>
                </a:cubicBezTo>
                <a:cubicBezTo>
                  <a:pt x="8683" y="5443"/>
                  <a:pt x="8474" y="5500"/>
                  <a:pt x="8248" y="5500"/>
                </a:cubicBezTo>
                <a:cubicBezTo>
                  <a:pt x="8021" y="5500"/>
                  <a:pt x="7813" y="5443"/>
                  <a:pt x="7623" y="5330"/>
                </a:cubicBezTo>
                <a:cubicBezTo>
                  <a:pt x="7433" y="5216"/>
                  <a:pt x="7282" y="5065"/>
                  <a:pt x="7169" y="4875"/>
                </a:cubicBezTo>
                <a:cubicBezTo>
                  <a:pt x="7055" y="4685"/>
                  <a:pt x="6999" y="4476"/>
                  <a:pt x="6999" y="4250"/>
                </a:cubicBezTo>
                <a:cubicBezTo>
                  <a:pt x="6999" y="4023"/>
                  <a:pt x="7055" y="3815"/>
                  <a:pt x="7169" y="3625"/>
                </a:cubicBezTo>
                <a:cubicBezTo>
                  <a:pt x="7282" y="3435"/>
                  <a:pt x="7433" y="3283"/>
                  <a:pt x="7623" y="3170"/>
                </a:cubicBezTo>
                <a:cubicBezTo>
                  <a:pt x="7813" y="3056"/>
                  <a:pt x="8021" y="3000"/>
                  <a:pt x="8248" y="3000"/>
                </a:cubicBezTo>
                <a:moveTo>
                  <a:pt x="1750" y="4000"/>
                </a:moveTo>
                <a:cubicBezTo>
                  <a:pt x="1683" y="4000"/>
                  <a:pt x="1625" y="4025"/>
                  <a:pt x="1575" y="4075"/>
                </a:cubicBezTo>
                <a:cubicBezTo>
                  <a:pt x="1525" y="4125"/>
                  <a:pt x="1500" y="4183"/>
                  <a:pt x="1500" y="4250"/>
                </a:cubicBezTo>
                <a:cubicBezTo>
                  <a:pt x="1500" y="4316"/>
                  <a:pt x="1525" y="4375"/>
                  <a:pt x="1575" y="4425"/>
                </a:cubicBezTo>
                <a:cubicBezTo>
                  <a:pt x="1625" y="4475"/>
                  <a:pt x="1683" y="4500"/>
                  <a:pt x="1750" y="4500"/>
                </a:cubicBezTo>
                <a:cubicBezTo>
                  <a:pt x="1816" y="4500"/>
                  <a:pt x="1875" y="4475"/>
                  <a:pt x="1925" y="4425"/>
                </a:cubicBezTo>
                <a:cubicBezTo>
                  <a:pt x="1975" y="4375"/>
                  <a:pt x="2000" y="4316"/>
                  <a:pt x="2000" y="4250"/>
                </a:cubicBezTo>
                <a:cubicBezTo>
                  <a:pt x="2000" y="4183"/>
                  <a:pt x="1975" y="4125"/>
                  <a:pt x="1925" y="4075"/>
                </a:cubicBezTo>
                <a:cubicBezTo>
                  <a:pt x="1875" y="4025"/>
                  <a:pt x="1816" y="4000"/>
                  <a:pt x="1750" y="4000"/>
                </a:cubicBezTo>
                <a:moveTo>
                  <a:pt x="8248" y="4000"/>
                </a:moveTo>
                <a:cubicBezTo>
                  <a:pt x="8181" y="4000"/>
                  <a:pt x="8123" y="4025"/>
                  <a:pt x="8073" y="4075"/>
                </a:cubicBezTo>
                <a:cubicBezTo>
                  <a:pt x="8023" y="4125"/>
                  <a:pt x="7998" y="4183"/>
                  <a:pt x="7998" y="4250"/>
                </a:cubicBezTo>
                <a:cubicBezTo>
                  <a:pt x="7998" y="4316"/>
                  <a:pt x="8023" y="4375"/>
                  <a:pt x="8073" y="4425"/>
                </a:cubicBezTo>
                <a:cubicBezTo>
                  <a:pt x="8123" y="4475"/>
                  <a:pt x="8181" y="4500"/>
                  <a:pt x="8248" y="4500"/>
                </a:cubicBezTo>
                <a:cubicBezTo>
                  <a:pt x="8314" y="4500"/>
                  <a:pt x="8373" y="4475"/>
                  <a:pt x="8423" y="4425"/>
                </a:cubicBezTo>
                <a:cubicBezTo>
                  <a:pt x="8473" y="4375"/>
                  <a:pt x="8498" y="4316"/>
                  <a:pt x="8498" y="4250"/>
                </a:cubicBezTo>
                <a:cubicBezTo>
                  <a:pt x="8498" y="4183"/>
                  <a:pt x="8473" y="4125"/>
                  <a:pt x="8423" y="4075"/>
                </a:cubicBezTo>
                <a:cubicBezTo>
                  <a:pt x="8373" y="4025"/>
                  <a:pt x="8314" y="4000"/>
                  <a:pt x="8248" y="4000"/>
                </a:cubicBezTo>
                <a:moveTo>
                  <a:pt x="4999" y="0"/>
                </a:moveTo>
                <a:cubicBezTo>
                  <a:pt x="5359" y="0"/>
                  <a:pt x="5692" y="90"/>
                  <a:pt x="5999" y="270"/>
                </a:cubicBezTo>
                <a:cubicBezTo>
                  <a:pt x="6305" y="450"/>
                  <a:pt x="6549" y="693"/>
                  <a:pt x="6729" y="1000"/>
                </a:cubicBezTo>
                <a:cubicBezTo>
                  <a:pt x="6909" y="1306"/>
                  <a:pt x="6999" y="1640"/>
                  <a:pt x="6999" y="2000"/>
                </a:cubicBezTo>
                <a:cubicBezTo>
                  <a:pt x="6999" y="2360"/>
                  <a:pt x="6909" y="2693"/>
                  <a:pt x="6729" y="3000"/>
                </a:cubicBezTo>
                <a:cubicBezTo>
                  <a:pt x="6549" y="3306"/>
                  <a:pt x="6305" y="3550"/>
                  <a:pt x="5999" y="3730"/>
                </a:cubicBezTo>
                <a:cubicBezTo>
                  <a:pt x="5692" y="3910"/>
                  <a:pt x="5359" y="4000"/>
                  <a:pt x="4999" y="4000"/>
                </a:cubicBezTo>
                <a:cubicBezTo>
                  <a:pt x="4639" y="4000"/>
                  <a:pt x="4305" y="3910"/>
                  <a:pt x="3999" y="3730"/>
                </a:cubicBezTo>
                <a:cubicBezTo>
                  <a:pt x="3692" y="3550"/>
                  <a:pt x="3449" y="3306"/>
                  <a:pt x="3269" y="3000"/>
                </a:cubicBezTo>
                <a:cubicBezTo>
                  <a:pt x="3089" y="2693"/>
                  <a:pt x="2999" y="2360"/>
                  <a:pt x="2999" y="2000"/>
                </a:cubicBezTo>
                <a:cubicBezTo>
                  <a:pt x="2999" y="1640"/>
                  <a:pt x="3089" y="1306"/>
                  <a:pt x="3269" y="1000"/>
                </a:cubicBezTo>
                <a:cubicBezTo>
                  <a:pt x="3449" y="693"/>
                  <a:pt x="3692" y="450"/>
                  <a:pt x="3999" y="270"/>
                </a:cubicBezTo>
                <a:cubicBezTo>
                  <a:pt x="4305" y="90"/>
                  <a:pt x="4639" y="0"/>
                  <a:pt x="4999" y="0"/>
                </a:cubicBezTo>
                <a:moveTo>
                  <a:pt x="4999" y="1000"/>
                </a:moveTo>
                <a:cubicBezTo>
                  <a:pt x="4819" y="1000"/>
                  <a:pt x="4652" y="1045"/>
                  <a:pt x="4499" y="1135"/>
                </a:cubicBezTo>
                <a:cubicBezTo>
                  <a:pt x="4345" y="1225"/>
                  <a:pt x="4224" y="1346"/>
                  <a:pt x="4134" y="1500"/>
                </a:cubicBezTo>
                <a:cubicBezTo>
                  <a:pt x="4044" y="1653"/>
                  <a:pt x="3999" y="1820"/>
                  <a:pt x="3999" y="2000"/>
                </a:cubicBezTo>
                <a:cubicBezTo>
                  <a:pt x="3999" y="2180"/>
                  <a:pt x="4044" y="2346"/>
                  <a:pt x="4134" y="2500"/>
                </a:cubicBezTo>
                <a:cubicBezTo>
                  <a:pt x="4224" y="2653"/>
                  <a:pt x="4345" y="2775"/>
                  <a:pt x="4499" y="2865"/>
                </a:cubicBezTo>
                <a:cubicBezTo>
                  <a:pt x="4652" y="2955"/>
                  <a:pt x="4819" y="3000"/>
                  <a:pt x="4999" y="3000"/>
                </a:cubicBezTo>
                <a:cubicBezTo>
                  <a:pt x="5179" y="3000"/>
                  <a:pt x="5345" y="2955"/>
                  <a:pt x="5499" y="2865"/>
                </a:cubicBezTo>
                <a:cubicBezTo>
                  <a:pt x="5652" y="2775"/>
                  <a:pt x="5774" y="2653"/>
                  <a:pt x="5864" y="2500"/>
                </a:cubicBezTo>
                <a:cubicBezTo>
                  <a:pt x="5954" y="2346"/>
                  <a:pt x="5999" y="2180"/>
                  <a:pt x="5999" y="2000"/>
                </a:cubicBezTo>
                <a:cubicBezTo>
                  <a:pt x="5999" y="1820"/>
                  <a:pt x="5954" y="1653"/>
                  <a:pt x="5864" y="1500"/>
                </a:cubicBezTo>
                <a:cubicBezTo>
                  <a:pt x="5774" y="1346"/>
                  <a:pt x="5652" y="1225"/>
                  <a:pt x="5499" y="1135"/>
                </a:cubicBezTo>
                <a:cubicBezTo>
                  <a:pt x="5345" y="1045"/>
                  <a:pt x="5179" y="1000"/>
                  <a:pt x="4999" y="1000"/>
                </a:cubicBezTo>
              </a:path>
            </a:pathLst>
          </a:custGeom>
          <a:solidFill>
            <a:srgbClr val="0A1F3D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26" name="TextBox 26"/>
          <p:cNvSpPr txBox="1"/>
          <p:nvPr/>
        </p:nvSpPr>
        <p:spPr>
          <a:xfrm>
            <a:off x="6823551" y="3233738"/>
            <a:ext cx="4517888" cy="40957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200" b="1" i="0" strike="noStrike">
                <a:solidFill>
                  <a:srgbClr val="0A1F3D">
                    <a:alpha val="90196"/>
                  </a:srgbClr>
                </a:solidFill>
                <a:latin typeface="Source Han Sans"/>
                <a:ea typeface="Source Han Sans"/>
                <a:cs typeface="Source Han Sans"/>
              </a:rPr>
              <a:t>用户管理：</a:t>
            </a:r>
            <a:r>
              <a:rPr sz="1200" b="0" i="0" strike="noStrike">
                <a:solidFill>
                  <a:srgbClr val="0A1F3D">
                    <a:alpha val="90196"/>
                  </a:srgbClr>
                </a:solidFill>
                <a:latin typeface="Source Han Sans"/>
                <a:ea typeface="Source Han Sans"/>
                <a:cs typeface="Source Han Sans"/>
              </a:rPr>
              <a:t>查看用户列表，对异常账号进行启用或禁用，保障平台</a:t>
            </a:r>
            <a:endParaRPr lang="en-US" sz="1100"/>
          </a:p>
          <a:p>
            <a:pPr algn="l"/>
            <a:r>
              <a:rPr sz="1200" b="0" i="0" strike="noStrike">
                <a:solidFill>
                  <a:srgbClr val="0A1F3D">
                    <a:alpha val="90196"/>
                  </a:srgbClr>
                </a:solidFill>
                <a:latin typeface="Source Han Sans"/>
                <a:ea typeface="Source Han Sans"/>
                <a:cs typeface="Source Han Sans"/>
              </a:rPr>
              <a:t>用户质量和安全</a:t>
            </a:r>
            <a:endParaRPr sz="1200" b="0" i="0" strike="noStrike">
              <a:solidFill>
                <a:srgbClr val="0A1F3D">
                  <a:alpha val="90196"/>
                </a:srgbClr>
              </a:solidFill>
              <a:latin typeface="Source Han Sans"/>
              <a:ea typeface="Source Han Sans"/>
              <a:cs typeface="Source Han Sans"/>
            </a:endParaRPr>
          </a:p>
        </p:txBody>
      </p:sp>
      <p:sp>
        <p:nvSpPr>
          <p:cNvPr id="27" name="AutoShape 27"/>
          <p:cNvSpPr/>
          <p:nvPr/>
        </p:nvSpPr>
        <p:spPr>
          <a:xfrm>
            <a:off x="6539956" y="3900488"/>
            <a:ext cx="190452" cy="190500"/>
          </a:xfrm>
          <a:custGeom>
            <a:avLst/>
            <a:gdLst/>
            <a:ahLst/>
            <a:cxnLst/>
            <a:rect l="l" t="t" r="r" b="b"/>
            <a:pathLst>
              <a:path w="9998" h="10000">
                <a:moveTo>
                  <a:pt x="2231" y="0"/>
                </a:moveTo>
                <a:lnTo>
                  <a:pt x="2242" y="0"/>
                </a:lnTo>
                <a:cubicBezTo>
                  <a:pt x="2642" y="0"/>
                  <a:pt x="3013" y="100"/>
                  <a:pt x="3357" y="300"/>
                </a:cubicBezTo>
                <a:cubicBezTo>
                  <a:pt x="3701" y="500"/>
                  <a:pt x="3973" y="772"/>
                  <a:pt x="4173" y="1116"/>
                </a:cubicBezTo>
                <a:cubicBezTo>
                  <a:pt x="4373" y="1460"/>
                  <a:pt x="4473" y="1832"/>
                  <a:pt x="4473" y="2232"/>
                </a:cubicBezTo>
                <a:lnTo>
                  <a:pt x="4473" y="4474"/>
                </a:lnTo>
                <a:lnTo>
                  <a:pt x="2242" y="4474"/>
                </a:lnTo>
                <a:cubicBezTo>
                  <a:pt x="1834" y="4474"/>
                  <a:pt x="1459" y="4374"/>
                  <a:pt x="1116" y="4174"/>
                </a:cubicBezTo>
                <a:cubicBezTo>
                  <a:pt x="772" y="3974"/>
                  <a:pt x="500" y="3702"/>
                  <a:pt x="300" y="3358"/>
                </a:cubicBezTo>
                <a:cubicBezTo>
                  <a:pt x="100" y="3014"/>
                  <a:pt x="0" y="2640"/>
                  <a:pt x="0" y="2237"/>
                </a:cubicBezTo>
                <a:cubicBezTo>
                  <a:pt x="0" y="1833"/>
                  <a:pt x="100" y="1460"/>
                  <a:pt x="300" y="1116"/>
                </a:cubicBezTo>
                <a:cubicBezTo>
                  <a:pt x="500" y="772"/>
                  <a:pt x="772" y="500"/>
                  <a:pt x="1116" y="300"/>
                </a:cubicBezTo>
                <a:cubicBezTo>
                  <a:pt x="1459" y="100"/>
                  <a:pt x="1831" y="0"/>
                  <a:pt x="2231" y="0"/>
                </a:cubicBezTo>
                <a:moveTo>
                  <a:pt x="2231" y="3421"/>
                </a:moveTo>
                <a:lnTo>
                  <a:pt x="3420" y="3421"/>
                </a:lnTo>
                <a:lnTo>
                  <a:pt x="3420" y="2232"/>
                </a:lnTo>
                <a:cubicBezTo>
                  <a:pt x="3420" y="2021"/>
                  <a:pt x="3367" y="1824"/>
                  <a:pt x="3263" y="1642"/>
                </a:cubicBezTo>
                <a:cubicBezTo>
                  <a:pt x="3157" y="1459"/>
                  <a:pt x="3013" y="1315"/>
                  <a:pt x="2831" y="1211"/>
                </a:cubicBezTo>
                <a:cubicBezTo>
                  <a:pt x="2648" y="1105"/>
                  <a:pt x="2450" y="1053"/>
                  <a:pt x="2236" y="1053"/>
                </a:cubicBezTo>
                <a:cubicBezTo>
                  <a:pt x="2022" y="1053"/>
                  <a:pt x="1824" y="1105"/>
                  <a:pt x="1642" y="1211"/>
                </a:cubicBezTo>
                <a:cubicBezTo>
                  <a:pt x="1459" y="1315"/>
                  <a:pt x="1315" y="1459"/>
                  <a:pt x="1210" y="1642"/>
                </a:cubicBezTo>
                <a:cubicBezTo>
                  <a:pt x="1104" y="1824"/>
                  <a:pt x="1052" y="2023"/>
                  <a:pt x="1052" y="2237"/>
                </a:cubicBezTo>
                <a:cubicBezTo>
                  <a:pt x="1052" y="2451"/>
                  <a:pt x="1104" y="2649"/>
                  <a:pt x="1210" y="2832"/>
                </a:cubicBezTo>
                <a:cubicBezTo>
                  <a:pt x="1315" y="3014"/>
                  <a:pt x="1459" y="3157"/>
                  <a:pt x="1642" y="3263"/>
                </a:cubicBezTo>
                <a:cubicBezTo>
                  <a:pt x="1824" y="3368"/>
                  <a:pt x="2020" y="3421"/>
                  <a:pt x="2231" y="3421"/>
                </a:cubicBezTo>
                <a:moveTo>
                  <a:pt x="2231" y="5526"/>
                </a:moveTo>
                <a:lnTo>
                  <a:pt x="2242" y="5526"/>
                </a:lnTo>
                <a:lnTo>
                  <a:pt x="4473" y="5526"/>
                </a:lnTo>
                <a:lnTo>
                  <a:pt x="4473" y="7758"/>
                </a:lnTo>
                <a:cubicBezTo>
                  <a:pt x="4473" y="8164"/>
                  <a:pt x="4373" y="8540"/>
                  <a:pt x="4173" y="8884"/>
                </a:cubicBezTo>
                <a:cubicBezTo>
                  <a:pt x="3973" y="9228"/>
                  <a:pt x="3701" y="9500"/>
                  <a:pt x="3357" y="9700"/>
                </a:cubicBezTo>
                <a:cubicBezTo>
                  <a:pt x="3013" y="9900"/>
                  <a:pt x="2640" y="10000"/>
                  <a:pt x="2236" y="10000"/>
                </a:cubicBezTo>
                <a:cubicBezTo>
                  <a:pt x="1832" y="10000"/>
                  <a:pt x="1459" y="9900"/>
                  <a:pt x="1116" y="9700"/>
                </a:cubicBezTo>
                <a:cubicBezTo>
                  <a:pt x="772" y="9500"/>
                  <a:pt x="500" y="9228"/>
                  <a:pt x="300" y="8884"/>
                </a:cubicBezTo>
                <a:cubicBezTo>
                  <a:pt x="100" y="8540"/>
                  <a:pt x="0" y="8166"/>
                  <a:pt x="0" y="7763"/>
                </a:cubicBezTo>
                <a:cubicBezTo>
                  <a:pt x="0" y="7359"/>
                  <a:pt x="100" y="6986"/>
                  <a:pt x="300" y="6642"/>
                </a:cubicBezTo>
                <a:cubicBezTo>
                  <a:pt x="500" y="6298"/>
                  <a:pt x="772" y="6026"/>
                  <a:pt x="1116" y="5826"/>
                </a:cubicBezTo>
                <a:cubicBezTo>
                  <a:pt x="1459" y="5626"/>
                  <a:pt x="1831" y="5526"/>
                  <a:pt x="2231" y="5526"/>
                </a:cubicBezTo>
                <a:moveTo>
                  <a:pt x="3420" y="6579"/>
                </a:moveTo>
                <a:lnTo>
                  <a:pt x="2242" y="6579"/>
                </a:lnTo>
                <a:cubicBezTo>
                  <a:pt x="2024" y="6579"/>
                  <a:pt x="1824" y="6631"/>
                  <a:pt x="1642" y="6737"/>
                </a:cubicBezTo>
                <a:cubicBezTo>
                  <a:pt x="1459" y="6842"/>
                  <a:pt x="1315" y="6986"/>
                  <a:pt x="1210" y="7168"/>
                </a:cubicBezTo>
                <a:cubicBezTo>
                  <a:pt x="1104" y="7350"/>
                  <a:pt x="1052" y="7549"/>
                  <a:pt x="1052" y="7763"/>
                </a:cubicBezTo>
                <a:cubicBezTo>
                  <a:pt x="1052" y="7977"/>
                  <a:pt x="1104" y="8175"/>
                  <a:pt x="1210" y="8358"/>
                </a:cubicBezTo>
                <a:cubicBezTo>
                  <a:pt x="1315" y="8540"/>
                  <a:pt x="1459" y="8684"/>
                  <a:pt x="1642" y="8789"/>
                </a:cubicBezTo>
                <a:cubicBezTo>
                  <a:pt x="1824" y="8894"/>
                  <a:pt x="2022" y="8947"/>
                  <a:pt x="2236" y="8947"/>
                </a:cubicBezTo>
                <a:cubicBezTo>
                  <a:pt x="2450" y="8947"/>
                  <a:pt x="2648" y="8894"/>
                  <a:pt x="2831" y="8789"/>
                </a:cubicBezTo>
                <a:cubicBezTo>
                  <a:pt x="3013" y="8684"/>
                  <a:pt x="3157" y="8540"/>
                  <a:pt x="3263" y="8358"/>
                </a:cubicBezTo>
                <a:cubicBezTo>
                  <a:pt x="3367" y="8175"/>
                  <a:pt x="3420" y="7975"/>
                  <a:pt x="3420" y="7758"/>
                </a:cubicBezTo>
                <a:lnTo>
                  <a:pt x="3420" y="6579"/>
                </a:lnTo>
                <a:moveTo>
                  <a:pt x="7767" y="0"/>
                </a:moveTo>
                <a:cubicBezTo>
                  <a:pt x="8167" y="0"/>
                  <a:pt x="8538" y="100"/>
                  <a:pt x="8882" y="300"/>
                </a:cubicBezTo>
                <a:cubicBezTo>
                  <a:pt x="9226" y="500"/>
                  <a:pt x="9498" y="772"/>
                  <a:pt x="9698" y="1116"/>
                </a:cubicBezTo>
                <a:cubicBezTo>
                  <a:pt x="9898" y="1460"/>
                  <a:pt x="9998" y="1833"/>
                  <a:pt x="9998" y="2237"/>
                </a:cubicBezTo>
                <a:cubicBezTo>
                  <a:pt x="9998" y="2640"/>
                  <a:pt x="9898" y="3014"/>
                  <a:pt x="9698" y="3358"/>
                </a:cubicBezTo>
                <a:cubicBezTo>
                  <a:pt x="9498" y="3702"/>
                  <a:pt x="9226" y="3974"/>
                  <a:pt x="8882" y="4174"/>
                </a:cubicBezTo>
                <a:cubicBezTo>
                  <a:pt x="8538" y="4374"/>
                  <a:pt x="8163" y="4474"/>
                  <a:pt x="7756" y="4474"/>
                </a:cubicBezTo>
                <a:lnTo>
                  <a:pt x="5525" y="4474"/>
                </a:lnTo>
                <a:lnTo>
                  <a:pt x="5525" y="2232"/>
                </a:lnTo>
                <a:cubicBezTo>
                  <a:pt x="5525" y="1832"/>
                  <a:pt x="5625" y="1460"/>
                  <a:pt x="5825" y="1116"/>
                </a:cubicBezTo>
                <a:cubicBezTo>
                  <a:pt x="6025" y="772"/>
                  <a:pt x="6297" y="500"/>
                  <a:pt x="6641" y="300"/>
                </a:cubicBezTo>
                <a:cubicBezTo>
                  <a:pt x="6984" y="100"/>
                  <a:pt x="7359" y="0"/>
                  <a:pt x="7767" y="0"/>
                </a:cubicBezTo>
                <a:moveTo>
                  <a:pt x="6578" y="3421"/>
                </a:moveTo>
                <a:lnTo>
                  <a:pt x="7767" y="3421"/>
                </a:lnTo>
                <a:cubicBezTo>
                  <a:pt x="7977" y="3421"/>
                  <a:pt x="8174" y="3368"/>
                  <a:pt x="8356" y="3263"/>
                </a:cubicBezTo>
                <a:cubicBezTo>
                  <a:pt x="8538" y="3157"/>
                  <a:pt x="8682" y="3014"/>
                  <a:pt x="8788" y="2832"/>
                </a:cubicBezTo>
                <a:cubicBezTo>
                  <a:pt x="8893" y="2649"/>
                  <a:pt x="8946" y="2451"/>
                  <a:pt x="8946" y="2237"/>
                </a:cubicBezTo>
                <a:cubicBezTo>
                  <a:pt x="8946" y="2023"/>
                  <a:pt x="8893" y="1824"/>
                  <a:pt x="8788" y="1642"/>
                </a:cubicBezTo>
                <a:cubicBezTo>
                  <a:pt x="8682" y="1459"/>
                  <a:pt x="8538" y="1315"/>
                  <a:pt x="8356" y="1211"/>
                </a:cubicBezTo>
                <a:cubicBezTo>
                  <a:pt x="8174" y="1105"/>
                  <a:pt x="7976" y="1053"/>
                  <a:pt x="7762" y="1053"/>
                </a:cubicBezTo>
                <a:cubicBezTo>
                  <a:pt x="7548" y="1053"/>
                  <a:pt x="7349" y="1105"/>
                  <a:pt x="7167" y="1211"/>
                </a:cubicBezTo>
                <a:cubicBezTo>
                  <a:pt x="6984" y="1315"/>
                  <a:pt x="6840" y="1459"/>
                  <a:pt x="6735" y="1642"/>
                </a:cubicBezTo>
                <a:cubicBezTo>
                  <a:pt x="6630" y="1824"/>
                  <a:pt x="6578" y="2021"/>
                  <a:pt x="6578" y="2232"/>
                </a:cubicBezTo>
                <a:lnTo>
                  <a:pt x="6578" y="3421"/>
                </a:lnTo>
                <a:moveTo>
                  <a:pt x="5525" y="7758"/>
                </a:moveTo>
                <a:lnTo>
                  <a:pt x="5525" y="5526"/>
                </a:lnTo>
                <a:lnTo>
                  <a:pt x="7767" y="5526"/>
                </a:lnTo>
                <a:cubicBezTo>
                  <a:pt x="8167" y="5526"/>
                  <a:pt x="8538" y="5626"/>
                  <a:pt x="8882" y="5826"/>
                </a:cubicBezTo>
                <a:cubicBezTo>
                  <a:pt x="9226" y="6026"/>
                  <a:pt x="9498" y="6298"/>
                  <a:pt x="9698" y="6642"/>
                </a:cubicBezTo>
                <a:cubicBezTo>
                  <a:pt x="9898" y="6986"/>
                  <a:pt x="9998" y="7359"/>
                  <a:pt x="9998" y="7763"/>
                </a:cubicBezTo>
                <a:cubicBezTo>
                  <a:pt x="9998" y="8166"/>
                  <a:pt x="9898" y="8540"/>
                  <a:pt x="9698" y="8884"/>
                </a:cubicBezTo>
                <a:cubicBezTo>
                  <a:pt x="9498" y="9228"/>
                  <a:pt x="9226" y="9500"/>
                  <a:pt x="8882" y="9700"/>
                </a:cubicBezTo>
                <a:cubicBezTo>
                  <a:pt x="8538" y="9900"/>
                  <a:pt x="8165" y="10000"/>
                  <a:pt x="7762" y="10000"/>
                </a:cubicBezTo>
                <a:cubicBezTo>
                  <a:pt x="7358" y="10000"/>
                  <a:pt x="6984" y="9900"/>
                  <a:pt x="6641" y="9700"/>
                </a:cubicBezTo>
                <a:cubicBezTo>
                  <a:pt x="6297" y="9500"/>
                  <a:pt x="6025" y="9228"/>
                  <a:pt x="5825" y="8884"/>
                </a:cubicBezTo>
                <a:cubicBezTo>
                  <a:pt x="5625" y="8540"/>
                  <a:pt x="5525" y="8164"/>
                  <a:pt x="5525" y="7758"/>
                </a:cubicBezTo>
                <a:moveTo>
                  <a:pt x="7767" y="6579"/>
                </a:moveTo>
                <a:lnTo>
                  <a:pt x="6578" y="6579"/>
                </a:lnTo>
                <a:lnTo>
                  <a:pt x="6578" y="7758"/>
                </a:lnTo>
                <a:cubicBezTo>
                  <a:pt x="6578" y="7975"/>
                  <a:pt x="6630" y="8175"/>
                  <a:pt x="6735" y="8358"/>
                </a:cubicBezTo>
                <a:cubicBezTo>
                  <a:pt x="6840" y="8540"/>
                  <a:pt x="6984" y="8684"/>
                  <a:pt x="7167" y="8789"/>
                </a:cubicBezTo>
                <a:cubicBezTo>
                  <a:pt x="7349" y="8894"/>
                  <a:pt x="7548" y="8947"/>
                  <a:pt x="7762" y="8947"/>
                </a:cubicBezTo>
                <a:cubicBezTo>
                  <a:pt x="7976" y="8947"/>
                  <a:pt x="8174" y="8894"/>
                  <a:pt x="8356" y="8789"/>
                </a:cubicBezTo>
                <a:cubicBezTo>
                  <a:pt x="8538" y="8684"/>
                  <a:pt x="8682" y="8540"/>
                  <a:pt x="8788" y="8358"/>
                </a:cubicBezTo>
                <a:cubicBezTo>
                  <a:pt x="8893" y="8175"/>
                  <a:pt x="8946" y="7977"/>
                  <a:pt x="8946" y="7763"/>
                </a:cubicBezTo>
                <a:cubicBezTo>
                  <a:pt x="8946" y="7549"/>
                  <a:pt x="8893" y="7350"/>
                  <a:pt x="8788" y="7168"/>
                </a:cubicBezTo>
                <a:cubicBezTo>
                  <a:pt x="8682" y="6986"/>
                  <a:pt x="8538" y="6842"/>
                  <a:pt x="8356" y="6737"/>
                </a:cubicBezTo>
                <a:cubicBezTo>
                  <a:pt x="8174" y="6631"/>
                  <a:pt x="7977" y="6579"/>
                  <a:pt x="7767" y="6579"/>
                </a:cubicBezTo>
              </a:path>
            </a:pathLst>
          </a:custGeom>
          <a:solidFill>
            <a:srgbClr val="0A1F3D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28" name="TextBox 28"/>
          <p:cNvSpPr txBox="1"/>
          <p:nvPr/>
        </p:nvSpPr>
        <p:spPr>
          <a:xfrm>
            <a:off x="6823551" y="3881438"/>
            <a:ext cx="4517888" cy="40957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200" b="1" i="0" strike="noStrike">
                <a:solidFill>
                  <a:srgbClr val="0A1F3D">
                    <a:alpha val="90196"/>
                  </a:srgbClr>
                </a:solidFill>
                <a:latin typeface="Source Han Sans"/>
                <a:ea typeface="Source Han Sans"/>
                <a:cs typeface="Source Han Sans"/>
              </a:rPr>
              <a:t>分类管理：</a:t>
            </a:r>
            <a:r>
              <a:rPr sz="1200" b="0" i="0" strike="noStrike">
                <a:solidFill>
                  <a:srgbClr val="0A1F3D">
                    <a:alpha val="90196"/>
                  </a:srgbClr>
                </a:solidFill>
                <a:latin typeface="Source Han Sans"/>
                <a:ea typeface="Source Han Sans"/>
                <a:cs typeface="Source Han Sans"/>
              </a:rPr>
              <a:t>新增、编辑、删除图书分类，保证图书发布时分类可选</a:t>
            </a:r>
            <a:endParaRPr lang="en-US" sz="1100"/>
          </a:p>
          <a:p>
            <a:pPr algn="l"/>
            <a:r>
              <a:rPr sz="1200" b="0" i="0" strike="noStrike">
                <a:solidFill>
                  <a:srgbClr val="0A1F3D">
                    <a:alpha val="90196"/>
                  </a:srgbClr>
                </a:solidFill>
                <a:latin typeface="Source Han Sans"/>
                <a:ea typeface="Source Han Sans"/>
                <a:cs typeface="Source Han Sans"/>
              </a:rPr>
              <a:t>且结构合理</a:t>
            </a:r>
            <a:endParaRPr sz="1200" b="0" i="0" strike="noStrike">
              <a:solidFill>
                <a:srgbClr val="0A1F3D">
                  <a:alpha val="90196"/>
                </a:srgbClr>
              </a:solidFill>
              <a:latin typeface="Source Han Sans"/>
              <a:ea typeface="Source Han Sans"/>
              <a:cs typeface="Source Han Sans"/>
            </a:endParaRPr>
          </a:p>
        </p:txBody>
      </p:sp>
      <p:sp>
        <p:nvSpPr>
          <p:cNvPr id="29" name="AutoShape 29"/>
          <p:cNvSpPr/>
          <p:nvPr/>
        </p:nvSpPr>
        <p:spPr>
          <a:xfrm>
            <a:off x="6539956" y="4548188"/>
            <a:ext cx="190452" cy="190500"/>
          </a:xfrm>
          <a:custGeom>
            <a:avLst/>
            <a:gdLst/>
            <a:ahLst/>
            <a:cxnLst/>
            <a:rect l="l" t="t" r="r" b="b"/>
            <a:pathLst>
              <a:path w="9998" h="10000">
                <a:moveTo>
                  <a:pt x="1111" y="3853"/>
                </a:moveTo>
                <a:lnTo>
                  <a:pt x="1111" y="5000"/>
                </a:lnTo>
                <a:cubicBezTo>
                  <a:pt x="1111" y="5091"/>
                  <a:pt x="1177" y="5200"/>
                  <a:pt x="1311" y="5326"/>
                </a:cubicBezTo>
                <a:cubicBezTo>
                  <a:pt x="1466" y="5466"/>
                  <a:pt x="1684" y="5603"/>
                  <a:pt x="1966" y="5737"/>
                </a:cubicBezTo>
                <a:cubicBezTo>
                  <a:pt x="2351" y="5919"/>
                  <a:pt x="2807" y="6061"/>
                  <a:pt x="3333" y="6163"/>
                </a:cubicBezTo>
                <a:cubicBezTo>
                  <a:pt x="3858" y="6265"/>
                  <a:pt x="4413" y="6316"/>
                  <a:pt x="4999" y="6316"/>
                </a:cubicBezTo>
                <a:cubicBezTo>
                  <a:pt x="5584" y="6316"/>
                  <a:pt x="6139" y="6265"/>
                  <a:pt x="6665" y="6163"/>
                </a:cubicBezTo>
                <a:cubicBezTo>
                  <a:pt x="7191" y="6061"/>
                  <a:pt x="7646" y="5919"/>
                  <a:pt x="8032" y="5737"/>
                </a:cubicBezTo>
                <a:cubicBezTo>
                  <a:pt x="8313" y="5603"/>
                  <a:pt x="8531" y="5466"/>
                  <a:pt x="8687" y="5326"/>
                </a:cubicBezTo>
                <a:cubicBezTo>
                  <a:pt x="8820" y="5200"/>
                  <a:pt x="8887" y="5091"/>
                  <a:pt x="8887" y="5000"/>
                </a:cubicBezTo>
                <a:lnTo>
                  <a:pt x="8887" y="3853"/>
                </a:lnTo>
                <a:cubicBezTo>
                  <a:pt x="8420" y="4126"/>
                  <a:pt x="7853" y="4340"/>
                  <a:pt x="7187" y="4495"/>
                </a:cubicBezTo>
                <a:cubicBezTo>
                  <a:pt x="6498" y="4656"/>
                  <a:pt x="5769" y="4737"/>
                  <a:pt x="4999" y="4737"/>
                </a:cubicBezTo>
                <a:cubicBezTo>
                  <a:pt x="4229" y="4737"/>
                  <a:pt x="3499" y="4656"/>
                  <a:pt x="2811" y="4495"/>
                </a:cubicBezTo>
                <a:cubicBezTo>
                  <a:pt x="2144" y="4340"/>
                  <a:pt x="1577" y="4126"/>
                  <a:pt x="1111" y="3853"/>
                </a:cubicBezTo>
                <a:moveTo>
                  <a:pt x="8887" y="7632"/>
                </a:moveTo>
                <a:lnTo>
                  <a:pt x="8887" y="6484"/>
                </a:lnTo>
                <a:cubicBezTo>
                  <a:pt x="8420" y="6758"/>
                  <a:pt x="7853" y="6972"/>
                  <a:pt x="7187" y="7126"/>
                </a:cubicBezTo>
                <a:cubicBezTo>
                  <a:pt x="6498" y="7287"/>
                  <a:pt x="5769" y="7368"/>
                  <a:pt x="4999" y="7368"/>
                </a:cubicBezTo>
                <a:cubicBezTo>
                  <a:pt x="4229" y="7368"/>
                  <a:pt x="3499" y="7287"/>
                  <a:pt x="2811" y="7126"/>
                </a:cubicBezTo>
                <a:cubicBezTo>
                  <a:pt x="2144" y="6972"/>
                  <a:pt x="1577" y="6758"/>
                  <a:pt x="1111" y="6484"/>
                </a:cubicBezTo>
                <a:lnTo>
                  <a:pt x="1111" y="7632"/>
                </a:lnTo>
                <a:cubicBezTo>
                  <a:pt x="1111" y="7722"/>
                  <a:pt x="1177" y="7831"/>
                  <a:pt x="1311" y="7958"/>
                </a:cubicBezTo>
                <a:cubicBezTo>
                  <a:pt x="1466" y="8098"/>
                  <a:pt x="1684" y="8234"/>
                  <a:pt x="1966" y="8368"/>
                </a:cubicBezTo>
                <a:cubicBezTo>
                  <a:pt x="2351" y="8550"/>
                  <a:pt x="2807" y="8693"/>
                  <a:pt x="3333" y="8795"/>
                </a:cubicBezTo>
                <a:cubicBezTo>
                  <a:pt x="3858" y="8896"/>
                  <a:pt x="4413" y="8947"/>
                  <a:pt x="4999" y="8947"/>
                </a:cubicBezTo>
                <a:cubicBezTo>
                  <a:pt x="5584" y="8947"/>
                  <a:pt x="6139" y="8896"/>
                  <a:pt x="6665" y="8795"/>
                </a:cubicBezTo>
                <a:cubicBezTo>
                  <a:pt x="7191" y="8693"/>
                  <a:pt x="7646" y="8550"/>
                  <a:pt x="8032" y="8368"/>
                </a:cubicBezTo>
                <a:cubicBezTo>
                  <a:pt x="8313" y="8234"/>
                  <a:pt x="8531" y="8098"/>
                  <a:pt x="8687" y="7958"/>
                </a:cubicBezTo>
                <a:cubicBezTo>
                  <a:pt x="8820" y="7831"/>
                  <a:pt x="8887" y="7722"/>
                  <a:pt x="8887" y="7632"/>
                </a:cubicBezTo>
                <a:moveTo>
                  <a:pt x="0" y="7632"/>
                </a:moveTo>
                <a:lnTo>
                  <a:pt x="0" y="2368"/>
                </a:lnTo>
                <a:cubicBezTo>
                  <a:pt x="0" y="1940"/>
                  <a:pt x="226" y="1540"/>
                  <a:pt x="678" y="1168"/>
                </a:cubicBezTo>
                <a:cubicBezTo>
                  <a:pt x="1122" y="817"/>
                  <a:pt x="1721" y="536"/>
                  <a:pt x="2477" y="326"/>
                </a:cubicBezTo>
                <a:cubicBezTo>
                  <a:pt x="3255" y="108"/>
                  <a:pt x="4095" y="0"/>
                  <a:pt x="4999" y="0"/>
                </a:cubicBezTo>
                <a:cubicBezTo>
                  <a:pt x="5902" y="0"/>
                  <a:pt x="6743" y="108"/>
                  <a:pt x="7521" y="326"/>
                </a:cubicBezTo>
                <a:cubicBezTo>
                  <a:pt x="8276" y="536"/>
                  <a:pt x="8876" y="817"/>
                  <a:pt x="9320" y="1168"/>
                </a:cubicBezTo>
                <a:cubicBezTo>
                  <a:pt x="9772" y="1540"/>
                  <a:pt x="9998" y="1940"/>
                  <a:pt x="9998" y="2368"/>
                </a:cubicBezTo>
                <a:lnTo>
                  <a:pt x="9998" y="7632"/>
                </a:lnTo>
                <a:cubicBezTo>
                  <a:pt x="9998" y="8060"/>
                  <a:pt x="9772" y="8460"/>
                  <a:pt x="9320" y="8832"/>
                </a:cubicBezTo>
                <a:cubicBezTo>
                  <a:pt x="8876" y="9182"/>
                  <a:pt x="8276" y="9463"/>
                  <a:pt x="7521" y="9674"/>
                </a:cubicBezTo>
                <a:cubicBezTo>
                  <a:pt x="6743" y="9891"/>
                  <a:pt x="5902" y="10000"/>
                  <a:pt x="4999" y="10000"/>
                </a:cubicBezTo>
                <a:cubicBezTo>
                  <a:pt x="4095" y="10000"/>
                  <a:pt x="3255" y="9891"/>
                  <a:pt x="2477" y="9674"/>
                </a:cubicBezTo>
                <a:cubicBezTo>
                  <a:pt x="1721" y="9463"/>
                  <a:pt x="1122" y="9182"/>
                  <a:pt x="678" y="8832"/>
                </a:cubicBezTo>
                <a:cubicBezTo>
                  <a:pt x="226" y="8460"/>
                  <a:pt x="0" y="8060"/>
                  <a:pt x="0" y="7632"/>
                </a:cubicBezTo>
                <a:moveTo>
                  <a:pt x="4999" y="3684"/>
                </a:moveTo>
                <a:cubicBezTo>
                  <a:pt x="5584" y="3684"/>
                  <a:pt x="6139" y="3633"/>
                  <a:pt x="6665" y="3532"/>
                </a:cubicBezTo>
                <a:cubicBezTo>
                  <a:pt x="7191" y="3430"/>
                  <a:pt x="7646" y="3287"/>
                  <a:pt x="8032" y="3105"/>
                </a:cubicBezTo>
                <a:cubicBezTo>
                  <a:pt x="8313" y="2971"/>
                  <a:pt x="8531" y="2835"/>
                  <a:pt x="8687" y="2695"/>
                </a:cubicBezTo>
                <a:cubicBezTo>
                  <a:pt x="8820" y="2568"/>
                  <a:pt x="8887" y="2459"/>
                  <a:pt x="8887" y="2368"/>
                </a:cubicBezTo>
                <a:cubicBezTo>
                  <a:pt x="8887" y="2277"/>
                  <a:pt x="8820" y="2168"/>
                  <a:pt x="8687" y="2042"/>
                </a:cubicBezTo>
                <a:cubicBezTo>
                  <a:pt x="8531" y="1902"/>
                  <a:pt x="8313" y="1765"/>
                  <a:pt x="8032" y="1632"/>
                </a:cubicBezTo>
                <a:cubicBezTo>
                  <a:pt x="7646" y="1449"/>
                  <a:pt x="7191" y="1307"/>
                  <a:pt x="6665" y="1205"/>
                </a:cubicBezTo>
                <a:cubicBezTo>
                  <a:pt x="6139" y="1103"/>
                  <a:pt x="5584" y="1053"/>
                  <a:pt x="4999" y="1053"/>
                </a:cubicBezTo>
                <a:cubicBezTo>
                  <a:pt x="4413" y="1053"/>
                  <a:pt x="3858" y="1103"/>
                  <a:pt x="3333" y="1205"/>
                </a:cubicBezTo>
                <a:cubicBezTo>
                  <a:pt x="2807" y="1307"/>
                  <a:pt x="2351" y="1449"/>
                  <a:pt x="1966" y="1632"/>
                </a:cubicBezTo>
                <a:cubicBezTo>
                  <a:pt x="1684" y="1765"/>
                  <a:pt x="1466" y="1902"/>
                  <a:pt x="1311" y="2042"/>
                </a:cubicBezTo>
                <a:cubicBezTo>
                  <a:pt x="1177" y="2168"/>
                  <a:pt x="1111" y="2277"/>
                  <a:pt x="1111" y="2368"/>
                </a:cubicBezTo>
                <a:cubicBezTo>
                  <a:pt x="1111" y="2459"/>
                  <a:pt x="1177" y="2568"/>
                  <a:pt x="1311" y="2695"/>
                </a:cubicBezTo>
                <a:cubicBezTo>
                  <a:pt x="1466" y="2835"/>
                  <a:pt x="1684" y="2971"/>
                  <a:pt x="1966" y="3105"/>
                </a:cubicBezTo>
                <a:cubicBezTo>
                  <a:pt x="2351" y="3287"/>
                  <a:pt x="2807" y="3430"/>
                  <a:pt x="3333" y="3532"/>
                </a:cubicBezTo>
                <a:cubicBezTo>
                  <a:pt x="3858" y="3633"/>
                  <a:pt x="4413" y="3684"/>
                  <a:pt x="4999" y="3684"/>
                </a:cubicBezTo>
              </a:path>
            </a:pathLst>
          </a:custGeom>
          <a:solidFill>
            <a:srgbClr val="0A1F3D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30" name="TextBox 30"/>
          <p:cNvSpPr txBox="1"/>
          <p:nvPr/>
        </p:nvSpPr>
        <p:spPr>
          <a:xfrm>
            <a:off x="6823551" y="4529138"/>
            <a:ext cx="4517888" cy="40957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200" b="1" i="0" strike="noStrike">
                <a:solidFill>
                  <a:srgbClr val="0A1F3D">
                    <a:alpha val="90196"/>
                  </a:srgbClr>
                </a:solidFill>
                <a:latin typeface="Source Han Sans"/>
                <a:ea typeface="Source Han Sans"/>
                <a:cs typeface="Source Han Sans"/>
              </a:rPr>
              <a:t>订单管理：</a:t>
            </a:r>
            <a:r>
              <a:rPr sz="1200" b="0" i="0" strike="noStrike">
                <a:solidFill>
                  <a:srgbClr val="0A1F3D">
                    <a:alpha val="90196"/>
                  </a:srgbClr>
                </a:solidFill>
                <a:latin typeface="Source Han Sans"/>
                <a:ea typeface="Source Han Sans"/>
                <a:cs typeface="Source Han Sans"/>
              </a:rPr>
              <a:t>查看全站订单，对已付款订单进行发货状态处理，监控</a:t>
            </a:r>
            <a:endParaRPr lang="en-US" sz="1100"/>
          </a:p>
          <a:p>
            <a:pPr algn="l"/>
            <a:r>
              <a:rPr sz="1200" b="0" i="0" strike="noStrike">
                <a:solidFill>
                  <a:srgbClr val="0A1F3D">
                    <a:alpha val="90196"/>
                  </a:srgbClr>
                </a:solidFill>
                <a:latin typeface="Source Han Sans"/>
                <a:ea typeface="Source Han Sans"/>
                <a:cs typeface="Source Han Sans"/>
              </a:rPr>
              <a:t>交易流转</a:t>
            </a:r>
            <a:endParaRPr sz="1200" b="0" i="0" strike="noStrike">
              <a:solidFill>
                <a:srgbClr val="0A1F3D">
                  <a:alpha val="90196"/>
                </a:srgbClr>
              </a:solidFill>
              <a:latin typeface="Source Han Sans"/>
              <a:ea typeface="Source Han Sans"/>
              <a:cs typeface="Source Han Sans"/>
            </a:endParaRPr>
          </a:p>
        </p:txBody>
      </p:sp>
      <p:sp>
        <p:nvSpPr>
          <p:cNvPr id="31" name="AutoShape 31"/>
          <p:cNvSpPr/>
          <p:nvPr/>
        </p:nvSpPr>
        <p:spPr>
          <a:xfrm>
            <a:off x="6539956" y="5195888"/>
            <a:ext cx="190452" cy="190500"/>
          </a:xfrm>
          <a:custGeom>
            <a:avLst/>
            <a:gdLst/>
            <a:ahLst/>
            <a:cxnLst/>
            <a:rect l="l" t="t" r="r" b="b"/>
            <a:pathLst>
              <a:path w="9998" h="10000">
                <a:moveTo>
                  <a:pt x="3078" y="10000"/>
                </a:moveTo>
                <a:lnTo>
                  <a:pt x="3078" y="7368"/>
                </a:lnTo>
                <a:cubicBezTo>
                  <a:pt x="3201" y="7389"/>
                  <a:pt x="3327" y="7410"/>
                  <a:pt x="3457" y="7432"/>
                </a:cubicBezTo>
                <a:cubicBezTo>
                  <a:pt x="3779" y="7494"/>
                  <a:pt x="4104" y="7568"/>
                  <a:pt x="4432" y="7653"/>
                </a:cubicBezTo>
                <a:cubicBezTo>
                  <a:pt x="4897" y="7772"/>
                  <a:pt x="5331" y="7905"/>
                  <a:pt x="5735" y="8053"/>
                </a:cubicBezTo>
                <a:cubicBezTo>
                  <a:pt x="6241" y="8235"/>
                  <a:pt x="6689" y="8435"/>
                  <a:pt x="7079" y="8653"/>
                </a:cubicBezTo>
                <a:cubicBezTo>
                  <a:pt x="7537" y="8905"/>
                  <a:pt x="7914" y="9179"/>
                  <a:pt x="8208" y="9474"/>
                </a:cubicBezTo>
                <a:lnTo>
                  <a:pt x="8721" y="9474"/>
                </a:lnTo>
                <a:cubicBezTo>
                  <a:pt x="8857" y="9474"/>
                  <a:pt x="8975" y="9423"/>
                  <a:pt x="9075" y="9321"/>
                </a:cubicBezTo>
                <a:cubicBezTo>
                  <a:pt x="9173" y="9219"/>
                  <a:pt x="9223" y="9094"/>
                  <a:pt x="9223" y="8947"/>
                </a:cubicBezTo>
                <a:lnTo>
                  <a:pt x="9223" y="5758"/>
                </a:lnTo>
                <a:cubicBezTo>
                  <a:pt x="9449" y="5694"/>
                  <a:pt x="9635" y="5570"/>
                  <a:pt x="9783" y="5384"/>
                </a:cubicBezTo>
                <a:cubicBezTo>
                  <a:pt x="9929" y="5198"/>
                  <a:pt x="10001" y="4982"/>
                  <a:pt x="9998" y="4737"/>
                </a:cubicBezTo>
                <a:cubicBezTo>
                  <a:pt x="9994" y="4491"/>
                  <a:pt x="9921" y="4275"/>
                  <a:pt x="9777" y="4089"/>
                </a:cubicBezTo>
                <a:cubicBezTo>
                  <a:pt x="9633" y="3903"/>
                  <a:pt x="9452" y="3779"/>
                  <a:pt x="9234" y="3716"/>
                </a:cubicBezTo>
                <a:lnTo>
                  <a:pt x="9234" y="526"/>
                </a:lnTo>
                <a:cubicBezTo>
                  <a:pt x="9234" y="378"/>
                  <a:pt x="9182" y="254"/>
                  <a:pt x="9080" y="153"/>
                </a:cubicBezTo>
                <a:cubicBezTo>
                  <a:pt x="8977" y="51"/>
                  <a:pt x="8854" y="0"/>
                  <a:pt x="8710" y="0"/>
                </a:cubicBezTo>
                <a:lnTo>
                  <a:pt x="8208" y="0"/>
                </a:lnTo>
                <a:cubicBezTo>
                  <a:pt x="7920" y="294"/>
                  <a:pt x="7544" y="568"/>
                  <a:pt x="7079" y="821"/>
                </a:cubicBezTo>
                <a:cubicBezTo>
                  <a:pt x="6689" y="1038"/>
                  <a:pt x="6241" y="1238"/>
                  <a:pt x="5735" y="1421"/>
                </a:cubicBezTo>
                <a:cubicBezTo>
                  <a:pt x="5331" y="1568"/>
                  <a:pt x="4897" y="1701"/>
                  <a:pt x="4432" y="1821"/>
                </a:cubicBezTo>
                <a:cubicBezTo>
                  <a:pt x="4104" y="1905"/>
                  <a:pt x="3779" y="1978"/>
                  <a:pt x="3457" y="2042"/>
                </a:cubicBezTo>
                <a:lnTo>
                  <a:pt x="3078" y="2105"/>
                </a:lnTo>
                <a:lnTo>
                  <a:pt x="1026" y="2105"/>
                </a:lnTo>
                <a:cubicBezTo>
                  <a:pt x="834" y="2105"/>
                  <a:pt x="660" y="2152"/>
                  <a:pt x="503" y="2247"/>
                </a:cubicBezTo>
                <a:cubicBezTo>
                  <a:pt x="345" y="2341"/>
                  <a:pt x="222" y="2470"/>
                  <a:pt x="133" y="2632"/>
                </a:cubicBezTo>
                <a:cubicBezTo>
                  <a:pt x="44" y="2793"/>
                  <a:pt x="0" y="2968"/>
                  <a:pt x="0" y="3158"/>
                </a:cubicBezTo>
                <a:lnTo>
                  <a:pt x="0" y="6316"/>
                </a:lnTo>
                <a:cubicBezTo>
                  <a:pt x="0" y="6505"/>
                  <a:pt x="44" y="6680"/>
                  <a:pt x="133" y="6842"/>
                </a:cubicBezTo>
                <a:cubicBezTo>
                  <a:pt x="222" y="7003"/>
                  <a:pt x="345" y="7131"/>
                  <a:pt x="503" y="7226"/>
                </a:cubicBezTo>
                <a:cubicBezTo>
                  <a:pt x="660" y="7320"/>
                  <a:pt x="831" y="7368"/>
                  <a:pt x="1016" y="7368"/>
                </a:cubicBezTo>
                <a:lnTo>
                  <a:pt x="1539" y="7368"/>
                </a:lnTo>
                <a:lnTo>
                  <a:pt x="2052" y="10000"/>
                </a:lnTo>
                <a:lnTo>
                  <a:pt x="3078" y="10000"/>
                </a:lnTo>
                <a:moveTo>
                  <a:pt x="4094" y="2979"/>
                </a:moveTo>
                <a:lnTo>
                  <a:pt x="4104" y="2979"/>
                </a:lnTo>
                <a:cubicBezTo>
                  <a:pt x="4528" y="2887"/>
                  <a:pt x="4941" y="2779"/>
                  <a:pt x="5345" y="2653"/>
                </a:cubicBezTo>
                <a:cubicBezTo>
                  <a:pt x="6521" y="2301"/>
                  <a:pt x="7472" y="1870"/>
                  <a:pt x="8197" y="1358"/>
                </a:cubicBezTo>
                <a:lnTo>
                  <a:pt x="8197" y="8116"/>
                </a:lnTo>
                <a:cubicBezTo>
                  <a:pt x="7472" y="7603"/>
                  <a:pt x="6521" y="7171"/>
                  <a:pt x="5345" y="6821"/>
                </a:cubicBezTo>
                <a:cubicBezTo>
                  <a:pt x="4941" y="6695"/>
                  <a:pt x="4524" y="6586"/>
                  <a:pt x="4094" y="6495"/>
                </a:cubicBezTo>
                <a:lnTo>
                  <a:pt x="4094" y="2979"/>
                </a:lnTo>
                <a:moveTo>
                  <a:pt x="1026" y="6316"/>
                </a:moveTo>
                <a:lnTo>
                  <a:pt x="1026" y="3158"/>
                </a:lnTo>
                <a:lnTo>
                  <a:pt x="3078" y="3158"/>
                </a:lnTo>
                <a:lnTo>
                  <a:pt x="3078" y="6316"/>
                </a:lnTo>
              </a:path>
            </a:pathLst>
          </a:custGeom>
          <a:solidFill>
            <a:srgbClr val="0A1F3D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32" name="TextBox 32"/>
          <p:cNvSpPr txBox="1"/>
          <p:nvPr/>
        </p:nvSpPr>
        <p:spPr>
          <a:xfrm>
            <a:off x="6823551" y="5176838"/>
            <a:ext cx="4517888" cy="40957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200" b="1" i="0" strike="noStrike">
                <a:solidFill>
                  <a:srgbClr val="0A1F3D">
                    <a:alpha val="90196"/>
                  </a:srgbClr>
                </a:solidFill>
                <a:latin typeface="Source Han Sans"/>
                <a:ea typeface="Source Han Sans"/>
                <a:cs typeface="Source Han Sans"/>
              </a:rPr>
              <a:t>公告管理：</a:t>
            </a:r>
            <a:r>
              <a:rPr sz="1200" b="0" i="0" strike="noStrike">
                <a:solidFill>
                  <a:srgbClr val="0A1F3D">
                    <a:alpha val="90196"/>
                  </a:srgbClr>
                </a:solidFill>
                <a:latin typeface="Source Han Sans"/>
                <a:ea typeface="Source Han Sans"/>
                <a:cs typeface="Source Han Sans"/>
              </a:rPr>
              <a:t>发布、编辑、删除平台公告，在首页向用户展示重要信</a:t>
            </a:r>
            <a:endParaRPr lang="en-US" sz="1100"/>
          </a:p>
          <a:p>
            <a:pPr algn="l"/>
            <a:r>
              <a:rPr sz="1200" b="0" i="0" strike="noStrike">
                <a:solidFill>
                  <a:srgbClr val="0A1F3D">
                    <a:alpha val="90196"/>
                  </a:srgbClr>
                </a:solidFill>
                <a:latin typeface="Source Han Sans"/>
                <a:ea typeface="Source Han Sans"/>
                <a:cs typeface="Source Han Sans"/>
              </a:rPr>
              <a:t>息和通知</a:t>
            </a:r>
            <a:endParaRPr sz="1200" b="0" i="0" strike="noStrike">
              <a:solidFill>
                <a:srgbClr val="0A1F3D">
                  <a:alpha val="90196"/>
                </a:srgbClr>
              </a:solidFill>
              <a:latin typeface="Source Han Sans"/>
              <a:ea typeface="Source Han Sans"/>
              <a:cs typeface="Source Han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333333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3" name="AutoShap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3F5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4" name="AutoShape 4"/>
          <p:cNvSpPr/>
          <p:nvPr/>
        </p:nvSpPr>
        <p:spPr>
          <a:xfrm>
            <a:off x="448977" y="485775"/>
            <a:ext cx="114271" cy="114300"/>
          </a:xfrm>
          <a:custGeom>
            <a:avLst/>
            <a:gdLst/>
            <a:ahLst/>
            <a:cxnLst/>
            <a:rect l="l" t="t" r="r" b="b"/>
            <a:pathLst>
              <a:path w="9998" h="10000">
                <a:moveTo>
                  <a:pt x="7640" y="1856"/>
                </a:moveTo>
                <a:lnTo>
                  <a:pt x="9998" y="5000"/>
                </a:lnTo>
                <a:lnTo>
                  <a:pt x="7640" y="8144"/>
                </a:lnTo>
                <a:lnTo>
                  <a:pt x="7049" y="7356"/>
                </a:lnTo>
                <a:lnTo>
                  <a:pt x="8823" y="5000"/>
                </a:lnTo>
                <a:lnTo>
                  <a:pt x="7049" y="2644"/>
                </a:lnTo>
                <a:lnTo>
                  <a:pt x="7640" y="1856"/>
                </a:lnTo>
                <a:moveTo>
                  <a:pt x="2949" y="2644"/>
                </a:moveTo>
                <a:lnTo>
                  <a:pt x="1175" y="5000"/>
                </a:lnTo>
                <a:lnTo>
                  <a:pt x="2949" y="7356"/>
                </a:lnTo>
                <a:lnTo>
                  <a:pt x="2358" y="8144"/>
                </a:lnTo>
                <a:lnTo>
                  <a:pt x="0" y="5000"/>
                </a:lnTo>
                <a:lnTo>
                  <a:pt x="2358" y="1856"/>
                </a:lnTo>
                <a:lnTo>
                  <a:pt x="2949" y="2644"/>
                </a:lnTo>
                <a:moveTo>
                  <a:pt x="6807" y="0"/>
                </a:moveTo>
                <a:lnTo>
                  <a:pt x="4074" y="10000"/>
                </a:lnTo>
                <a:lnTo>
                  <a:pt x="3191" y="10000"/>
                </a:lnTo>
                <a:lnTo>
                  <a:pt x="5924" y="0"/>
                </a:lnTo>
              </a:path>
            </a:pathLst>
          </a:custGeom>
          <a:solidFill>
            <a:srgbClr val="5B8CB8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5" name="TextBox 5"/>
          <p:cNvSpPr txBox="1"/>
          <p:nvPr/>
        </p:nvSpPr>
        <p:spPr>
          <a:xfrm>
            <a:off x="631320" y="476250"/>
            <a:ext cx="11100547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r>
              <a:rPr lang="en-US" sz="900" b="0" i="0" strike="noStrike">
                <a:solidFill>
                  <a:srgbClr val="0A1F3D">
                    <a:alpha val="60000"/>
                  </a:srgbClr>
                </a:solidFill>
                <a:latin typeface="Inter"/>
                <a:ea typeface="Inter"/>
                <a:cs typeface="Inter"/>
              </a:rPr>
              <a:t>System Architecture</a:t>
            </a:r>
            <a:endParaRPr lang="en-US" sz="1100"/>
          </a:p>
        </p:txBody>
      </p:sp>
      <p:sp>
        <p:nvSpPr>
          <p:cNvPr id="6" name="TextBox 6"/>
          <p:cNvSpPr txBox="1"/>
          <p:nvPr/>
        </p:nvSpPr>
        <p:spPr>
          <a:xfrm>
            <a:off x="457086" y="750541"/>
            <a:ext cx="11274781" cy="4381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3100" b="1" i="0" strike="noStrike">
                <a:solidFill>
                  <a:srgbClr val="0A1F3D">
                    <a:alpha val="100000"/>
                  </a:srgbClr>
                </a:solidFill>
                <a:latin typeface="Source Han Serif CN"/>
                <a:ea typeface="Source Han Serif CN"/>
                <a:cs typeface="Source Han Serif CN"/>
              </a:rPr>
              <a:t>技术栈与开发环境</a:t>
            </a:r>
            <a:endParaRPr lang="en-US" sz="1100"/>
          </a:p>
        </p:txBody>
      </p:sp>
      <p:sp>
        <p:nvSpPr>
          <p:cNvPr id="7" name="TextBox 7"/>
          <p:cNvSpPr txBox="1"/>
          <p:nvPr/>
        </p:nvSpPr>
        <p:spPr>
          <a:xfrm>
            <a:off x="457086" y="1478161"/>
            <a:ext cx="11274781" cy="464791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300" b="0" i="0" strike="noStrike">
                <a:solidFill>
                  <a:srgbClr val="0A1F3D">
                    <a:alpha val="85098"/>
                  </a:srgbClr>
                </a:solidFill>
                <a:latin typeface="Source Han Sans"/>
                <a:ea typeface="Source Han Sans"/>
                <a:cs typeface="Source Han Sans"/>
              </a:rPr>
              <a:t>项目采用前后端分离的 B/S 架构，前端基于 Vue 3 生态构建单页面应用，后端使用 Spring Boot 3.5.14 提供 RESTful API，数据库选用</a:t>
            </a:r>
            <a:endParaRPr lang="en-US" sz="1100"/>
          </a:p>
          <a:p>
            <a:pPr algn="l"/>
            <a:r>
              <a:rPr sz="1300" b="0" i="0" strike="noStrike">
                <a:solidFill>
                  <a:srgbClr val="0A1F3D">
                    <a:alpha val="85098"/>
                  </a:srgbClr>
                </a:solidFill>
                <a:latin typeface="Source Han Sans"/>
                <a:ea typeface="Source Han Sans"/>
                <a:cs typeface="Source Han Sans"/>
              </a:rPr>
              <a:t>MySQL 8.0.45。技术选型兼顾成熟度、学习成本和社区支持，确保项目可维护性和扩展性。</a:t>
            </a:r>
            <a:endParaRPr sz="1300" b="0" i="0" strike="noStrike">
              <a:solidFill>
                <a:srgbClr val="0A1F3D">
                  <a:alpha val="85098"/>
                </a:srgbClr>
              </a:solidFill>
              <a:latin typeface="Source Han Sans"/>
              <a:ea typeface="Source Han Sans"/>
              <a:cs typeface="Source Han Sans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457086" y="2293441"/>
            <a:ext cx="11274781" cy="3514725"/>
          </a:xfrm>
          <a:prstGeom prst="rect">
            <a:avLst/>
          </a:prstGeom>
          <a:blipFill rotWithShape="1">
            <a:blip r:embed="rId1">
              <a:alphaModFix amt="100000"/>
              <a:alphaModFix amt="100000"/>
            </a:blip>
            <a:stretch>
              <a:fillRect/>
            </a:stretch>
          </a:blipFill>
          <a:ln>
            <a:headEnd type="none"/>
            <a:tailEnd type="none"/>
          </a:ln>
        </p:spPr>
      </p:sp>
      <p:sp>
        <p:nvSpPr>
          <p:cNvPr id="9" name="AutoShape 9"/>
          <p:cNvSpPr/>
          <p:nvPr/>
        </p:nvSpPr>
        <p:spPr>
          <a:xfrm>
            <a:off x="466608" y="2893516"/>
            <a:ext cx="11255736" cy="9525"/>
          </a:xfrm>
          <a:prstGeom prst="line">
            <a:avLst/>
          </a:prstGeom>
          <a:ln w="9525">
            <a:solidFill>
              <a:srgbClr val="D1D9E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0" name="TextBox 10"/>
          <p:cNvSpPr txBox="1"/>
          <p:nvPr/>
        </p:nvSpPr>
        <p:spPr>
          <a:xfrm>
            <a:off x="695151" y="2512516"/>
            <a:ext cx="904649" cy="1905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300" b="1" i="0" strike="noStrike">
                <a:solidFill>
                  <a:srgbClr val="0A1F3D">
                    <a:alpha val="100000"/>
                  </a:srgbClr>
                </a:solidFill>
                <a:latin typeface="Source Han Serif CN"/>
                <a:ea typeface="Source Han Serif CN"/>
                <a:cs typeface="Source Han Serif CN"/>
              </a:rPr>
              <a:t>技术栈明细</a:t>
            </a:r>
            <a:endParaRPr lang="en-US" sz="1100"/>
          </a:p>
        </p:txBody>
      </p:sp>
      <p:sp>
        <p:nvSpPr>
          <p:cNvPr id="11" name="TextBox 11"/>
          <p:cNvSpPr txBox="1"/>
          <p:nvPr/>
        </p:nvSpPr>
        <p:spPr>
          <a:xfrm>
            <a:off x="10782282" y="2545853"/>
            <a:ext cx="740086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solidFill>
                  <a:srgbClr val="0A1F3D">
                    <a:alpha val="50196"/>
                  </a:srgbClr>
                </a:solidFill>
                <a:latin typeface="Inter"/>
                <a:ea typeface="Inter"/>
                <a:cs typeface="Inter"/>
              </a:rPr>
              <a:t>Total 5 Layers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57086" y="6082754"/>
            <a:ext cx="11274781" cy="9525"/>
          </a:xfrm>
          <a:prstGeom prst="line">
            <a:avLst/>
          </a:prstGeom>
          <a:ln w="9525">
            <a:solidFill>
              <a:srgbClr val="D1D9E6">
                <a:alpha val="50196"/>
              </a:srgbClr>
            </a:solidFill>
            <a:prstDash val="solid"/>
            <a:headEnd type="none"/>
            <a:tailEnd type="none"/>
          </a:ln>
        </p:spPr>
      </p:sp>
      <p:sp>
        <p:nvSpPr>
          <p:cNvPr id="13" name="TextBox 13"/>
          <p:cNvSpPr txBox="1"/>
          <p:nvPr/>
        </p:nvSpPr>
        <p:spPr>
          <a:xfrm>
            <a:off x="457086" y="6248400"/>
            <a:ext cx="714346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solidFill>
                  <a:srgbClr val="0A1F3D">
                    <a:alpha val="100000"/>
                  </a:srgbClr>
                </a:solidFill>
                <a:latin typeface="Inter"/>
                <a:ea typeface="Inter"/>
                <a:cs typeface="Inter"/>
              </a:rPr>
              <a:t>技术架构 · 05</a:t>
            </a:r>
            <a:endParaRPr lang="en-US" sz="1100"/>
          </a:p>
        </p:txBody>
      </p:sp>
      <p:sp>
        <p:nvSpPr>
          <p:cNvPr id="14" name="TextBox 14"/>
          <p:cNvSpPr txBox="1"/>
          <p:nvPr/>
        </p:nvSpPr>
        <p:spPr>
          <a:xfrm>
            <a:off x="9801899" y="6248400"/>
            <a:ext cx="1958534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solidFill>
                  <a:srgbClr val="0A1F3D">
                    <a:alpha val="100000"/>
                  </a:srgbClr>
                </a:solidFill>
                <a:latin typeface="Inter"/>
                <a:ea typeface="Inter"/>
                <a:cs typeface="Inter"/>
              </a:rPr>
              <a:t>校园二手图书交易平台 - 项目结项答辩</a:t>
            </a:r>
            <a:endParaRPr lang="en-US" sz="1100"/>
          </a:p>
        </p:txBody>
      </p:sp>
      <p:graphicFrame>
        <p:nvGraphicFramePr>
          <p:cNvPr id="15" name="Table 15"/>
          <p:cNvGraphicFramePr>
            <a:graphicFrameLocks noGrp="1"/>
          </p:cNvGraphicFramePr>
          <p:nvPr/>
        </p:nvGraphicFramePr>
        <p:xfrm>
          <a:off x="466608" y="2903041"/>
          <a:ext cx="11255736" cy="3100090"/>
        </p:xfrm>
        <a:graphic>
          <a:graphicData uri="http://schemas.openxmlformats.org/drawingml/2006/table">
            <a:tbl>
              <a:tblPr/>
              <a:tblGrid>
                <a:gridCol w="2247900"/>
                <a:gridCol w="9004300"/>
              </a:tblGrid>
              <a:tr h="495300">
                <a:tc>
                  <a:txBody>
                    <a:bodyPr rot="0" wrap="square"/>
                    <a:p>
                      <a:pPr algn="l">
                        <a:defRPr sz="1000" b="1" i="0" strike="noStrike">
                          <a:solidFill>
                            <a:srgbClr val="0A1F3D">
                              <a:alpha val="100000"/>
                            </a:srgbClr>
                          </a:solidFill>
                          <a:latin typeface="Inter, sans-serif"/>
                          <a:ea typeface="Inter, sans-serif"/>
                          <a:cs typeface="Inter, sans-serif"/>
                        </a:defRPr>
                      </a:pPr>
                      <a:r>
                        <a:rPr sz="1000" b="1" i="0" strike="noStrike">
                          <a:solidFill>
                            <a:srgbClr val="0A1F3D">
                              <a:alpha val="100000"/>
                            </a:srgbClr>
                          </a:solidFill>
                          <a:latin typeface="Inter, sans-serif"/>
                          <a:ea typeface="Inter, sans-serif"/>
                          <a:cs typeface="Inter, sans-serif"/>
                        </a:rPr>
                        <a:t>层级</a:t>
                      </a:r>
                      <a:endParaRPr sz="1000" b="1" i="0" strike="noStrike">
                        <a:solidFill>
                          <a:srgbClr val="0A1F3D">
                            <a:alpha val="100000"/>
                          </a:srgbClr>
                        </a:solidFill>
                        <a:latin typeface="Inter, sans-serif"/>
                        <a:ea typeface="Inter, sans-serif"/>
                        <a:cs typeface="Inter, sans-serif"/>
                      </a:endParaRPr>
                    </a:p>
                  </a:txBody>
                  <a:tcPr marL="190500" marR="190500" marT="152400" marB="152400" vert="horz" anchor="ctr" anchorCtr="0">
                    <a:lnL w="25400">
                      <a:solidFill>
                        <a:srgbClr val="5B8CB8">
                          <a:alpha val="100000"/>
                        </a:srgbClr>
                      </a:solidFill>
                    </a:lnL>
                    <a:lnR w="25400">
                      <a:solidFill>
                        <a:srgbClr val="5B8CB8">
                          <a:alpha val="100000"/>
                        </a:srgbClr>
                      </a:solidFill>
                    </a:lnR>
                    <a:lnT w="25400">
                      <a:solidFill>
                        <a:srgbClr val="5B8CB8">
                          <a:alpha val="100000"/>
                        </a:srgbClr>
                      </a:solidFill>
                    </a:lnT>
                    <a:lnB w="25400">
                      <a:solidFill>
                        <a:srgbClr val="5B8CB8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rot="0" wrap="square"/>
                    <a:p>
                      <a:pPr algn="l">
                        <a:defRPr sz="1000" b="1" i="0" strike="noStrike">
                          <a:solidFill>
                            <a:srgbClr val="0A1F3D">
                              <a:alpha val="100000"/>
                            </a:srgbClr>
                          </a:solidFill>
                          <a:latin typeface="Inter, sans-serif"/>
                          <a:ea typeface="Inter, sans-serif"/>
                          <a:cs typeface="Inter, sans-serif"/>
                        </a:defRPr>
                      </a:pPr>
                      <a:r>
                        <a:rPr sz="1000" b="1" i="0" strike="noStrike">
                          <a:solidFill>
                            <a:srgbClr val="0A1F3D">
                              <a:alpha val="100000"/>
                            </a:srgbClr>
                          </a:solidFill>
                          <a:latin typeface="Inter, sans-serif"/>
                          <a:ea typeface="Inter, sans-serif"/>
                          <a:cs typeface="Inter, sans-serif"/>
                        </a:rPr>
                        <a:t>技术选型</a:t>
                      </a:r>
                      <a:endParaRPr sz="1000" b="1" i="0" strike="noStrike">
                        <a:solidFill>
                          <a:srgbClr val="0A1F3D">
                            <a:alpha val="100000"/>
                          </a:srgbClr>
                        </a:solidFill>
                        <a:latin typeface="Inter, sans-serif"/>
                        <a:ea typeface="Inter, sans-serif"/>
                        <a:cs typeface="Inter, sans-serif"/>
                      </a:endParaRPr>
                    </a:p>
                  </a:txBody>
                  <a:tcPr marL="190500" marR="190500" marT="152400" marB="152400" vert="horz" anchor="ctr" anchorCtr="0">
                    <a:lnL w="25400">
                      <a:solidFill>
                        <a:srgbClr val="5B8CB8">
                          <a:alpha val="100000"/>
                        </a:srgbClr>
                      </a:solidFill>
                    </a:lnL>
                    <a:lnR w="25400">
                      <a:solidFill>
                        <a:srgbClr val="5B8CB8">
                          <a:alpha val="100000"/>
                        </a:srgbClr>
                      </a:solidFill>
                    </a:lnR>
                    <a:lnT w="25400">
                      <a:solidFill>
                        <a:srgbClr val="5B8CB8">
                          <a:alpha val="100000"/>
                        </a:srgbClr>
                      </a:solidFill>
                    </a:lnT>
                    <a:lnB w="25400">
                      <a:solidFill>
                        <a:srgbClr val="5B8CB8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520700">
                <a:tc>
                  <a:txBody>
                    <a:bodyPr rot="0" wrap="square"/>
                    <a:p>
                      <a:pPr algn="l">
                        <a:defRPr sz="1200" b="1" i="0" strike="noStrike"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Source Han Serif CN&quot;, serif"/>
                          <a:ea typeface="&quot;Source Han Serif CN&quot;, serif"/>
                          <a:cs typeface="&quot;Source Han Serif CN&quot;, serif"/>
                        </a:defRPr>
                      </a:pPr>
                      <a:r>
                        <a:rPr sz="1200" b="1" i="0" strike="noStrike"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Source Han Serif CN&quot;, serif"/>
                          <a:ea typeface="&quot;Source Han Serif CN&quot;, serif"/>
                          <a:cs typeface="&quot;Source Han Serif CN&quot;, serif"/>
                        </a:rPr>
                        <a:t>前端框架</a:t>
                      </a:r>
                      <a:endParaRPr sz="1200" b="1" i="0" strike="noStrike">
                        <a:solidFill>
                          <a:srgbClr val="0A1F3D">
                            <a:alpha val="100000"/>
                          </a:srgbClr>
                        </a:solidFill>
                        <a:latin typeface="&quot;Source Han Serif CN&quot;, serif"/>
                        <a:ea typeface="&quot;Source Han Serif CN&quot;, serif"/>
                        <a:cs typeface="&quot;Source Han Serif CN&quot;, serif"/>
                      </a:endParaRPr>
                    </a:p>
                  </a:txBody>
                  <a:tcPr marL="190500" marR="190500" marT="133350" marB="133350" vert="horz" anchor="t" anchorCtr="0">
                    <a:lnL w="25400">
                      <a:solidFill>
                        <a:srgbClr val="5B8CB8">
                          <a:alpha val="100000"/>
                        </a:srgbClr>
                      </a:solidFill>
                    </a:lnL>
                    <a:lnR w="25400">
                      <a:solidFill>
                        <a:srgbClr val="5B8CB8">
                          <a:alpha val="100000"/>
                        </a:srgbClr>
                      </a:solidFill>
                    </a:lnR>
                    <a:lnT w="25400">
                      <a:solidFill>
                        <a:srgbClr val="5B8CB8">
                          <a:alpha val="100000"/>
                        </a:srgbClr>
                      </a:solidFill>
                    </a:lnT>
                    <a:lnB w="25400">
                      <a:solidFill>
                        <a:srgbClr val="5B8CB8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 rot="0" wrap="square"/>
                    <a:p>
                      <a:pPr algn="l">
                        <a:defRPr sz="1200" b="0" i="0" strike="noStrike"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Source Han Sans&quot;, AlibabaPuHuiTi, sans-serif"/>
                          <a:ea typeface="&quot;Source Han Sans&quot;, AlibabaPuHuiTi, sans-serif"/>
                          <a:cs typeface="&quot;Source Han Sans&quot;, AlibabaPuHuiTi, sans-serif"/>
                        </a:defRPr>
                      </a:pPr>
                      <a:r>
                        <a:rPr sz="1200" b="0" i="0" strike="noStrike"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Source Han Sans&quot;, AlibabaPuHuiTi, sans-serif"/>
                          <a:ea typeface="&quot;Source Han Sans&quot;, AlibabaPuHuiTi, sans-serif"/>
                          <a:cs typeface="&quot;Source Han Sans&quot;, AlibabaPuHuiTi, sans-serif"/>
                        </a:rPr>
                        <a:t>Vue 3 + Vue Router + Pinia + Axios + Element Plus + Vite</a:t>
                      </a:r>
                      <a:endParaRPr sz="1200" b="0" i="0" strike="noStrike">
                        <a:solidFill>
                          <a:srgbClr val="0A1F3D">
                            <a:alpha val="100000"/>
                          </a:srgbClr>
                        </a:solidFill>
                        <a:latin typeface="&quot;Source Han Sans&quot;, AlibabaPuHuiTi, sans-serif"/>
                        <a:ea typeface="&quot;Source Han Sans&quot;, AlibabaPuHuiTi, sans-serif"/>
                        <a:cs typeface="&quot;Source Han Sans&quot;, AlibabaPuHuiTi, sans-serif"/>
                      </a:endParaRPr>
                    </a:p>
                  </a:txBody>
                  <a:tcPr marL="190500" marR="190500" marT="133350" marB="133350" vert="horz" anchor="t" anchorCtr="0">
                    <a:lnL w="25400">
                      <a:solidFill>
                        <a:srgbClr val="5B8CB8">
                          <a:alpha val="100000"/>
                        </a:srgbClr>
                      </a:solidFill>
                    </a:lnL>
                    <a:lnR w="25400">
                      <a:solidFill>
                        <a:srgbClr val="5B8CB8">
                          <a:alpha val="100000"/>
                        </a:srgbClr>
                      </a:solidFill>
                    </a:lnR>
                    <a:lnT w="25400">
                      <a:solidFill>
                        <a:srgbClr val="5B8CB8">
                          <a:alpha val="100000"/>
                        </a:srgbClr>
                      </a:solidFill>
                    </a:lnT>
                    <a:lnB w="25400">
                      <a:solidFill>
                        <a:srgbClr val="5B8CB8">
                          <a:alpha val="100000"/>
                        </a:srgbClr>
                      </a:solidFill>
                    </a:lnB>
                  </a:tcPr>
                </a:tc>
              </a:tr>
              <a:tr h="508000">
                <a:tc>
                  <a:txBody>
                    <a:bodyPr rot="0" wrap="square"/>
                    <a:p>
                      <a:pPr algn="l">
                        <a:defRPr sz="1200" b="1" i="0" strike="noStrike"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Source Han Serif CN&quot;, serif"/>
                          <a:ea typeface="&quot;Source Han Serif CN&quot;, serif"/>
                          <a:cs typeface="&quot;Source Han Serif CN&quot;, serif"/>
                        </a:defRPr>
                      </a:pPr>
                      <a:r>
                        <a:rPr sz="1200" b="1" i="0" strike="noStrike"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Source Han Serif CN&quot;, serif"/>
                          <a:ea typeface="&quot;Source Han Serif CN&quot;, serif"/>
                          <a:cs typeface="&quot;Source Han Serif CN&quot;, serif"/>
                        </a:rPr>
                        <a:t>后端框架</a:t>
                      </a:r>
                      <a:endParaRPr sz="1200" b="1" i="0" strike="noStrike">
                        <a:solidFill>
                          <a:srgbClr val="0A1F3D">
                            <a:alpha val="100000"/>
                          </a:srgbClr>
                        </a:solidFill>
                        <a:latin typeface="&quot;Source Han Serif CN&quot;, serif"/>
                        <a:ea typeface="&quot;Source Han Serif CN&quot;, serif"/>
                        <a:cs typeface="&quot;Source Han Serif CN&quot;, serif"/>
                      </a:endParaRPr>
                    </a:p>
                  </a:txBody>
                  <a:tcPr marL="190500" marR="190500" marT="133350" marB="133350" vert="horz" anchor="t" anchorCtr="0">
                    <a:lnL w="25400">
                      <a:solidFill>
                        <a:srgbClr val="5B8CB8">
                          <a:alpha val="100000"/>
                        </a:srgbClr>
                      </a:solidFill>
                    </a:lnL>
                    <a:lnR w="25400">
                      <a:solidFill>
                        <a:srgbClr val="5B8CB8">
                          <a:alpha val="100000"/>
                        </a:srgbClr>
                      </a:solidFill>
                    </a:lnR>
                    <a:lnT w="25400">
                      <a:solidFill>
                        <a:srgbClr val="5B8CB8">
                          <a:alpha val="100000"/>
                        </a:srgbClr>
                      </a:solidFill>
                    </a:lnT>
                    <a:lnB w="25400">
                      <a:solidFill>
                        <a:srgbClr val="5B8CB8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 rot="0" wrap="square"/>
                    <a:p>
                      <a:pPr algn="l">
                        <a:defRPr sz="1200" b="0" i="0" strike="noStrike"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Source Han Sans&quot;, AlibabaPuHuiTi, sans-serif"/>
                          <a:ea typeface="&quot;Source Han Sans&quot;, AlibabaPuHuiTi, sans-serif"/>
                          <a:cs typeface="&quot;Source Han Sans&quot;, AlibabaPuHuiTi, sans-serif"/>
                        </a:defRPr>
                      </a:pPr>
                      <a:r>
                        <a:rPr sz="1200" b="0" i="0" strike="noStrike"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Source Han Sans&quot;, AlibabaPuHuiTi, sans-serif"/>
                          <a:ea typeface="&quot;Source Han Sans&quot;, AlibabaPuHuiTi, sans-serif"/>
                          <a:cs typeface="&quot;Source Han Sans&quot;, AlibabaPuHuiTi, sans-serif"/>
                        </a:rPr>
                        <a:t>Spring Boot 3.5.14 + Spring Web + MyBatis + JWT + Spring Security Crypto</a:t>
                      </a:r>
                      <a:endParaRPr sz="1200" b="0" i="0" strike="noStrike">
                        <a:solidFill>
                          <a:srgbClr val="0A1F3D">
                            <a:alpha val="100000"/>
                          </a:srgbClr>
                        </a:solidFill>
                        <a:latin typeface="&quot;Source Han Sans&quot;, AlibabaPuHuiTi, sans-serif"/>
                        <a:ea typeface="&quot;Source Han Sans&quot;, AlibabaPuHuiTi, sans-serif"/>
                        <a:cs typeface="&quot;Source Han Sans&quot;, AlibabaPuHuiTi, sans-serif"/>
                      </a:endParaRPr>
                    </a:p>
                  </a:txBody>
                  <a:tcPr marL="190500" marR="190500" marT="133350" marB="133350" vert="horz" anchor="t" anchorCtr="0">
                    <a:lnL w="25400">
                      <a:solidFill>
                        <a:srgbClr val="5B8CB8">
                          <a:alpha val="100000"/>
                        </a:srgbClr>
                      </a:solidFill>
                    </a:lnL>
                    <a:lnR w="25400">
                      <a:solidFill>
                        <a:srgbClr val="5B8CB8">
                          <a:alpha val="100000"/>
                        </a:srgbClr>
                      </a:solidFill>
                    </a:lnR>
                    <a:lnT w="25400">
                      <a:solidFill>
                        <a:srgbClr val="5B8CB8">
                          <a:alpha val="100000"/>
                        </a:srgbClr>
                      </a:solidFill>
                    </a:lnT>
                    <a:lnB w="25400">
                      <a:solidFill>
                        <a:srgbClr val="5B8CB8">
                          <a:alpha val="100000"/>
                        </a:srgbClr>
                      </a:solidFill>
                    </a:lnB>
                  </a:tcPr>
                </a:tc>
              </a:tr>
              <a:tr h="508000">
                <a:tc>
                  <a:txBody>
                    <a:bodyPr rot="0" wrap="square"/>
                    <a:p>
                      <a:pPr algn="l">
                        <a:defRPr sz="1200" b="1" i="0" strike="noStrike"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Source Han Serif CN&quot;, serif"/>
                          <a:ea typeface="&quot;Source Han Serif CN&quot;, serif"/>
                          <a:cs typeface="&quot;Source Han Serif CN&quot;, serif"/>
                        </a:defRPr>
                      </a:pPr>
                      <a:r>
                        <a:rPr sz="1200" b="1" i="0" strike="noStrike"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Source Han Serif CN&quot;, serif"/>
                          <a:ea typeface="&quot;Source Han Serif CN&quot;, serif"/>
                          <a:cs typeface="&quot;Source Han Serif CN&quot;, serif"/>
                        </a:rPr>
                        <a:t>数据库</a:t>
                      </a:r>
                      <a:endParaRPr sz="1200" b="1" i="0" strike="noStrike">
                        <a:solidFill>
                          <a:srgbClr val="0A1F3D">
                            <a:alpha val="100000"/>
                          </a:srgbClr>
                        </a:solidFill>
                        <a:latin typeface="&quot;Source Han Serif CN&quot;, serif"/>
                        <a:ea typeface="&quot;Source Han Serif CN&quot;, serif"/>
                        <a:cs typeface="&quot;Source Han Serif CN&quot;, serif"/>
                      </a:endParaRPr>
                    </a:p>
                  </a:txBody>
                  <a:tcPr marL="190500" marR="190500" marT="133350" marB="133350" vert="horz" anchor="t" anchorCtr="0">
                    <a:lnL w="25400">
                      <a:solidFill>
                        <a:srgbClr val="5B8CB8">
                          <a:alpha val="100000"/>
                        </a:srgbClr>
                      </a:solidFill>
                    </a:lnL>
                    <a:lnR w="25400">
                      <a:solidFill>
                        <a:srgbClr val="5B8CB8">
                          <a:alpha val="100000"/>
                        </a:srgbClr>
                      </a:solidFill>
                    </a:lnR>
                    <a:lnT w="25400">
                      <a:solidFill>
                        <a:srgbClr val="5B8CB8">
                          <a:alpha val="100000"/>
                        </a:srgbClr>
                      </a:solidFill>
                    </a:lnT>
                    <a:lnB w="25400">
                      <a:solidFill>
                        <a:srgbClr val="5B8CB8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 rot="0" wrap="square"/>
                    <a:p>
                      <a:pPr algn="l">
                        <a:defRPr sz="1200" b="0" i="0" strike="noStrike"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Source Han Sans&quot;, AlibabaPuHuiTi, sans-serif"/>
                          <a:ea typeface="&quot;Source Han Sans&quot;, AlibabaPuHuiTi, sans-serif"/>
                          <a:cs typeface="&quot;Source Han Sans&quot;, AlibabaPuHuiTi, sans-serif"/>
                        </a:defRPr>
                      </a:pPr>
                      <a:r>
                        <a:rPr sz="1200" b="0" i="0" strike="noStrike"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Source Han Sans&quot;, AlibabaPuHuiTi, sans-serif"/>
                          <a:ea typeface="&quot;Source Han Sans&quot;, AlibabaPuHuiTi, sans-serif"/>
                          <a:cs typeface="&quot;Source Han Sans&quot;, AlibabaPuHuiTi, sans-serif"/>
                        </a:rPr>
                        <a:t>MySQL 8.0.45（Navicat / MySQL 命令行管理）</a:t>
                      </a:r>
                      <a:endParaRPr sz="1200" b="0" i="0" strike="noStrike">
                        <a:solidFill>
                          <a:srgbClr val="0A1F3D">
                            <a:alpha val="100000"/>
                          </a:srgbClr>
                        </a:solidFill>
                        <a:latin typeface="&quot;Source Han Sans&quot;, AlibabaPuHuiTi, sans-serif"/>
                        <a:ea typeface="&quot;Source Han Sans&quot;, AlibabaPuHuiTi, sans-serif"/>
                        <a:cs typeface="&quot;Source Han Sans&quot;, AlibabaPuHuiTi, sans-serif"/>
                      </a:endParaRPr>
                    </a:p>
                  </a:txBody>
                  <a:tcPr marL="190500" marR="190500" marT="133350" marB="133350" vert="horz" anchor="t" anchorCtr="0">
                    <a:lnL w="25400">
                      <a:solidFill>
                        <a:srgbClr val="5B8CB8">
                          <a:alpha val="100000"/>
                        </a:srgbClr>
                      </a:solidFill>
                    </a:lnL>
                    <a:lnR w="25400">
                      <a:solidFill>
                        <a:srgbClr val="5B8CB8">
                          <a:alpha val="100000"/>
                        </a:srgbClr>
                      </a:solidFill>
                    </a:lnR>
                    <a:lnT w="25400">
                      <a:solidFill>
                        <a:srgbClr val="5B8CB8">
                          <a:alpha val="100000"/>
                        </a:srgbClr>
                      </a:solidFill>
                    </a:lnT>
                    <a:lnB w="25400">
                      <a:solidFill>
                        <a:srgbClr val="5B8CB8">
                          <a:alpha val="100000"/>
                        </a:srgbClr>
                      </a:solidFill>
                    </a:lnB>
                  </a:tcPr>
                </a:tc>
              </a:tr>
              <a:tr h="508000">
                <a:tc>
                  <a:txBody>
                    <a:bodyPr rot="0" wrap="square"/>
                    <a:p>
                      <a:pPr algn="l">
                        <a:defRPr sz="1200" b="1" i="0" strike="noStrike"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Source Han Serif CN&quot;, serif"/>
                          <a:ea typeface="&quot;Source Han Serif CN&quot;, serif"/>
                          <a:cs typeface="&quot;Source Han Serif CN&quot;, serif"/>
                        </a:defRPr>
                      </a:pPr>
                      <a:r>
                        <a:rPr sz="1200" b="1" i="0" strike="noStrike"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Source Han Serif CN&quot;, serif"/>
                          <a:ea typeface="&quot;Source Han Serif CN&quot;, serif"/>
                          <a:cs typeface="&quot;Source Han Serif CN&quot;, serif"/>
                        </a:rPr>
                        <a:t>开发工具</a:t>
                      </a:r>
                      <a:endParaRPr sz="1200" b="1" i="0" strike="noStrike">
                        <a:solidFill>
                          <a:srgbClr val="0A1F3D">
                            <a:alpha val="100000"/>
                          </a:srgbClr>
                        </a:solidFill>
                        <a:latin typeface="&quot;Source Han Serif CN&quot;, serif"/>
                        <a:ea typeface="&quot;Source Han Serif CN&quot;, serif"/>
                        <a:cs typeface="&quot;Source Han Serif CN&quot;, serif"/>
                      </a:endParaRPr>
                    </a:p>
                  </a:txBody>
                  <a:tcPr marL="190500" marR="190500" marT="133350" marB="133350" vert="horz" anchor="t" anchorCtr="0">
                    <a:lnL w="25400">
                      <a:solidFill>
                        <a:srgbClr val="5B8CB8">
                          <a:alpha val="100000"/>
                        </a:srgbClr>
                      </a:solidFill>
                    </a:lnL>
                    <a:lnR w="25400">
                      <a:solidFill>
                        <a:srgbClr val="5B8CB8">
                          <a:alpha val="100000"/>
                        </a:srgbClr>
                      </a:solidFill>
                    </a:lnR>
                    <a:lnT w="25400">
                      <a:solidFill>
                        <a:srgbClr val="5B8CB8">
                          <a:alpha val="100000"/>
                        </a:srgbClr>
                      </a:solidFill>
                    </a:lnT>
                    <a:lnB w="25400">
                      <a:solidFill>
                        <a:srgbClr val="5B8CB8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 rot="0" wrap="square"/>
                    <a:p>
                      <a:pPr algn="l">
                        <a:defRPr sz="1200" b="0" i="0" strike="noStrike"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Source Han Sans&quot;, AlibabaPuHuiTi, sans-serif"/>
                          <a:ea typeface="&quot;Source Han Sans&quot;, AlibabaPuHuiTi, sans-serif"/>
                          <a:cs typeface="&quot;Source Han Sans&quot;, AlibabaPuHuiTi, sans-serif"/>
                        </a:defRPr>
                      </a:pPr>
                      <a:r>
                        <a:rPr sz="1200" b="0" i="0" strike="noStrike"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Source Han Sans&quot;, AlibabaPuHuiTi, sans-serif"/>
                          <a:ea typeface="&quot;Source Han Sans&quot;, AlibabaPuHuiTi, sans-serif"/>
                          <a:cs typeface="&quot;Source Han Sans&quot;, AlibabaPuHuiTi, sans-serif"/>
                        </a:rPr>
                        <a:t>VS Code / IntelliJ IDEA / Git / Maven / JDK 21 / Node.js</a:t>
                      </a:r>
                      <a:endParaRPr sz="1200" b="0" i="0" strike="noStrike">
                        <a:solidFill>
                          <a:srgbClr val="0A1F3D">
                            <a:alpha val="100000"/>
                          </a:srgbClr>
                        </a:solidFill>
                        <a:latin typeface="&quot;Source Han Sans&quot;, AlibabaPuHuiTi, sans-serif"/>
                        <a:ea typeface="&quot;Source Han Sans&quot;, AlibabaPuHuiTi, sans-serif"/>
                        <a:cs typeface="&quot;Source Han Sans&quot;, AlibabaPuHuiTi, sans-serif"/>
                      </a:endParaRPr>
                    </a:p>
                  </a:txBody>
                  <a:tcPr marL="190500" marR="190500" marT="133350" marB="133350" vert="horz" anchor="t" anchorCtr="0">
                    <a:lnL w="25400">
                      <a:solidFill>
                        <a:srgbClr val="5B8CB8">
                          <a:alpha val="100000"/>
                        </a:srgbClr>
                      </a:solidFill>
                    </a:lnL>
                    <a:lnR w="25400">
                      <a:solidFill>
                        <a:srgbClr val="5B8CB8">
                          <a:alpha val="100000"/>
                        </a:srgbClr>
                      </a:solidFill>
                    </a:lnR>
                    <a:lnT w="25400">
                      <a:solidFill>
                        <a:srgbClr val="5B8CB8">
                          <a:alpha val="100000"/>
                        </a:srgbClr>
                      </a:solidFill>
                    </a:lnT>
                    <a:lnB w="25400">
                      <a:solidFill>
                        <a:srgbClr val="5B8CB8">
                          <a:alpha val="100000"/>
                        </a:srgbClr>
                      </a:solidFill>
                    </a:lnB>
                  </a:tcPr>
                </a:tc>
              </a:tr>
              <a:tr h="508000">
                <a:tc>
                  <a:txBody>
                    <a:bodyPr rot="0" wrap="square"/>
                    <a:p>
                      <a:pPr algn="l">
                        <a:defRPr sz="1200" b="1" i="0" strike="noStrike"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Source Han Serif CN&quot;, serif"/>
                          <a:ea typeface="&quot;Source Han Serif CN&quot;, serif"/>
                          <a:cs typeface="&quot;Source Han Serif CN&quot;, serif"/>
                        </a:defRPr>
                      </a:pPr>
                      <a:r>
                        <a:rPr sz="1200" b="1" i="0" strike="noStrike"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Source Han Serif CN&quot;, serif"/>
                          <a:ea typeface="&quot;Source Han Serif CN&quot;, serif"/>
                          <a:cs typeface="&quot;Source Han Serif CN&quot;, serif"/>
                        </a:rPr>
                        <a:t>架构模式</a:t>
                      </a:r>
                      <a:endParaRPr sz="1200" b="1" i="0" strike="noStrike">
                        <a:solidFill>
                          <a:srgbClr val="0A1F3D">
                            <a:alpha val="100000"/>
                          </a:srgbClr>
                        </a:solidFill>
                        <a:latin typeface="&quot;Source Han Serif CN&quot;, serif"/>
                        <a:ea typeface="&quot;Source Han Serif CN&quot;, serif"/>
                        <a:cs typeface="&quot;Source Han Serif CN&quot;, serif"/>
                      </a:endParaRPr>
                    </a:p>
                  </a:txBody>
                  <a:tcPr marL="190500" marR="190500" marT="133350" marB="133350" vert="horz" anchor="t" anchorCtr="0">
                    <a:lnL w="25400">
                      <a:solidFill>
                        <a:srgbClr val="5B8CB8">
                          <a:alpha val="100000"/>
                        </a:srgbClr>
                      </a:solidFill>
                    </a:lnL>
                    <a:lnR w="25400">
                      <a:solidFill>
                        <a:srgbClr val="5B8CB8">
                          <a:alpha val="100000"/>
                        </a:srgbClr>
                      </a:solidFill>
                    </a:lnR>
                    <a:lnT w="25400">
                      <a:solidFill>
                        <a:srgbClr val="5B8CB8">
                          <a:alpha val="100000"/>
                        </a:srgbClr>
                      </a:solidFill>
                    </a:lnT>
                    <a:lnB w="25400">
                      <a:solidFill>
                        <a:srgbClr val="5B8CB8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 rot="0" wrap="square"/>
                    <a:p>
                      <a:pPr algn="l">
                        <a:defRPr sz="1200" b="0" i="0" strike="noStrike"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Source Han Sans&quot;, AlibabaPuHuiTi, sans-serif"/>
                          <a:ea typeface="&quot;Source Han Sans&quot;, AlibabaPuHuiTi, sans-serif"/>
                          <a:cs typeface="&quot;Source Han Sans&quot;, AlibabaPuHuiTi, sans-serif"/>
                        </a:defRPr>
                      </a:pPr>
                      <a:r>
                        <a:rPr sz="1200" b="0" i="0" strike="noStrike"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Source Han Sans&quot;, AlibabaPuHuiTi, sans-serif"/>
                          <a:ea typeface="&quot;Source Han Sans&quot;, AlibabaPuHuiTi, sans-serif"/>
                          <a:cs typeface="&quot;Source Han Sans&quot;, AlibabaPuHuiTi, sans-serif"/>
                        </a:rPr>
                        <a:t>前后端分离、RESTful API、本地文件存储、无状态鉴权</a:t>
                      </a:r>
                      <a:endParaRPr sz="1200" b="0" i="0" strike="noStrike">
                        <a:solidFill>
                          <a:srgbClr val="0A1F3D">
                            <a:alpha val="100000"/>
                          </a:srgbClr>
                        </a:solidFill>
                        <a:latin typeface="&quot;Source Han Sans&quot;, AlibabaPuHuiTi, sans-serif"/>
                        <a:ea typeface="&quot;Source Han Sans&quot;, AlibabaPuHuiTi, sans-serif"/>
                        <a:cs typeface="&quot;Source Han Sans&quot;, AlibabaPuHuiTi, sans-serif"/>
                      </a:endParaRPr>
                    </a:p>
                  </a:txBody>
                  <a:tcPr marL="190500" marR="190500" marT="133350" marB="133350" vert="horz" anchor="t" anchorCtr="0">
                    <a:lnL w="25400">
                      <a:solidFill>
                        <a:srgbClr val="5B8CB8">
                          <a:alpha val="100000"/>
                        </a:srgbClr>
                      </a:solidFill>
                    </a:lnL>
                    <a:lnR w="25400">
                      <a:solidFill>
                        <a:srgbClr val="5B8CB8">
                          <a:alpha val="100000"/>
                        </a:srgbClr>
                      </a:solidFill>
                    </a:lnR>
                    <a:lnT w="25400">
                      <a:solidFill>
                        <a:srgbClr val="5B8CB8">
                          <a:alpha val="100000"/>
                        </a:srgbClr>
                      </a:solidFill>
                    </a:lnT>
                    <a:lnB w="25400">
                      <a:solidFill>
                        <a:srgbClr val="5B8CB8">
                          <a:alpha val="100000"/>
                        </a:srgbClr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333333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3" name="AutoShap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3F5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4" name="TextBox 4"/>
          <p:cNvSpPr txBox="1"/>
          <p:nvPr/>
        </p:nvSpPr>
        <p:spPr>
          <a:xfrm>
            <a:off x="457086" y="466725"/>
            <a:ext cx="8570358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solidFill>
                  <a:srgbClr val="5B8CB8">
                    <a:alpha val="60000"/>
                  </a:srgbClr>
                </a:solidFill>
                <a:latin typeface="Inter"/>
                <a:ea typeface="Inter"/>
                <a:cs typeface="Inter"/>
              </a:rPr>
              <a:t>Architecture Overview</a:t>
            </a:r>
            <a:endParaRPr lang="en-US" sz="1100"/>
          </a:p>
        </p:txBody>
      </p:sp>
      <p:sp>
        <p:nvSpPr>
          <p:cNvPr id="5" name="TextBox 5"/>
          <p:cNvSpPr txBox="1"/>
          <p:nvPr/>
        </p:nvSpPr>
        <p:spPr>
          <a:xfrm>
            <a:off x="457086" y="752475"/>
            <a:ext cx="8570358" cy="4381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3100" b="1" i="0" strike="noStrike">
                <a:solidFill>
                  <a:srgbClr val="0A1F3D">
                    <a:alpha val="100000"/>
                  </a:srgbClr>
                </a:solidFill>
                <a:latin typeface="Source Han Serif CN"/>
                <a:ea typeface="Source Han Serif CN"/>
                <a:cs typeface="Source Han Serif CN"/>
              </a:rPr>
              <a:t>系统架构设计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457086" y="1452562"/>
            <a:ext cx="9522" cy="557212"/>
          </a:xfrm>
          <a:prstGeom prst="line">
            <a:avLst/>
          </a:prstGeom>
          <a:ln w="28575">
            <a:solidFill>
              <a:srgbClr val="5B8CB8">
                <a:alpha val="80000"/>
              </a:srgbClr>
            </a:solidFill>
            <a:prstDash val="solid"/>
            <a:headEnd type="none"/>
            <a:tailEnd type="none"/>
          </a:ln>
        </p:spPr>
      </p:sp>
      <p:sp>
        <p:nvSpPr>
          <p:cNvPr id="7" name="TextBox 7"/>
          <p:cNvSpPr txBox="1"/>
          <p:nvPr/>
        </p:nvSpPr>
        <p:spPr>
          <a:xfrm>
            <a:off x="638015" y="1490662"/>
            <a:ext cx="11550937" cy="469106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300" b="0" i="0" strike="noStrike">
                <a:solidFill>
                  <a:srgbClr val="0A1F3D">
                    <a:alpha val="80000"/>
                  </a:srgbClr>
                </a:solidFill>
                <a:latin typeface="Source Han Sans"/>
                <a:ea typeface="Source Han Sans"/>
                <a:cs typeface="Source Han Sans"/>
              </a:rPr>
              <a:t>系统采用前后端分离的四层架构设计，表现层负责用户交互，业务层处理核心逻辑，数据层负责持久化存储，</a:t>
            </a:r>
            <a:endParaRPr lang="en-US" sz="1100"/>
          </a:p>
          <a:p>
            <a:pPr algn="l"/>
            <a:r>
              <a:rPr sz="1300" b="0" i="0" strike="noStrike">
                <a:solidFill>
                  <a:srgbClr val="0A1F3D">
                    <a:alpha val="80000"/>
                  </a:srgbClr>
                </a:solidFill>
                <a:latin typeface="Source Han Sans"/>
                <a:ea typeface="Source Han Sans"/>
                <a:cs typeface="Source Han Sans"/>
              </a:rPr>
              <a:t>安全层提供身份认证。各层职责清晰、边界明确，便于团队协作开发和后续功能扩展。</a:t>
            </a:r>
            <a:endParaRPr sz="1300" b="0" i="0" strike="noStrike">
              <a:solidFill>
                <a:srgbClr val="0A1F3D">
                  <a:alpha val="80000"/>
                </a:srgbClr>
              </a:solidFill>
              <a:latin typeface="Source Han Sans"/>
              <a:ea typeface="Source Han Sans"/>
              <a:cs typeface="Source Han Sans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457086" y="2314575"/>
            <a:ext cx="5523120" cy="2600325"/>
          </a:xfrm>
          <a:prstGeom prst="rect">
            <a:avLst/>
          </a:prstGeom>
          <a:blipFill rotWithShape="1">
            <a:blip r:embed="rId1">
              <a:alphaModFix amt="100000"/>
              <a:alphaModFix amt="100000"/>
            </a:blip>
            <a:stretch>
              <a:fillRect/>
            </a:stretch>
          </a:blipFill>
          <a:ln>
            <a:headEnd type="none"/>
            <a:tailEnd type="none"/>
          </a:ln>
        </p:spPr>
      </p:sp>
      <p:sp>
        <p:nvSpPr>
          <p:cNvPr id="9" name="AutoShape 9"/>
          <p:cNvSpPr/>
          <p:nvPr/>
        </p:nvSpPr>
        <p:spPr>
          <a:xfrm>
            <a:off x="669783" y="2609850"/>
            <a:ext cx="228543" cy="228600"/>
          </a:xfrm>
          <a:custGeom>
            <a:avLst/>
            <a:gdLst/>
            <a:ahLst/>
            <a:cxnLst/>
            <a:rect l="l" t="t" r="r" b="b"/>
            <a:pathLst>
              <a:path w="9998" h="10000">
                <a:moveTo>
                  <a:pt x="1111" y="1111"/>
                </a:moveTo>
                <a:lnTo>
                  <a:pt x="1111" y="2778"/>
                </a:lnTo>
                <a:lnTo>
                  <a:pt x="8887" y="2778"/>
                </a:lnTo>
                <a:lnTo>
                  <a:pt x="8887" y="1111"/>
                </a:lnTo>
                <a:lnTo>
                  <a:pt x="1111" y="1111"/>
                </a:lnTo>
                <a:moveTo>
                  <a:pt x="1111" y="8889"/>
                </a:moveTo>
                <a:lnTo>
                  <a:pt x="6110" y="8889"/>
                </a:lnTo>
                <a:lnTo>
                  <a:pt x="6110" y="3889"/>
                </a:lnTo>
                <a:lnTo>
                  <a:pt x="1111" y="3889"/>
                </a:lnTo>
                <a:lnTo>
                  <a:pt x="1111" y="8889"/>
                </a:lnTo>
                <a:moveTo>
                  <a:pt x="7221" y="3889"/>
                </a:moveTo>
                <a:lnTo>
                  <a:pt x="7221" y="8889"/>
                </a:lnTo>
                <a:lnTo>
                  <a:pt x="8887" y="8889"/>
                </a:lnTo>
                <a:lnTo>
                  <a:pt x="8887" y="3889"/>
                </a:lnTo>
                <a:lnTo>
                  <a:pt x="7221" y="3889"/>
                </a:lnTo>
                <a:moveTo>
                  <a:pt x="555" y="0"/>
                </a:moveTo>
                <a:lnTo>
                  <a:pt x="9443" y="0"/>
                </a:lnTo>
                <a:cubicBezTo>
                  <a:pt x="9598" y="0"/>
                  <a:pt x="9729" y="53"/>
                  <a:pt x="9837" y="161"/>
                </a:cubicBezTo>
                <a:cubicBezTo>
                  <a:pt x="9944" y="268"/>
                  <a:pt x="9998" y="400"/>
                  <a:pt x="9998" y="556"/>
                </a:cubicBezTo>
                <a:lnTo>
                  <a:pt x="9998" y="9444"/>
                </a:lnTo>
                <a:cubicBezTo>
                  <a:pt x="9998" y="9600"/>
                  <a:pt x="9944" y="9731"/>
                  <a:pt x="9837" y="9839"/>
                </a:cubicBezTo>
                <a:cubicBezTo>
                  <a:pt x="9729" y="9946"/>
                  <a:pt x="9598" y="10000"/>
                  <a:pt x="9443" y="10000"/>
                </a:cubicBezTo>
                <a:lnTo>
                  <a:pt x="555" y="10000"/>
                </a:lnTo>
                <a:cubicBezTo>
                  <a:pt x="399" y="10000"/>
                  <a:pt x="268" y="9946"/>
                  <a:pt x="161" y="9839"/>
                </a:cubicBezTo>
                <a:cubicBezTo>
                  <a:pt x="53" y="9731"/>
                  <a:pt x="0" y="9600"/>
                  <a:pt x="0" y="9444"/>
                </a:cubicBezTo>
                <a:lnTo>
                  <a:pt x="0" y="556"/>
                </a:lnTo>
                <a:cubicBezTo>
                  <a:pt x="0" y="400"/>
                  <a:pt x="53" y="268"/>
                  <a:pt x="161" y="161"/>
                </a:cubicBezTo>
                <a:cubicBezTo>
                  <a:pt x="268" y="53"/>
                  <a:pt x="399" y="0"/>
                  <a:pt x="555" y="0"/>
                </a:cubicBezTo>
              </a:path>
            </a:pathLst>
          </a:custGeom>
          <a:solidFill>
            <a:srgbClr val="5B8CB8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10" name="TextBox 10"/>
          <p:cNvSpPr txBox="1"/>
          <p:nvPr/>
        </p:nvSpPr>
        <p:spPr>
          <a:xfrm>
            <a:off x="987228" y="2619375"/>
            <a:ext cx="618970" cy="2095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500" b="1" i="0" strike="noStrike">
                <a:solidFill>
                  <a:srgbClr val="0A1F3D">
                    <a:alpha val="100000"/>
                  </a:srgbClr>
                </a:solidFill>
                <a:latin typeface="Source Han Serif CN"/>
                <a:ea typeface="Source Han Serif CN"/>
                <a:cs typeface="Source Han Serif CN"/>
              </a:rPr>
              <a:t>表现层</a:t>
            </a:r>
            <a:endParaRPr lang="en-US" sz="1100"/>
          </a:p>
        </p:txBody>
      </p:sp>
      <p:sp>
        <p:nvSpPr>
          <p:cNvPr id="11" name="TextBox 11"/>
          <p:cNvSpPr txBox="1"/>
          <p:nvPr/>
        </p:nvSpPr>
        <p:spPr>
          <a:xfrm>
            <a:off x="5107248" y="2657475"/>
            <a:ext cx="663458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solidFill>
                  <a:srgbClr val="0A1F3D">
                    <a:alpha val="50196"/>
                  </a:srgbClr>
                </a:solidFill>
                <a:latin typeface="Inter"/>
                <a:ea typeface="Inter"/>
                <a:cs typeface="Inter"/>
              </a:rPr>
              <a:t>Frontend</a:t>
            </a:r>
            <a:endParaRPr lang="en-US" sz="1100"/>
          </a:p>
        </p:txBody>
      </p:sp>
      <p:sp>
        <p:nvSpPr>
          <p:cNvPr id="12" name="TextBox 12"/>
          <p:cNvSpPr txBox="1"/>
          <p:nvPr/>
        </p:nvSpPr>
        <p:spPr>
          <a:xfrm>
            <a:off x="695155" y="3048000"/>
            <a:ext cx="50142" cy="2286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100" b="1" i="0" strike="noStrike">
                <a:solidFill>
                  <a:srgbClr val="5B8CB8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•</a:t>
            </a:r>
            <a:endParaRPr lang="en-US" sz="1100"/>
          </a:p>
        </p:txBody>
      </p:sp>
      <p:sp>
        <p:nvSpPr>
          <p:cNvPr id="13" name="TextBox 13"/>
          <p:cNvSpPr txBox="1"/>
          <p:nvPr/>
        </p:nvSpPr>
        <p:spPr>
          <a:xfrm>
            <a:off x="866558" y="3076575"/>
            <a:ext cx="5113646" cy="3905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100" b="0" i="0" strike="noStrike">
                <a:solidFill>
                  <a:srgbClr val="0A1F3D">
                    <a:alpha val="90196"/>
                  </a:srgbClr>
                </a:solidFill>
                <a:latin typeface="Source Han Sans"/>
                <a:ea typeface="Source Han Sans"/>
                <a:cs typeface="Source Han Sans"/>
              </a:rPr>
              <a:t>Vue 3 构建单页面应用，Vite 作为开发和构建工具，实现快速热更新和高效打</a:t>
            </a:r>
            <a:endParaRPr lang="en-US" sz="1100"/>
          </a:p>
          <a:p>
            <a:pPr algn="l"/>
            <a:r>
              <a:rPr sz="1100" b="0" i="0" strike="noStrike">
                <a:solidFill>
                  <a:srgbClr val="0A1F3D">
                    <a:alpha val="90196"/>
                  </a:srgbClr>
                </a:solidFill>
                <a:latin typeface="Source Han Sans"/>
                <a:ea typeface="Source Han Sans"/>
                <a:cs typeface="Source Han Sans"/>
              </a:rPr>
              <a:t>包</a:t>
            </a:r>
            <a:endParaRPr sz="1100" b="0" i="0" strike="noStrike">
              <a:solidFill>
                <a:srgbClr val="0A1F3D">
                  <a:alpha val="90196"/>
                </a:srgbClr>
              </a:solidFill>
              <a:latin typeface="Source Han Sans"/>
              <a:ea typeface="Source Han Sans"/>
              <a:cs typeface="Source Han Sans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695155" y="3590925"/>
            <a:ext cx="50142" cy="2286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100" b="1" i="0" strike="noStrike">
                <a:solidFill>
                  <a:srgbClr val="5B8CB8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•</a:t>
            </a:r>
            <a:endParaRPr lang="en-US" sz="1100"/>
          </a:p>
        </p:txBody>
      </p:sp>
      <p:sp>
        <p:nvSpPr>
          <p:cNvPr id="15" name="TextBox 15"/>
          <p:cNvSpPr txBox="1"/>
          <p:nvPr/>
        </p:nvSpPr>
        <p:spPr>
          <a:xfrm>
            <a:off x="866558" y="3619500"/>
            <a:ext cx="5113646" cy="3905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100" b="0" i="0" strike="noStrike">
                <a:solidFill>
                  <a:srgbClr val="0A1F3D">
                    <a:alpha val="90196"/>
                  </a:srgbClr>
                </a:solidFill>
                <a:latin typeface="Source Han Sans"/>
                <a:ea typeface="Source Han Sans"/>
                <a:cs typeface="Source Han Sans"/>
              </a:rPr>
              <a:t>Vue Router 管理首页、登录、注册、详情、发布、购物车、订单、收藏、个</a:t>
            </a:r>
            <a:endParaRPr lang="en-US" sz="1100"/>
          </a:p>
          <a:p>
            <a:pPr algn="l"/>
            <a:r>
              <a:rPr sz="1100" b="0" i="0" strike="noStrike">
                <a:solidFill>
                  <a:srgbClr val="0A1F3D">
                    <a:alpha val="90196"/>
                  </a:srgbClr>
                </a:solidFill>
                <a:latin typeface="Source Han Sans"/>
                <a:ea typeface="Source Han Sans"/>
                <a:cs typeface="Source Han Sans"/>
              </a:rPr>
              <a:t>人中心和管理后台等路由</a:t>
            </a:r>
            <a:endParaRPr sz="1100" b="0" i="0" strike="noStrike">
              <a:solidFill>
                <a:srgbClr val="0A1F3D">
                  <a:alpha val="90196"/>
                </a:srgbClr>
              </a:solidFill>
              <a:latin typeface="Source Han Sans"/>
              <a:ea typeface="Source Han Sans"/>
              <a:cs typeface="Source Han Sans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695155" y="4133850"/>
            <a:ext cx="50142" cy="2286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100" b="1" i="0" strike="noStrike">
                <a:solidFill>
                  <a:srgbClr val="5B8CB8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•</a:t>
            </a:r>
            <a:endParaRPr lang="en-US" sz="1100"/>
          </a:p>
        </p:txBody>
      </p:sp>
      <p:sp>
        <p:nvSpPr>
          <p:cNvPr id="17" name="TextBox 17"/>
          <p:cNvSpPr txBox="1"/>
          <p:nvPr/>
        </p:nvSpPr>
        <p:spPr>
          <a:xfrm>
            <a:off x="866558" y="4162425"/>
            <a:ext cx="5113646" cy="3905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100" b="0" i="0" strike="noStrike">
                <a:solidFill>
                  <a:srgbClr val="0A1F3D">
                    <a:alpha val="90196"/>
                  </a:srgbClr>
                </a:solidFill>
                <a:latin typeface="Source Han Sans"/>
                <a:ea typeface="Source Han Sans"/>
                <a:cs typeface="Source Han Sans"/>
              </a:rPr>
              <a:t>Pinia 管理用户登录状态，Axios 封装 HTTP 请求并统一处理 Token 请求头和</a:t>
            </a:r>
            <a:endParaRPr lang="en-US" sz="1100"/>
          </a:p>
          <a:p>
            <a:pPr algn="l"/>
            <a:r>
              <a:rPr sz="1100" b="0" i="0" strike="noStrike">
                <a:solidFill>
                  <a:srgbClr val="0A1F3D">
                    <a:alpha val="90196"/>
                  </a:srgbClr>
                </a:solidFill>
                <a:latin typeface="Source Han Sans"/>
                <a:ea typeface="Source Han Sans"/>
                <a:cs typeface="Source Han Sans"/>
              </a:rPr>
              <a:t>异常提示</a:t>
            </a:r>
            <a:endParaRPr sz="1100" b="0" i="0" strike="noStrike">
              <a:solidFill>
                <a:srgbClr val="0A1F3D">
                  <a:alpha val="90196"/>
                </a:srgbClr>
              </a:solidFill>
              <a:latin typeface="Source Han Sans"/>
              <a:ea typeface="Source Han Sans"/>
              <a:cs typeface="Source Han Sans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6208747" y="2314575"/>
            <a:ext cx="5523120" cy="2600325"/>
          </a:xfrm>
          <a:prstGeom prst="rect">
            <a:avLst/>
          </a:prstGeom>
          <a:blipFill rotWithShape="1">
            <a:blip r:embed="rId1">
              <a:alphaModFix amt="100000"/>
              <a:alphaModFix amt="100000"/>
            </a:blip>
            <a:stretch>
              <a:fillRect/>
            </a:stretch>
          </a:blipFill>
          <a:ln>
            <a:headEnd type="none"/>
            <a:tailEnd type="none"/>
          </a:ln>
        </p:spPr>
      </p:sp>
      <p:sp>
        <p:nvSpPr>
          <p:cNvPr id="19" name="AutoShape 19"/>
          <p:cNvSpPr/>
          <p:nvPr/>
        </p:nvSpPr>
        <p:spPr>
          <a:xfrm>
            <a:off x="6421444" y="2609850"/>
            <a:ext cx="228543" cy="228600"/>
          </a:xfrm>
          <a:custGeom>
            <a:avLst/>
            <a:gdLst/>
            <a:ahLst/>
            <a:cxnLst/>
            <a:rect l="l" t="t" r="r" b="b"/>
            <a:pathLst>
              <a:path w="9998" h="10000">
                <a:moveTo>
                  <a:pt x="1111" y="1111"/>
                </a:moveTo>
                <a:lnTo>
                  <a:pt x="1111" y="4444"/>
                </a:lnTo>
                <a:lnTo>
                  <a:pt x="8887" y="4444"/>
                </a:lnTo>
                <a:lnTo>
                  <a:pt x="8887" y="1111"/>
                </a:lnTo>
                <a:lnTo>
                  <a:pt x="1111" y="1111"/>
                </a:lnTo>
                <a:moveTo>
                  <a:pt x="9998" y="556"/>
                </a:moveTo>
                <a:lnTo>
                  <a:pt x="9998" y="9444"/>
                </a:lnTo>
                <a:cubicBezTo>
                  <a:pt x="9998" y="9600"/>
                  <a:pt x="9944" y="9731"/>
                  <a:pt x="9837" y="9839"/>
                </a:cubicBezTo>
                <a:cubicBezTo>
                  <a:pt x="9729" y="9946"/>
                  <a:pt x="9598" y="10000"/>
                  <a:pt x="9443" y="10000"/>
                </a:cubicBezTo>
                <a:lnTo>
                  <a:pt x="555" y="10000"/>
                </a:lnTo>
                <a:cubicBezTo>
                  <a:pt x="399" y="10000"/>
                  <a:pt x="268" y="9946"/>
                  <a:pt x="161" y="9839"/>
                </a:cubicBezTo>
                <a:cubicBezTo>
                  <a:pt x="53" y="9731"/>
                  <a:pt x="0" y="9600"/>
                  <a:pt x="0" y="9444"/>
                </a:cubicBezTo>
                <a:lnTo>
                  <a:pt x="0" y="556"/>
                </a:lnTo>
                <a:cubicBezTo>
                  <a:pt x="0" y="400"/>
                  <a:pt x="53" y="268"/>
                  <a:pt x="161" y="161"/>
                </a:cubicBezTo>
                <a:cubicBezTo>
                  <a:pt x="268" y="53"/>
                  <a:pt x="399" y="0"/>
                  <a:pt x="555" y="0"/>
                </a:cubicBezTo>
                <a:lnTo>
                  <a:pt x="9443" y="0"/>
                </a:lnTo>
                <a:cubicBezTo>
                  <a:pt x="9598" y="0"/>
                  <a:pt x="9729" y="53"/>
                  <a:pt x="9837" y="161"/>
                </a:cubicBezTo>
                <a:cubicBezTo>
                  <a:pt x="9944" y="268"/>
                  <a:pt x="9998" y="400"/>
                  <a:pt x="9998" y="556"/>
                </a:cubicBezTo>
                <a:moveTo>
                  <a:pt x="8887" y="8889"/>
                </a:moveTo>
                <a:lnTo>
                  <a:pt x="8887" y="5556"/>
                </a:lnTo>
                <a:lnTo>
                  <a:pt x="1111" y="5556"/>
                </a:lnTo>
                <a:lnTo>
                  <a:pt x="1111" y="8889"/>
                </a:lnTo>
                <a:lnTo>
                  <a:pt x="8887" y="8889"/>
                </a:lnTo>
                <a:moveTo>
                  <a:pt x="2222" y="7778"/>
                </a:moveTo>
                <a:lnTo>
                  <a:pt x="2222" y="6667"/>
                </a:lnTo>
                <a:lnTo>
                  <a:pt x="3888" y="6667"/>
                </a:lnTo>
                <a:lnTo>
                  <a:pt x="3888" y="7778"/>
                </a:lnTo>
                <a:lnTo>
                  <a:pt x="2222" y="7778"/>
                </a:lnTo>
                <a:moveTo>
                  <a:pt x="2222" y="3333"/>
                </a:moveTo>
                <a:lnTo>
                  <a:pt x="2222" y="2222"/>
                </a:lnTo>
                <a:lnTo>
                  <a:pt x="3888" y="2222"/>
                </a:lnTo>
                <a:lnTo>
                  <a:pt x="3888" y="3333"/>
                </a:lnTo>
              </a:path>
            </a:pathLst>
          </a:custGeom>
          <a:solidFill>
            <a:srgbClr val="5B8CB8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20" name="TextBox 20"/>
          <p:cNvSpPr txBox="1"/>
          <p:nvPr/>
        </p:nvSpPr>
        <p:spPr>
          <a:xfrm>
            <a:off x="6738889" y="2619375"/>
            <a:ext cx="618970" cy="2095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500" b="1" i="0" strike="noStrike">
                <a:solidFill>
                  <a:srgbClr val="0A1F3D">
                    <a:alpha val="100000"/>
                  </a:srgbClr>
                </a:solidFill>
                <a:latin typeface="Source Han Serif CN"/>
                <a:ea typeface="Source Han Serif CN"/>
                <a:cs typeface="Source Han Serif CN"/>
              </a:rPr>
              <a:t>业务层</a:t>
            </a:r>
            <a:endParaRPr lang="en-US" sz="1100"/>
          </a:p>
        </p:txBody>
      </p:sp>
      <p:sp>
        <p:nvSpPr>
          <p:cNvPr id="21" name="TextBox 21"/>
          <p:cNvSpPr txBox="1"/>
          <p:nvPr/>
        </p:nvSpPr>
        <p:spPr>
          <a:xfrm>
            <a:off x="10941340" y="2657475"/>
            <a:ext cx="581029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solidFill>
                  <a:srgbClr val="0A1F3D">
                    <a:alpha val="50196"/>
                  </a:srgbClr>
                </a:solidFill>
                <a:latin typeface="Inter"/>
                <a:ea typeface="Inter"/>
                <a:cs typeface="Inter"/>
              </a:rPr>
              <a:t>Backend</a:t>
            </a:r>
            <a:endParaRPr lang="en-US" sz="1100"/>
          </a:p>
        </p:txBody>
      </p:sp>
      <p:sp>
        <p:nvSpPr>
          <p:cNvPr id="22" name="TextBox 22"/>
          <p:cNvSpPr txBox="1"/>
          <p:nvPr/>
        </p:nvSpPr>
        <p:spPr>
          <a:xfrm>
            <a:off x="6446816" y="3048000"/>
            <a:ext cx="50142" cy="2286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100" b="1" i="0" strike="noStrike">
                <a:solidFill>
                  <a:srgbClr val="5B8CB8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•</a:t>
            </a:r>
            <a:endParaRPr lang="en-US" sz="1100"/>
          </a:p>
        </p:txBody>
      </p:sp>
      <p:sp>
        <p:nvSpPr>
          <p:cNvPr id="23" name="TextBox 23"/>
          <p:cNvSpPr txBox="1"/>
          <p:nvPr/>
        </p:nvSpPr>
        <p:spPr>
          <a:xfrm>
            <a:off x="6618220" y="3076575"/>
            <a:ext cx="5113646" cy="3905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100" b="0" i="0" strike="noStrike">
                <a:solidFill>
                  <a:srgbClr val="0A1F3D">
                    <a:alpha val="90196"/>
                  </a:srgbClr>
                </a:solidFill>
                <a:latin typeface="Source Han Sans"/>
                <a:ea typeface="Source Han Sans"/>
                <a:cs typeface="Source Han Sans"/>
              </a:rPr>
              <a:t>Spring Boot 3.5.14 提供 RESTful API，Controller-Service-Mapper 分层结构</a:t>
            </a:r>
            <a:endParaRPr lang="en-US" sz="1100"/>
          </a:p>
          <a:p>
            <a:pPr algn="l"/>
            <a:r>
              <a:rPr sz="1100" b="0" i="0" strike="noStrike">
                <a:solidFill>
                  <a:srgbClr val="0A1F3D">
                    <a:alpha val="90196"/>
                  </a:srgbClr>
                </a:solidFill>
                <a:latin typeface="Source Han Sans"/>
                <a:ea typeface="Source Han Sans"/>
                <a:cs typeface="Source Han Sans"/>
              </a:rPr>
              <a:t>职责清晰</a:t>
            </a:r>
            <a:endParaRPr sz="1100" b="0" i="0" strike="noStrike">
              <a:solidFill>
                <a:srgbClr val="0A1F3D">
                  <a:alpha val="90196"/>
                </a:srgbClr>
              </a:solidFill>
              <a:latin typeface="Source Han Sans"/>
              <a:ea typeface="Source Han Sans"/>
              <a:cs typeface="Source Han Sans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6446816" y="3590925"/>
            <a:ext cx="50142" cy="2286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100" b="1" i="0" strike="noStrike">
                <a:solidFill>
                  <a:srgbClr val="5B8CB8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•</a:t>
            </a:r>
            <a:endParaRPr lang="en-US" sz="1100"/>
          </a:p>
        </p:txBody>
      </p:sp>
      <p:sp>
        <p:nvSpPr>
          <p:cNvPr id="25" name="TextBox 25"/>
          <p:cNvSpPr txBox="1"/>
          <p:nvPr/>
        </p:nvSpPr>
        <p:spPr>
          <a:xfrm>
            <a:off x="6618220" y="3619500"/>
            <a:ext cx="4875581" cy="3905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100" b="0" i="0" strike="noStrike">
                <a:solidFill>
                  <a:srgbClr val="0A1F3D">
                    <a:alpha val="90196"/>
                  </a:srgbClr>
                </a:solidFill>
                <a:latin typeface="Source Han Sans"/>
                <a:ea typeface="Source Han Sans"/>
                <a:cs typeface="Source Han Sans"/>
              </a:rPr>
              <a:t>LoginInterceptor 校验 JWT Token 并向请求对象注入 userId、username、</a:t>
            </a:r>
            <a:endParaRPr lang="en-US" sz="1100"/>
          </a:p>
          <a:p>
            <a:pPr algn="l"/>
            <a:r>
              <a:rPr sz="1100" b="0" i="0" strike="noStrike">
                <a:solidFill>
                  <a:srgbClr val="0A1F3D">
                    <a:alpha val="90196"/>
                  </a:srgbClr>
                </a:solidFill>
                <a:latin typeface="Source Han Sans"/>
                <a:ea typeface="Source Han Sans"/>
                <a:cs typeface="Source Han Sans"/>
              </a:rPr>
              <a:t>role 信息</a:t>
            </a:r>
            <a:endParaRPr sz="1100" b="0" i="0" strike="noStrike">
              <a:solidFill>
                <a:srgbClr val="0A1F3D">
                  <a:alpha val="90196"/>
                </a:srgbClr>
              </a:solidFill>
              <a:latin typeface="Source Han Sans"/>
              <a:ea typeface="Source Han Sans"/>
              <a:cs typeface="Source Han Sans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6446816" y="4133850"/>
            <a:ext cx="50142" cy="2286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100" b="1" i="0" strike="noStrike">
                <a:solidFill>
                  <a:srgbClr val="5B8CB8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•</a:t>
            </a:r>
            <a:endParaRPr lang="en-US" sz="1100"/>
          </a:p>
        </p:txBody>
      </p:sp>
      <p:sp>
        <p:nvSpPr>
          <p:cNvPr id="27" name="TextBox 27"/>
          <p:cNvSpPr txBox="1"/>
          <p:nvPr/>
        </p:nvSpPr>
        <p:spPr>
          <a:xfrm>
            <a:off x="6618220" y="4162425"/>
            <a:ext cx="5113646" cy="3905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100" b="0" i="0" strike="noStrike">
                <a:solidFill>
                  <a:srgbClr val="0A1F3D">
                    <a:alpha val="90196"/>
                  </a:srgbClr>
                </a:solidFill>
                <a:latin typeface="Source Han Sans"/>
                <a:ea typeface="Source Han Sans"/>
                <a:cs typeface="Source Han Sans"/>
              </a:rPr>
              <a:t>Service 层负责业务规则校验和事务处理，确保订单付款与图书状态更新的原</a:t>
            </a:r>
            <a:endParaRPr lang="en-US" sz="1100"/>
          </a:p>
          <a:p>
            <a:pPr algn="l"/>
            <a:r>
              <a:rPr sz="1100" b="0" i="0" strike="noStrike">
                <a:solidFill>
                  <a:srgbClr val="0A1F3D">
                    <a:alpha val="90196"/>
                  </a:srgbClr>
                </a:solidFill>
                <a:latin typeface="Source Han Sans"/>
                <a:ea typeface="Source Han Sans"/>
                <a:cs typeface="Source Han Sans"/>
              </a:rPr>
              <a:t>子性</a:t>
            </a:r>
            <a:endParaRPr sz="1100" b="0" i="0" strike="noStrike">
              <a:solidFill>
                <a:srgbClr val="0A1F3D">
                  <a:alpha val="90196"/>
                </a:srgbClr>
              </a:solidFill>
              <a:latin typeface="Source Han Sans"/>
              <a:ea typeface="Source Han Sans"/>
              <a:cs typeface="Source Han Sans"/>
            </a:endParaRPr>
          </a:p>
        </p:txBody>
      </p:sp>
      <p:sp>
        <p:nvSpPr>
          <p:cNvPr id="28" name="AutoShape 28"/>
          <p:cNvSpPr/>
          <p:nvPr/>
        </p:nvSpPr>
        <p:spPr>
          <a:xfrm>
            <a:off x="457086" y="5143500"/>
            <a:ext cx="5523120" cy="1714500"/>
          </a:xfrm>
          <a:prstGeom prst="rect">
            <a:avLst/>
          </a:prstGeom>
          <a:blipFill rotWithShape="1">
            <a:blip r:embed="rId2">
              <a:alphaModFix amt="100000"/>
              <a:alphaModFix amt="100000"/>
            </a:blip>
            <a:stretch>
              <a:fillRect/>
            </a:stretch>
          </a:blipFill>
          <a:ln>
            <a:headEnd type="none"/>
            <a:tailEnd type="none"/>
          </a:ln>
        </p:spPr>
      </p:sp>
      <p:sp>
        <p:nvSpPr>
          <p:cNvPr id="29" name="AutoShape 29"/>
          <p:cNvSpPr/>
          <p:nvPr/>
        </p:nvSpPr>
        <p:spPr>
          <a:xfrm>
            <a:off x="669783" y="5438775"/>
            <a:ext cx="228543" cy="228600"/>
          </a:xfrm>
          <a:custGeom>
            <a:avLst/>
            <a:gdLst/>
            <a:ahLst/>
            <a:cxnLst/>
            <a:rect l="l" t="t" r="r" b="b"/>
            <a:pathLst>
              <a:path w="9998" h="10000">
                <a:moveTo>
                  <a:pt x="1111" y="3853"/>
                </a:moveTo>
                <a:lnTo>
                  <a:pt x="1111" y="5000"/>
                </a:lnTo>
                <a:cubicBezTo>
                  <a:pt x="1111" y="5091"/>
                  <a:pt x="1177" y="5200"/>
                  <a:pt x="1311" y="5326"/>
                </a:cubicBezTo>
                <a:cubicBezTo>
                  <a:pt x="1466" y="5466"/>
                  <a:pt x="1684" y="5603"/>
                  <a:pt x="1966" y="5737"/>
                </a:cubicBezTo>
                <a:cubicBezTo>
                  <a:pt x="2351" y="5919"/>
                  <a:pt x="2807" y="6061"/>
                  <a:pt x="3333" y="6163"/>
                </a:cubicBezTo>
                <a:cubicBezTo>
                  <a:pt x="3858" y="6265"/>
                  <a:pt x="4413" y="6316"/>
                  <a:pt x="4999" y="6316"/>
                </a:cubicBezTo>
                <a:cubicBezTo>
                  <a:pt x="5584" y="6316"/>
                  <a:pt x="6139" y="6265"/>
                  <a:pt x="6665" y="6163"/>
                </a:cubicBezTo>
                <a:cubicBezTo>
                  <a:pt x="7191" y="6061"/>
                  <a:pt x="7646" y="5919"/>
                  <a:pt x="8032" y="5737"/>
                </a:cubicBezTo>
                <a:cubicBezTo>
                  <a:pt x="8313" y="5603"/>
                  <a:pt x="8531" y="5466"/>
                  <a:pt x="8687" y="5326"/>
                </a:cubicBezTo>
                <a:cubicBezTo>
                  <a:pt x="8820" y="5200"/>
                  <a:pt x="8887" y="5091"/>
                  <a:pt x="8887" y="5000"/>
                </a:cubicBezTo>
                <a:lnTo>
                  <a:pt x="8887" y="3853"/>
                </a:lnTo>
                <a:cubicBezTo>
                  <a:pt x="8420" y="4126"/>
                  <a:pt x="7853" y="4340"/>
                  <a:pt x="7187" y="4495"/>
                </a:cubicBezTo>
                <a:cubicBezTo>
                  <a:pt x="6498" y="4656"/>
                  <a:pt x="5769" y="4737"/>
                  <a:pt x="4999" y="4737"/>
                </a:cubicBezTo>
                <a:cubicBezTo>
                  <a:pt x="4229" y="4737"/>
                  <a:pt x="3499" y="4656"/>
                  <a:pt x="2811" y="4495"/>
                </a:cubicBezTo>
                <a:cubicBezTo>
                  <a:pt x="2144" y="4340"/>
                  <a:pt x="1577" y="4126"/>
                  <a:pt x="1111" y="3853"/>
                </a:cubicBezTo>
                <a:moveTo>
                  <a:pt x="8887" y="7632"/>
                </a:moveTo>
                <a:lnTo>
                  <a:pt x="8887" y="6484"/>
                </a:lnTo>
                <a:cubicBezTo>
                  <a:pt x="8420" y="6758"/>
                  <a:pt x="7853" y="6972"/>
                  <a:pt x="7187" y="7126"/>
                </a:cubicBezTo>
                <a:cubicBezTo>
                  <a:pt x="6498" y="7287"/>
                  <a:pt x="5769" y="7368"/>
                  <a:pt x="4999" y="7368"/>
                </a:cubicBezTo>
                <a:cubicBezTo>
                  <a:pt x="4229" y="7368"/>
                  <a:pt x="3499" y="7287"/>
                  <a:pt x="2811" y="7126"/>
                </a:cubicBezTo>
                <a:cubicBezTo>
                  <a:pt x="2144" y="6972"/>
                  <a:pt x="1577" y="6758"/>
                  <a:pt x="1111" y="6484"/>
                </a:cubicBezTo>
                <a:lnTo>
                  <a:pt x="1111" y="7632"/>
                </a:lnTo>
                <a:cubicBezTo>
                  <a:pt x="1111" y="7722"/>
                  <a:pt x="1177" y="7831"/>
                  <a:pt x="1311" y="7958"/>
                </a:cubicBezTo>
                <a:cubicBezTo>
                  <a:pt x="1466" y="8098"/>
                  <a:pt x="1684" y="8234"/>
                  <a:pt x="1966" y="8368"/>
                </a:cubicBezTo>
                <a:cubicBezTo>
                  <a:pt x="2351" y="8550"/>
                  <a:pt x="2807" y="8693"/>
                  <a:pt x="3333" y="8795"/>
                </a:cubicBezTo>
                <a:cubicBezTo>
                  <a:pt x="3858" y="8896"/>
                  <a:pt x="4413" y="8947"/>
                  <a:pt x="4999" y="8947"/>
                </a:cubicBezTo>
                <a:cubicBezTo>
                  <a:pt x="5584" y="8947"/>
                  <a:pt x="6139" y="8896"/>
                  <a:pt x="6665" y="8795"/>
                </a:cubicBezTo>
                <a:cubicBezTo>
                  <a:pt x="7191" y="8693"/>
                  <a:pt x="7646" y="8550"/>
                  <a:pt x="8032" y="8368"/>
                </a:cubicBezTo>
                <a:cubicBezTo>
                  <a:pt x="8313" y="8234"/>
                  <a:pt x="8531" y="8098"/>
                  <a:pt x="8687" y="7958"/>
                </a:cubicBezTo>
                <a:cubicBezTo>
                  <a:pt x="8820" y="7831"/>
                  <a:pt x="8887" y="7722"/>
                  <a:pt x="8887" y="7632"/>
                </a:cubicBezTo>
                <a:moveTo>
                  <a:pt x="0" y="7632"/>
                </a:moveTo>
                <a:lnTo>
                  <a:pt x="0" y="2368"/>
                </a:lnTo>
                <a:cubicBezTo>
                  <a:pt x="0" y="1940"/>
                  <a:pt x="226" y="1540"/>
                  <a:pt x="678" y="1168"/>
                </a:cubicBezTo>
                <a:cubicBezTo>
                  <a:pt x="1122" y="817"/>
                  <a:pt x="1721" y="536"/>
                  <a:pt x="2477" y="326"/>
                </a:cubicBezTo>
                <a:cubicBezTo>
                  <a:pt x="3255" y="108"/>
                  <a:pt x="4095" y="0"/>
                  <a:pt x="4999" y="0"/>
                </a:cubicBezTo>
                <a:cubicBezTo>
                  <a:pt x="5902" y="0"/>
                  <a:pt x="6743" y="108"/>
                  <a:pt x="7521" y="326"/>
                </a:cubicBezTo>
                <a:cubicBezTo>
                  <a:pt x="8276" y="536"/>
                  <a:pt x="8876" y="817"/>
                  <a:pt x="9320" y="1168"/>
                </a:cubicBezTo>
                <a:cubicBezTo>
                  <a:pt x="9772" y="1540"/>
                  <a:pt x="9998" y="1940"/>
                  <a:pt x="9998" y="2368"/>
                </a:cubicBezTo>
                <a:lnTo>
                  <a:pt x="9998" y="7632"/>
                </a:lnTo>
                <a:cubicBezTo>
                  <a:pt x="9998" y="8060"/>
                  <a:pt x="9772" y="8460"/>
                  <a:pt x="9320" y="8832"/>
                </a:cubicBezTo>
                <a:cubicBezTo>
                  <a:pt x="8876" y="9182"/>
                  <a:pt x="8276" y="9463"/>
                  <a:pt x="7521" y="9674"/>
                </a:cubicBezTo>
                <a:cubicBezTo>
                  <a:pt x="6743" y="9891"/>
                  <a:pt x="5902" y="10000"/>
                  <a:pt x="4999" y="10000"/>
                </a:cubicBezTo>
                <a:cubicBezTo>
                  <a:pt x="4095" y="10000"/>
                  <a:pt x="3255" y="9891"/>
                  <a:pt x="2477" y="9674"/>
                </a:cubicBezTo>
                <a:cubicBezTo>
                  <a:pt x="1721" y="9463"/>
                  <a:pt x="1122" y="9182"/>
                  <a:pt x="678" y="8832"/>
                </a:cubicBezTo>
                <a:cubicBezTo>
                  <a:pt x="226" y="8460"/>
                  <a:pt x="0" y="8060"/>
                  <a:pt x="0" y="7632"/>
                </a:cubicBezTo>
                <a:moveTo>
                  <a:pt x="4999" y="3684"/>
                </a:moveTo>
                <a:cubicBezTo>
                  <a:pt x="5584" y="3684"/>
                  <a:pt x="6139" y="3633"/>
                  <a:pt x="6665" y="3532"/>
                </a:cubicBezTo>
                <a:cubicBezTo>
                  <a:pt x="7191" y="3430"/>
                  <a:pt x="7646" y="3287"/>
                  <a:pt x="8032" y="3105"/>
                </a:cubicBezTo>
                <a:cubicBezTo>
                  <a:pt x="8313" y="2971"/>
                  <a:pt x="8531" y="2835"/>
                  <a:pt x="8687" y="2695"/>
                </a:cubicBezTo>
                <a:cubicBezTo>
                  <a:pt x="8820" y="2568"/>
                  <a:pt x="8887" y="2459"/>
                  <a:pt x="8887" y="2368"/>
                </a:cubicBezTo>
                <a:cubicBezTo>
                  <a:pt x="8887" y="2277"/>
                  <a:pt x="8820" y="2168"/>
                  <a:pt x="8687" y="2042"/>
                </a:cubicBezTo>
                <a:cubicBezTo>
                  <a:pt x="8531" y="1902"/>
                  <a:pt x="8313" y="1765"/>
                  <a:pt x="8032" y="1632"/>
                </a:cubicBezTo>
                <a:cubicBezTo>
                  <a:pt x="7646" y="1449"/>
                  <a:pt x="7191" y="1307"/>
                  <a:pt x="6665" y="1205"/>
                </a:cubicBezTo>
                <a:cubicBezTo>
                  <a:pt x="6139" y="1103"/>
                  <a:pt x="5584" y="1053"/>
                  <a:pt x="4999" y="1053"/>
                </a:cubicBezTo>
                <a:cubicBezTo>
                  <a:pt x="4413" y="1053"/>
                  <a:pt x="3858" y="1103"/>
                  <a:pt x="3333" y="1205"/>
                </a:cubicBezTo>
                <a:cubicBezTo>
                  <a:pt x="2807" y="1307"/>
                  <a:pt x="2351" y="1449"/>
                  <a:pt x="1966" y="1632"/>
                </a:cubicBezTo>
                <a:cubicBezTo>
                  <a:pt x="1684" y="1765"/>
                  <a:pt x="1466" y="1902"/>
                  <a:pt x="1311" y="2042"/>
                </a:cubicBezTo>
                <a:cubicBezTo>
                  <a:pt x="1177" y="2168"/>
                  <a:pt x="1111" y="2277"/>
                  <a:pt x="1111" y="2368"/>
                </a:cubicBezTo>
                <a:cubicBezTo>
                  <a:pt x="1111" y="2459"/>
                  <a:pt x="1177" y="2568"/>
                  <a:pt x="1311" y="2695"/>
                </a:cubicBezTo>
                <a:cubicBezTo>
                  <a:pt x="1466" y="2835"/>
                  <a:pt x="1684" y="2971"/>
                  <a:pt x="1966" y="3105"/>
                </a:cubicBezTo>
                <a:cubicBezTo>
                  <a:pt x="2351" y="3287"/>
                  <a:pt x="2807" y="3430"/>
                  <a:pt x="3333" y="3532"/>
                </a:cubicBezTo>
                <a:cubicBezTo>
                  <a:pt x="3858" y="3633"/>
                  <a:pt x="4413" y="3684"/>
                  <a:pt x="4999" y="3684"/>
                </a:cubicBezTo>
              </a:path>
            </a:pathLst>
          </a:custGeom>
          <a:solidFill>
            <a:srgbClr val="5B8CB8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30" name="TextBox 30"/>
          <p:cNvSpPr txBox="1"/>
          <p:nvPr/>
        </p:nvSpPr>
        <p:spPr>
          <a:xfrm>
            <a:off x="987228" y="5448300"/>
            <a:ext cx="618970" cy="2095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500" b="1" i="0" strike="noStrike">
                <a:solidFill>
                  <a:srgbClr val="0A1F3D">
                    <a:alpha val="100000"/>
                  </a:srgbClr>
                </a:solidFill>
                <a:latin typeface="Source Han Serif CN"/>
                <a:ea typeface="Source Han Serif CN"/>
                <a:cs typeface="Source Han Serif CN"/>
              </a:rPr>
              <a:t>数据层</a:t>
            </a:r>
            <a:endParaRPr lang="en-US" sz="1100"/>
          </a:p>
        </p:txBody>
      </p:sp>
      <p:sp>
        <p:nvSpPr>
          <p:cNvPr id="31" name="TextBox 31"/>
          <p:cNvSpPr txBox="1"/>
          <p:nvPr/>
        </p:nvSpPr>
        <p:spPr>
          <a:xfrm>
            <a:off x="5149356" y="5486400"/>
            <a:ext cx="621351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solidFill>
                  <a:srgbClr val="0A1F3D">
                    <a:alpha val="50196"/>
                  </a:srgbClr>
                </a:solidFill>
                <a:latin typeface="Inter"/>
                <a:ea typeface="Inter"/>
                <a:cs typeface="Inter"/>
              </a:rPr>
              <a:t>Database</a:t>
            </a:r>
            <a:endParaRPr lang="en-US" sz="1100"/>
          </a:p>
        </p:txBody>
      </p:sp>
      <p:sp>
        <p:nvSpPr>
          <p:cNvPr id="32" name="TextBox 32"/>
          <p:cNvSpPr txBox="1"/>
          <p:nvPr/>
        </p:nvSpPr>
        <p:spPr>
          <a:xfrm>
            <a:off x="695155" y="5876925"/>
            <a:ext cx="50142" cy="2286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100" b="1" i="0" strike="noStrike">
                <a:solidFill>
                  <a:srgbClr val="5B8CB8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•</a:t>
            </a:r>
            <a:endParaRPr lang="en-US" sz="1100"/>
          </a:p>
        </p:txBody>
      </p:sp>
      <p:sp>
        <p:nvSpPr>
          <p:cNvPr id="33" name="TextBox 33"/>
          <p:cNvSpPr txBox="1"/>
          <p:nvPr/>
        </p:nvSpPr>
        <p:spPr>
          <a:xfrm>
            <a:off x="866558" y="5905500"/>
            <a:ext cx="5113646" cy="1619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100" b="0" i="0" strike="noStrike">
                <a:solidFill>
                  <a:srgbClr val="0A1F3D">
                    <a:alpha val="90196"/>
                  </a:srgbClr>
                </a:solidFill>
                <a:latin typeface="Source Han Sans"/>
                <a:ea typeface="Source Han Sans"/>
                <a:cs typeface="Source Han Sans"/>
              </a:rPr>
              <a:t>MySQL 8.0.45 保存七张业务表，使用 utf8mb4 字符集支持中文和特殊字符</a:t>
            </a:r>
            <a:endParaRPr lang="en-US" sz="1100"/>
          </a:p>
        </p:txBody>
      </p:sp>
      <p:sp>
        <p:nvSpPr>
          <p:cNvPr id="34" name="TextBox 34"/>
          <p:cNvSpPr txBox="1"/>
          <p:nvPr/>
        </p:nvSpPr>
        <p:spPr>
          <a:xfrm>
            <a:off x="695155" y="6191250"/>
            <a:ext cx="50142" cy="2286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100" b="1" i="0" strike="noStrike">
                <a:solidFill>
                  <a:srgbClr val="5B8CB8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•</a:t>
            </a:r>
            <a:endParaRPr lang="en-US" sz="1100"/>
          </a:p>
        </p:txBody>
      </p:sp>
      <p:sp>
        <p:nvSpPr>
          <p:cNvPr id="35" name="TextBox 35"/>
          <p:cNvSpPr txBox="1"/>
          <p:nvPr/>
        </p:nvSpPr>
        <p:spPr>
          <a:xfrm>
            <a:off x="866558" y="6219825"/>
            <a:ext cx="4875581" cy="1619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100" b="0" i="0" strike="noStrike">
                <a:solidFill>
                  <a:srgbClr val="0A1F3D">
                    <a:alpha val="90196"/>
                  </a:srgbClr>
                </a:solidFill>
                <a:latin typeface="Source Han Sans"/>
                <a:ea typeface="Source Han Sans"/>
                <a:cs typeface="Source Han Sans"/>
              </a:rPr>
              <a:t>对用户名、订单号、用户 - 图书关系等字段建立唯一约束避免重复数据</a:t>
            </a:r>
            <a:endParaRPr lang="en-US" sz="1100"/>
          </a:p>
        </p:txBody>
      </p:sp>
      <p:sp>
        <p:nvSpPr>
          <p:cNvPr id="36" name="TextBox 36"/>
          <p:cNvSpPr txBox="1"/>
          <p:nvPr/>
        </p:nvSpPr>
        <p:spPr>
          <a:xfrm>
            <a:off x="695155" y="6505575"/>
            <a:ext cx="50142" cy="2286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100" b="1" i="0" strike="noStrike">
                <a:solidFill>
                  <a:srgbClr val="5B8CB8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•</a:t>
            </a:r>
            <a:endParaRPr lang="en-US" sz="1100"/>
          </a:p>
        </p:txBody>
      </p:sp>
      <p:sp>
        <p:nvSpPr>
          <p:cNvPr id="37" name="TextBox 37"/>
          <p:cNvSpPr txBox="1"/>
          <p:nvPr/>
        </p:nvSpPr>
        <p:spPr>
          <a:xfrm>
            <a:off x="866558" y="6534150"/>
            <a:ext cx="4875581" cy="1619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100" b="0" i="0" strike="noStrike">
                <a:solidFill>
                  <a:srgbClr val="0A1F3D">
                    <a:alpha val="90196"/>
                  </a:srgbClr>
                </a:solidFill>
                <a:latin typeface="Source Han Sans"/>
                <a:ea typeface="Source Han Sans"/>
                <a:cs typeface="Source Han Sans"/>
              </a:rPr>
              <a:t>对图书分类、卖家、状态、发布时间等字段建立索引提高常用查询性能</a:t>
            </a:r>
            <a:endParaRPr lang="en-US" sz="1100"/>
          </a:p>
        </p:txBody>
      </p:sp>
      <p:sp>
        <p:nvSpPr>
          <p:cNvPr id="38" name="AutoShape 38"/>
          <p:cNvSpPr/>
          <p:nvPr/>
        </p:nvSpPr>
        <p:spPr>
          <a:xfrm>
            <a:off x="6208747" y="5143500"/>
            <a:ext cx="5523118" cy="1714500"/>
          </a:xfrm>
          <a:prstGeom prst="rect">
            <a:avLst/>
          </a:prstGeom>
          <a:blipFill rotWithShape="1">
            <a:blip r:embed="rId2">
              <a:alphaModFix amt="100000"/>
              <a:alphaModFix amt="100000"/>
            </a:blip>
            <a:stretch>
              <a:fillRect/>
            </a:stretch>
          </a:blipFill>
          <a:ln>
            <a:headEnd type="none"/>
            <a:tailEnd type="none"/>
          </a:ln>
        </p:spPr>
      </p:sp>
      <p:sp>
        <p:nvSpPr>
          <p:cNvPr id="39" name="AutoShape 39"/>
          <p:cNvSpPr/>
          <p:nvPr/>
        </p:nvSpPr>
        <p:spPr>
          <a:xfrm>
            <a:off x="6421444" y="5438775"/>
            <a:ext cx="228543" cy="228600"/>
          </a:xfrm>
          <a:custGeom>
            <a:avLst/>
            <a:gdLst/>
            <a:ahLst/>
            <a:cxnLst/>
            <a:rect l="l" t="t" r="r" b="b"/>
            <a:pathLst>
              <a:path w="9998" h="10000">
                <a:moveTo>
                  <a:pt x="433" y="827"/>
                </a:moveTo>
                <a:lnTo>
                  <a:pt x="4999" y="0"/>
                </a:lnTo>
                <a:lnTo>
                  <a:pt x="9565" y="827"/>
                </a:lnTo>
                <a:cubicBezTo>
                  <a:pt x="9691" y="851"/>
                  <a:pt x="9794" y="906"/>
                  <a:pt x="9876" y="991"/>
                </a:cubicBezTo>
                <a:cubicBezTo>
                  <a:pt x="9957" y="1075"/>
                  <a:pt x="9998" y="1169"/>
                  <a:pt x="9998" y="1273"/>
                </a:cubicBezTo>
                <a:lnTo>
                  <a:pt x="9998" y="5809"/>
                </a:lnTo>
                <a:cubicBezTo>
                  <a:pt x="9998" y="6269"/>
                  <a:pt x="9866" y="6700"/>
                  <a:pt x="9604" y="7100"/>
                </a:cubicBezTo>
                <a:cubicBezTo>
                  <a:pt x="9340" y="7500"/>
                  <a:pt x="8975" y="7827"/>
                  <a:pt x="8509" y="8082"/>
                </a:cubicBezTo>
                <a:lnTo>
                  <a:pt x="4999" y="10000"/>
                </a:lnTo>
                <a:lnTo>
                  <a:pt x="1489" y="8082"/>
                </a:lnTo>
                <a:cubicBezTo>
                  <a:pt x="1022" y="7827"/>
                  <a:pt x="657" y="7500"/>
                  <a:pt x="394" y="7100"/>
                </a:cubicBezTo>
                <a:cubicBezTo>
                  <a:pt x="131" y="6700"/>
                  <a:pt x="0" y="6269"/>
                  <a:pt x="0" y="5809"/>
                </a:cubicBezTo>
                <a:lnTo>
                  <a:pt x="0" y="1273"/>
                </a:lnTo>
                <a:cubicBezTo>
                  <a:pt x="0" y="1169"/>
                  <a:pt x="40" y="1075"/>
                  <a:pt x="122" y="991"/>
                </a:cubicBezTo>
                <a:cubicBezTo>
                  <a:pt x="203" y="906"/>
                  <a:pt x="307" y="851"/>
                  <a:pt x="433" y="827"/>
                </a:cubicBezTo>
                <a:moveTo>
                  <a:pt x="8887" y="1636"/>
                </a:moveTo>
                <a:lnTo>
                  <a:pt x="4999" y="927"/>
                </a:lnTo>
                <a:lnTo>
                  <a:pt x="1111" y="1636"/>
                </a:lnTo>
                <a:lnTo>
                  <a:pt x="1111" y="5809"/>
                </a:lnTo>
                <a:cubicBezTo>
                  <a:pt x="1111" y="6118"/>
                  <a:pt x="1198" y="6406"/>
                  <a:pt x="1372" y="6673"/>
                </a:cubicBezTo>
                <a:cubicBezTo>
                  <a:pt x="1546" y="6939"/>
                  <a:pt x="1788" y="7157"/>
                  <a:pt x="2100" y="7327"/>
                </a:cubicBezTo>
                <a:lnTo>
                  <a:pt x="4999" y="8909"/>
                </a:lnTo>
                <a:lnTo>
                  <a:pt x="7898" y="7327"/>
                </a:lnTo>
                <a:cubicBezTo>
                  <a:pt x="8209" y="7157"/>
                  <a:pt x="8452" y="6939"/>
                  <a:pt x="8626" y="6673"/>
                </a:cubicBezTo>
                <a:cubicBezTo>
                  <a:pt x="8800" y="6406"/>
                  <a:pt x="8887" y="6118"/>
                  <a:pt x="8887" y="5809"/>
                </a:cubicBezTo>
                <a:lnTo>
                  <a:pt x="8887" y="1636"/>
                </a:lnTo>
                <a:moveTo>
                  <a:pt x="4999" y="2727"/>
                </a:moveTo>
                <a:cubicBezTo>
                  <a:pt x="5199" y="2727"/>
                  <a:pt x="5384" y="2768"/>
                  <a:pt x="5554" y="2850"/>
                </a:cubicBezTo>
                <a:cubicBezTo>
                  <a:pt x="5724" y="2932"/>
                  <a:pt x="5860" y="3042"/>
                  <a:pt x="5960" y="3182"/>
                </a:cubicBezTo>
                <a:cubicBezTo>
                  <a:pt x="6060" y="3321"/>
                  <a:pt x="6110" y="3472"/>
                  <a:pt x="6110" y="3636"/>
                </a:cubicBezTo>
                <a:cubicBezTo>
                  <a:pt x="6110" y="3800"/>
                  <a:pt x="6060" y="3951"/>
                  <a:pt x="5960" y="4091"/>
                </a:cubicBezTo>
                <a:cubicBezTo>
                  <a:pt x="5860" y="4230"/>
                  <a:pt x="5724" y="4342"/>
                  <a:pt x="5554" y="4427"/>
                </a:cubicBezTo>
                <a:lnTo>
                  <a:pt x="5554" y="6364"/>
                </a:lnTo>
                <a:lnTo>
                  <a:pt x="4444" y="6364"/>
                </a:lnTo>
                <a:lnTo>
                  <a:pt x="4444" y="4427"/>
                </a:lnTo>
                <a:cubicBezTo>
                  <a:pt x="4273" y="4342"/>
                  <a:pt x="4138" y="4230"/>
                  <a:pt x="4038" y="4091"/>
                </a:cubicBezTo>
                <a:cubicBezTo>
                  <a:pt x="3938" y="3951"/>
                  <a:pt x="3888" y="3800"/>
                  <a:pt x="3888" y="3636"/>
                </a:cubicBezTo>
                <a:cubicBezTo>
                  <a:pt x="3888" y="3472"/>
                  <a:pt x="3938" y="3321"/>
                  <a:pt x="4038" y="3182"/>
                </a:cubicBezTo>
                <a:cubicBezTo>
                  <a:pt x="4138" y="3042"/>
                  <a:pt x="4273" y="2932"/>
                  <a:pt x="4444" y="2850"/>
                </a:cubicBezTo>
                <a:cubicBezTo>
                  <a:pt x="4614" y="2768"/>
                  <a:pt x="4799" y="2727"/>
                  <a:pt x="4999" y="2727"/>
                </a:cubicBezTo>
              </a:path>
            </a:pathLst>
          </a:custGeom>
          <a:solidFill>
            <a:srgbClr val="5B8CB8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40" name="TextBox 40"/>
          <p:cNvSpPr txBox="1"/>
          <p:nvPr/>
        </p:nvSpPr>
        <p:spPr>
          <a:xfrm>
            <a:off x="6738889" y="5448300"/>
            <a:ext cx="618970" cy="2095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500" b="1" i="0" strike="noStrike">
                <a:solidFill>
                  <a:srgbClr val="0A1F3D">
                    <a:alpha val="100000"/>
                  </a:srgbClr>
                </a:solidFill>
                <a:latin typeface="Source Han Serif CN"/>
                <a:ea typeface="Source Han Serif CN"/>
                <a:cs typeface="Source Han Serif CN"/>
              </a:rPr>
              <a:t>安全层</a:t>
            </a:r>
            <a:endParaRPr lang="en-US" sz="1100"/>
          </a:p>
        </p:txBody>
      </p:sp>
      <p:sp>
        <p:nvSpPr>
          <p:cNvPr id="41" name="TextBox 41"/>
          <p:cNvSpPr txBox="1"/>
          <p:nvPr/>
        </p:nvSpPr>
        <p:spPr>
          <a:xfrm>
            <a:off x="10915896" y="5486400"/>
            <a:ext cx="606472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solidFill>
                  <a:srgbClr val="0A1F3D">
                    <a:alpha val="50196"/>
                  </a:srgbClr>
                </a:solidFill>
                <a:latin typeface="Inter"/>
                <a:ea typeface="Inter"/>
                <a:cs typeface="Inter"/>
              </a:rPr>
              <a:t>Security</a:t>
            </a:r>
            <a:endParaRPr lang="en-US" sz="1100"/>
          </a:p>
        </p:txBody>
      </p:sp>
      <p:sp>
        <p:nvSpPr>
          <p:cNvPr id="42" name="TextBox 42"/>
          <p:cNvSpPr txBox="1"/>
          <p:nvPr/>
        </p:nvSpPr>
        <p:spPr>
          <a:xfrm>
            <a:off x="6446816" y="5876925"/>
            <a:ext cx="50142" cy="2286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100" b="1" i="0" strike="noStrike">
                <a:solidFill>
                  <a:srgbClr val="5B8CB8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•</a:t>
            </a:r>
            <a:endParaRPr lang="en-US" sz="1100"/>
          </a:p>
        </p:txBody>
      </p:sp>
      <p:sp>
        <p:nvSpPr>
          <p:cNvPr id="43" name="TextBox 43"/>
          <p:cNvSpPr txBox="1"/>
          <p:nvPr/>
        </p:nvSpPr>
        <p:spPr>
          <a:xfrm>
            <a:off x="6618220" y="5905500"/>
            <a:ext cx="4875581" cy="1619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100" b="0" i="0" strike="noStrike">
                <a:solidFill>
                  <a:srgbClr val="0A1F3D">
                    <a:alpha val="90196"/>
                  </a:srgbClr>
                </a:solidFill>
                <a:latin typeface="Source Han Sans"/>
                <a:ea typeface="Source Han Sans"/>
                <a:cs typeface="Source Han Sans"/>
              </a:rPr>
              <a:t>BCrypt 密码加密存储，登录时通过 matches 验证，杜绝明文密码泄露风险</a:t>
            </a:r>
            <a:endParaRPr lang="en-US" sz="1100"/>
          </a:p>
        </p:txBody>
      </p:sp>
      <p:sp>
        <p:nvSpPr>
          <p:cNvPr id="44" name="TextBox 44"/>
          <p:cNvSpPr txBox="1"/>
          <p:nvPr/>
        </p:nvSpPr>
        <p:spPr>
          <a:xfrm>
            <a:off x="6446816" y="6191250"/>
            <a:ext cx="50142" cy="2286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100" b="1" i="0" strike="noStrike">
                <a:solidFill>
                  <a:srgbClr val="5B8CB8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•</a:t>
            </a:r>
            <a:endParaRPr lang="en-US" sz="1100"/>
          </a:p>
        </p:txBody>
      </p:sp>
      <p:sp>
        <p:nvSpPr>
          <p:cNvPr id="45" name="TextBox 45"/>
          <p:cNvSpPr txBox="1"/>
          <p:nvPr/>
        </p:nvSpPr>
        <p:spPr>
          <a:xfrm>
            <a:off x="6618220" y="6219825"/>
            <a:ext cx="4875581" cy="1619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100" b="0" i="0" strike="noStrike">
                <a:solidFill>
                  <a:srgbClr val="0A1F3D">
                    <a:alpha val="90196"/>
                  </a:srgbClr>
                </a:solidFill>
                <a:latin typeface="Source Han Sans"/>
                <a:ea typeface="Source Han Sans"/>
                <a:cs typeface="Source Han Sans"/>
              </a:rPr>
              <a:t>JWT 无状态 Token 实现身份认证，前端路由守卫和后端拦截器双重校验</a:t>
            </a:r>
            <a:endParaRPr lang="en-US" sz="1100"/>
          </a:p>
        </p:txBody>
      </p:sp>
      <p:sp>
        <p:nvSpPr>
          <p:cNvPr id="46" name="TextBox 46"/>
          <p:cNvSpPr txBox="1"/>
          <p:nvPr/>
        </p:nvSpPr>
        <p:spPr>
          <a:xfrm>
            <a:off x="6446816" y="6505575"/>
            <a:ext cx="50142" cy="2286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100" b="1" i="0" strike="noStrike">
                <a:solidFill>
                  <a:srgbClr val="5B8CB8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•</a:t>
            </a:r>
            <a:endParaRPr lang="en-US" sz="1100"/>
          </a:p>
        </p:txBody>
      </p:sp>
      <p:sp>
        <p:nvSpPr>
          <p:cNvPr id="47" name="TextBox 47"/>
          <p:cNvSpPr txBox="1"/>
          <p:nvPr/>
        </p:nvSpPr>
        <p:spPr>
          <a:xfrm>
            <a:off x="6618220" y="6534150"/>
            <a:ext cx="4875581" cy="1619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100" b="0" i="0" strike="noStrike">
                <a:solidFill>
                  <a:srgbClr val="0A1F3D">
                    <a:alpha val="90196"/>
                  </a:srgbClr>
                </a:solidFill>
                <a:latin typeface="Source Han Sans"/>
                <a:ea typeface="Source Han Sans"/>
                <a:cs typeface="Source Han Sans"/>
              </a:rPr>
              <a:t>管理员后台通过 requiresAdmin 标记和 Token 角色信息校验实现权限隔离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333333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3" name="AutoShap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3F5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4" name="TextBox 4"/>
          <p:cNvSpPr txBox="1"/>
          <p:nvPr/>
        </p:nvSpPr>
        <p:spPr>
          <a:xfrm>
            <a:off x="457086" y="476250"/>
            <a:ext cx="11274781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solidFill>
                  <a:srgbClr val="5B8CB8">
                    <a:alpha val="80000"/>
                  </a:srgbClr>
                </a:solidFill>
                <a:latin typeface="Inter"/>
                <a:ea typeface="Inter"/>
                <a:cs typeface="Inter"/>
              </a:rPr>
              <a:t>DATABASE ARCHITECTURE</a:t>
            </a:r>
            <a:endParaRPr lang="en-US" sz="1100"/>
          </a:p>
        </p:txBody>
      </p:sp>
      <p:sp>
        <p:nvSpPr>
          <p:cNvPr id="5" name="TextBox 5"/>
          <p:cNvSpPr txBox="1"/>
          <p:nvPr/>
        </p:nvSpPr>
        <p:spPr>
          <a:xfrm>
            <a:off x="457086" y="762000"/>
            <a:ext cx="11274781" cy="4381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3100" b="1" i="0" strike="noStrike">
                <a:solidFill>
                  <a:srgbClr val="0A1F3D">
                    <a:alpha val="100000"/>
                  </a:srgbClr>
                </a:solidFill>
                <a:latin typeface="Source Han Serif CN"/>
                <a:ea typeface="Source Han Serif CN"/>
                <a:cs typeface="Source Han Serif CN"/>
              </a:rPr>
              <a:t>数据库设计与表结构</a:t>
            </a:r>
            <a:endParaRPr lang="en-US" sz="1100"/>
          </a:p>
        </p:txBody>
      </p:sp>
      <p:sp>
        <p:nvSpPr>
          <p:cNvPr id="6" name="TextBox 6"/>
          <p:cNvSpPr txBox="1"/>
          <p:nvPr/>
        </p:nvSpPr>
        <p:spPr>
          <a:xfrm>
            <a:off x="457086" y="1413421"/>
            <a:ext cx="11274781" cy="464791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300" b="0" i="0" strike="noStrike">
                <a:solidFill>
                  <a:srgbClr val="0A1F3D">
                    <a:alpha val="80000"/>
                  </a:srgbClr>
                </a:solidFill>
                <a:latin typeface="Source Han Sans"/>
                <a:ea typeface="Source Han Sans"/>
                <a:cs typeface="Source Han Sans"/>
              </a:rPr>
              <a:t>基于第三范式规范设计，包含 7 张核心表，覆盖用户、图书、交易全场景。关键字段建立唯一约束与索引，确保</a:t>
            </a:r>
            <a:endParaRPr lang="en-US" sz="1100"/>
          </a:p>
          <a:p>
            <a:pPr algn="l"/>
            <a:r>
              <a:rPr sz="1300" b="0" i="0" strike="noStrike">
                <a:solidFill>
                  <a:srgbClr val="0A1F3D">
                    <a:alpha val="80000"/>
                  </a:srgbClr>
                </a:solidFill>
                <a:latin typeface="Source Han Sans"/>
                <a:ea typeface="Source Han Sans"/>
                <a:cs typeface="Source Han Sans"/>
              </a:rPr>
              <a:t>数据一致性与查询性能。</a:t>
            </a:r>
            <a:endParaRPr sz="1300" b="0" i="0" strike="noStrike">
              <a:solidFill>
                <a:srgbClr val="0A1F3D">
                  <a:alpha val="80000"/>
                </a:srgbClr>
              </a:solidFill>
              <a:latin typeface="Source Han Sans"/>
              <a:ea typeface="Source Han Sans"/>
              <a:cs typeface="Source Han Sans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5861172" y="2228701"/>
            <a:ext cx="9522" cy="3533924"/>
          </a:xfrm>
          <a:prstGeom prst="line">
            <a:avLst/>
          </a:prstGeom>
          <a:ln w="9525">
            <a:solidFill>
              <a:srgbClr val="D1D5DB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8" name="AutoShape 8"/>
          <p:cNvSpPr/>
          <p:nvPr/>
        </p:nvSpPr>
        <p:spPr>
          <a:xfrm>
            <a:off x="426643" y="2297222"/>
            <a:ext cx="274251" cy="274320"/>
          </a:xfrm>
          <a:custGeom>
            <a:avLst/>
            <a:gdLst/>
            <a:ahLst/>
            <a:cxnLst/>
            <a:rect l="l" t="t" r="r" b="b"/>
            <a:pathLst>
              <a:path w="9998" h="10000">
                <a:moveTo>
                  <a:pt x="1111" y="3853"/>
                </a:moveTo>
                <a:lnTo>
                  <a:pt x="1111" y="5000"/>
                </a:lnTo>
                <a:cubicBezTo>
                  <a:pt x="1111" y="5091"/>
                  <a:pt x="1177" y="5200"/>
                  <a:pt x="1311" y="5326"/>
                </a:cubicBezTo>
                <a:cubicBezTo>
                  <a:pt x="1466" y="5466"/>
                  <a:pt x="1684" y="5603"/>
                  <a:pt x="1966" y="5737"/>
                </a:cubicBezTo>
                <a:cubicBezTo>
                  <a:pt x="2351" y="5919"/>
                  <a:pt x="2807" y="6061"/>
                  <a:pt x="3333" y="6163"/>
                </a:cubicBezTo>
                <a:cubicBezTo>
                  <a:pt x="3858" y="6265"/>
                  <a:pt x="4413" y="6316"/>
                  <a:pt x="4999" y="6316"/>
                </a:cubicBezTo>
                <a:cubicBezTo>
                  <a:pt x="5584" y="6316"/>
                  <a:pt x="6139" y="6265"/>
                  <a:pt x="6665" y="6163"/>
                </a:cubicBezTo>
                <a:cubicBezTo>
                  <a:pt x="7191" y="6061"/>
                  <a:pt x="7646" y="5919"/>
                  <a:pt x="8032" y="5737"/>
                </a:cubicBezTo>
                <a:cubicBezTo>
                  <a:pt x="8313" y="5603"/>
                  <a:pt x="8531" y="5466"/>
                  <a:pt x="8687" y="5326"/>
                </a:cubicBezTo>
                <a:cubicBezTo>
                  <a:pt x="8820" y="5200"/>
                  <a:pt x="8887" y="5091"/>
                  <a:pt x="8887" y="5000"/>
                </a:cubicBezTo>
                <a:lnTo>
                  <a:pt x="8887" y="3853"/>
                </a:lnTo>
                <a:cubicBezTo>
                  <a:pt x="8420" y="4126"/>
                  <a:pt x="7853" y="4340"/>
                  <a:pt x="7187" y="4495"/>
                </a:cubicBezTo>
                <a:cubicBezTo>
                  <a:pt x="6498" y="4656"/>
                  <a:pt x="5769" y="4737"/>
                  <a:pt x="4999" y="4737"/>
                </a:cubicBezTo>
                <a:cubicBezTo>
                  <a:pt x="4229" y="4737"/>
                  <a:pt x="3499" y="4656"/>
                  <a:pt x="2811" y="4495"/>
                </a:cubicBezTo>
                <a:cubicBezTo>
                  <a:pt x="2144" y="4340"/>
                  <a:pt x="1577" y="4126"/>
                  <a:pt x="1111" y="3853"/>
                </a:cubicBezTo>
                <a:moveTo>
                  <a:pt x="8887" y="7632"/>
                </a:moveTo>
                <a:lnTo>
                  <a:pt x="8887" y="6484"/>
                </a:lnTo>
                <a:cubicBezTo>
                  <a:pt x="8420" y="6758"/>
                  <a:pt x="7853" y="6972"/>
                  <a:pt x="7187" y="7126"/>
                </a:cubicBezTo>
                <a:cubicBezTo>
                  <a:pt x="6498" y="7287"/>
                  <a:pt x="5769" y="7368"/>
                  <a:pt x="4999" y="7368"/>
                </a:cubicBezTo>
                <a:cubicBezTo>
                  <a:pt x="4229" y="7368"/>
                  <a:pt x="3499" y="7287"/>
                  <a:pt x="2811" y="7126"/>
                </a:cubicBezTo>
                <a:cubicBezTo>
                  <a:pt x="2144" y="6972"/>
                  <a:pt x="1577" y="6758"/>
                  <a:pt x="1111" y="6484"/>
                </a:cubicBezTo>
                <a:lnTo>
                  <a:pt x="1111" y="7632"/>
                </a:lnTo>
                <a:cubicBezTo>
                  <a:pt x="1111" y="7722"/>
                  <a:pt x="1177" y="7831"/>
                  <a:pt x="1311" y="7958"/>
                </a:cubicBezTo>
                <a:cubicBezTo>
                  <a:pt x="1466" y="8098"/>
                  <a:pt x="1684" y="8234"/>
                  <a:pt x="1966" y="8368"/>
                </a:cubicBezTo>
                <a:cubicBezTo>
                  <a:pt x="2351" y="8550"/>
                  <a:pt x="2807" y="8693"/>
                  <a:pt x="3333" y="8795"/>
                </a:cubicBezTo>
                <a:cubicBezTo>
                  <a:pt x="3858" y="8896"/>
                  <a:pt x="4413" y="8947"/>
                  <a:pt x="4999" y="8947"/>
                </a:cubicBezTo>
                <a:cubicBezTo>
                  <a:pt x="5584" y="8947"/>
                  <a:pt x="6139" y="8896"/>
                  <a:pt x="6665" y="8795"/>
                </a:cubicBezTo>
                <a:cubicBezTo>
                  <a:pt x="7191" y="8693"/>
                  <a:pt x="7646" y="8550"/>
                  <a:pt x="8032" y="8368"/>
                </a:cubicBezTo>
                <a:cubicBezTo>
                  <a:pt x="8313" y="8234"/>
                  <a:pt x="8531" y="8098"/>
                  <a:pt x="8687" y="7958"/>
                </a:cubicBezTo>
                <a:cubicBezTo>
                  <a:pt x="8820" y="7831"/>
                  <a:pt x="8887" y="7722"/>
                  <a:pt x="8887" y="7632"/>
                </a:cubicBezTo>
                <a:moveTo>
                  <a:pt x="0" y="7632"/>
                </a:moveTo>
                <a:lnTo>
                  <a:pt x="0" y="2368"/>
                </a:lnTo>
                <a:cubicBezTo>
                  <a:pt x="0" y="1940"/>
                  <a:pt x="226" y="1540"/>
                  <a:pt x="678" y="1168"/>
                </a:cubicBezTo>
                <a:cubicBezTo>
                  <a:pt x="1122" y="817"/>
                  <a:pt x="1721" y="536"/>
                  <a:pt x="2477" y="326"/>
                </a:cubicBezTo>
                <a:cubicBezTo>
                  <a:pt x="3255" y="108"/>
                  <a:pt x="4095" y="0"/>
                  <a:pt x="4999" y="0"/>
                </a:cubicBezTo>
                <a:cubicBezTo>
                  <a:pt x="5902" y="0"/>
                  <a:pt x="6743" y="108"/>
                  <a:pt x="7521" y="326"/>
                </a:cubicBezTo>
                <a:cubicBezTo>
                  <a:pt x="8276" y="536"/>
                  <a:pt x="8876" y="817"/>
                  <a:pt x="9320" y="1168"/>
                </a:cubicBezTo>
                <a:cubicBezTo>
                  <a:pt x="9772" y="1540"/>
                  <a:pt x="9998" y="1940"/>
                  <a:pt x="9998" y="2368"/>
                </a:cubicBezTo>
                <a:lnTo>
                  <a:pt x="9998" y="7632"/>
                </a:lnTo>
                <a:cubicBezTo>
                  <a:pt x="9998" y="8060"/>
                  <a:pt x="9772" y="8460"/>
                  <a:pt x="9320" y="8832"/>
                </a:cubicBezTo>
                <a:cubicBezTo>
                  <a:pt x="8876" y="9182"/>
                  <a:pt x="8276" y="9463"/>
                  <a:pt x="7521" y="9674"/>
                </a:cubicBezTo>
                <a:cubicBezTo>
                  <a:pt x="6743" y="9891"/>
                  <a:pt x="5902" y="10000"/>
                  <a:pt x="4999" y="10000"/>
                </a:cubicBezTo>
                <a:cubicBezTo>
                  <a:pt x="4095" y="10000"/>
                  <a:pt x="3255" y="9891"/>
                  <a:pt x="2477" y="9674"/>
                </a:cubicBezTo>
                <a:cubicBezTo>
                  <a:pt x="1721" y="9463"/>
                  <a:pt x="1122" y="9182"/>
                  <a:pt x="678" y="8832"/>
                </a:cubicBezTo>
                <a:cubicBezTo>
                  <a:pt x="226" y="8460"/>
                  <a:pt x="0" y="8060"/>
                  <a:pt x="0" y="7632"/>
                </a:cubicBezTo>
                <a:moveTo>
                  <a:pt x="4999" y="3684"/>
                </a:moveTo>
                <a:cubicBezTo>
                  <a:pt x="5584" y="3684"/>
                  <a:pt x="6139" y="3633"/>
                  <a:pt x="6665" y="3532"/>
                </a:cubicBezTo>
                <a:cubicBezTo>
                  <a:pt x="7191" y="3430"/>
                  <a:pt x="7646" y="3287"/>
                  <a:pt x="8032" y="3105"/>
                </a:cubicBezTo>
                <a:cubicBezTo>
                  <a:pt x="8313" y="2971"/>
                  <a:pt x="8531" y="2835"/>
                  <a:pt x="8687" y="2695"/>
                </a:cubicBezTo>
                <a:cubicBezTo>
                  <a:pt x="8820" y="2568"/>
                  <a:pt x="8887" y="2459"/>
                  <a:pt x="8887" y="2368"/>
                </a:cubicBezTo>
                <a:cubicBezTo>
                  <a:pt x="8887" y="2277"/>
                  <a:pt x="8820" y="2168"/>
                  <a:pt x="8687" y="2042"/>
                </a:cubicBezTo>
                <a:cubicBezTo>
                  <a:pt x="8531" y="1902"/>
                  <a:pt x="8313" y="1765"/>
                  <a:pt x="8032" y="1632"/>
                </a:cubicBezTo>
                <a:cubicBezTo>
                  <a:pt x="7646" y="1449"/>
                  <a:pt x="7191" y="1307"/>
                  <a:pt x="6665" y="1205"/>
                </a:cubicBezTo>
                <a:cubicBezTo>
                  <a:pt x="6139" y="1103"/>
                  <a:pt x="5584" y="1053"/>
                  <a:pt x="4999" y="1053"/>
                </a:cubicBezTo>
                <a:cubicBezTo>
                  <a:pt x="4413" y="1053"/>
                  <a:pt x="3858" y="1103"/>
                  <a:pt x="3333" y="1205"/>
                </a:cubicBezTo>
                <a:cubicBezTo>
                  <a:pt x="2807" y="1307"/>
                  <a:pt x="2351" y="1449"/>
                  <a:pt x="1966" y="1632"/>
                </a:cubicBezTo>
                <a:cubicBezTo>
                  <a:pt x="1684" y="1765"/>
                  <a:pt x="1466" y="1902"/>
                  <a:pt x="1311" y="2042"/>
                </a:cubicBezTo>
                <a:cubicBezTo>
                  <a:pt x="1177" y="2168"/>
                  <a:pt x="1111" y="2277"/>
                  <a:pt x="1111" y="2368"/>
                </a:cubicBezTo>
                <a:cubicBezTo>
                  <a:pt x="1111" y="2459"/>
                  <a:pt x="1177" y="2568"/>
                  <a:pt x="1311" y="2695"/>
                </a:cubicBezTo>
                <a:cubicBezTo>
                  <a:pt x="1466" y="2835"/>
                  <a:pt x="1684" y="2971"/>
                  <a:pt x="1966" y="3105"/>
                </a:cubicBezTo>
                <a:cubicBezTo>
                  <a:pt x="2351" y="3287"/>
                  <a:pt x="2807" y="3430"/>
                  <a:pt x="3333" y="3532"/>
                </a:cubicBezTo>
                <a:cubicBezTo>
                  <a:pt x="3858" y="3633"/>
                  <a:pt x="4413" y="3684"/>
                  <a:pt x="4999" y="3684"/>
                </a:cubicBezTo>
              </a:path>
            </a:pathLst>
          </a:custGeom>
          <a:solidFill>
            <a:srgbClr val="5B8CB8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9" name="TextBox 9"/>
          <p:cNvSpPr txBox="1"/>
          <p:nvPr/>
        </p:nvSpPr>
        <p:spPr>
          <a:xfrm>
            <a:off x="765678" y="2310557"/>
            <a:ext cx="4866951" cy="2476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r>
              <a:rPr lang="en-US" sz="1800" b="1" i="0" strike="noStrike">
                <a:solidFill>
                  <a:srgbClr val="0A1F3D">
                    <a:alpha val="100000"/>
                  </a:srgbClr>
                </a:solidFill>
                <a:latin typeface="Source Han Serif CN"/>
                <a:ea typeface="Source Han Serif CN"/>
                <a:cs typeface="Source Han Serif CN"/>
              </a:rPr>
              <a:t>核心业务表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57086" y="2716262"/>
            <a:ext cx="380905" cy="19050"/>
          </a:xfrm>
          <a:prstGeom prst="rect">
            <a:avLst/>
          </a:prstGeom>
          <a:solidFill>
            <a:srgbClr val="5B8CB8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11" name="TextBox 11"/>
          <p:cNvSpPr txBox="1"/>
          <p:nvPr/>
        </p:nvSpPr>
        <p:spPr>
          <a:xfrm>
            <a:off x="685629" y="3002012"/>
            <a:ext cx="4947001" cy="40570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200" b="1" i="0" strike="noStrike">
                <a:solidFill>
                  <a:srgbClr val="5B8CB8">
                    <a:alpha val="90196"/>
                  </a:srgbClr>
                </a:solidFill>
                <a:latin typeface="Source Han Sans"/>
                <a:ea typeface="Source Han Sans"/>
                <a:cs typeface="Source Han Sans"/>
              </a:rPr>
              <a:t>user 用户表</a:t>
            </a:r>
            <a:r>
              <a:rPr sz="1200" b="0" i="0" strike="noStrike">
                <a:solidFill>
                  <a:srgbClr val="0A1F3D">
                    <a:alpha val="90196"/>
                  </a:srgbClr>
                </a:solidFill>
                <a:latin typeface="Source Han Sans"/>
                <a:ea typeface="Source Han Sans"/>
                <a:cs typeface="Source Han Sans"/>
              </a:rPr>
              <a:t>：存储用户基础信息，username 和 email 建立唯一索引，</a:t>
            </a:r>
            <a:endParaRPr lang="en-US" sz="1100"/>
          </a:p>
          <a:p>
            <a:pPr algn="l"/>
            <a:r>
              <a:rPr sz="1200" b="0" i="0" strike="noStrike">
                <a:solidFill>
                  <a:srgbClr val="0A1F3D">
                    <a:alpha val="90196"/>
                  </a:srgbClr>
                </a:solidFill>
                <a:latin typeface="Source Han Sans"/>
                <a:ea typeface="Source Han Sans"/>
                <a:cs typeface="Source Han Sans"/>
              </a:rPr>
              <a:t>password 使用 BCrypt 加密存储。</a:t>
            </a:r>
            <a:endParaRPr sz="1200" b="0" i="0" strike="noStrike">
              <a:solidFill>
                <a:srgbClr val="0A1F3D">
                  <a:alpha val="90196"/>
                </a:srgbClr>
              </a:solidFill>
              <a:latin typeface="Source Han Sans"/>
              <a:ea typeface="Source Han Sans"/>
              <a:cs typeface="Source Han Sans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685629" y="3672335"/>
            <a:ext cx="4947001" cy="40570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200" b="1" i="0" strike="noStrike">
                <a:solidFill>
                  <a:srgbClr val="5B8CB8">
                    <a:alpha val="90196"/>
                  </a:srgbClr>
                </a:solidFill>
                <a:latin typeface="Source Han Sans"/>
                <a:ea typeface="Source Han Sans"/>
                <a:cs typeface="Source Han Sans"/>
              </a:rPr>
              <a:t>book 图书表</a:t>
            </a:r>
            <a:r>
              <a:rPr sz="1200" b="0" i="0" strike="noStrike">
                <a:solidFill>
                  <a:srgbClr val="0A1F3D">
                    <a:alpha val="90196"/>
                  </a:srgbClr>
                </a:solidFill>
                <a:latin typeface="Source Han Sans"/>
                <a:ea typeface="Source Han Sans"/>
                <a:cs typeface="Source Han Sans"/>
              </a:rPr>
              <a:t>：存储图书商品信息，包含 title、author、isbn、price、</a:t>
            </a:r>
            <a:endParaRPr lang="en-US" sz="1100"/>
          </a:p>
          <a:p>
            <a:pPr algn="l"/>
            <a:r>
              <a:rPr sz="1200" b="0" i="0" strike="noStrike">
                <a:solidFill>
                  <a:srgbClr val="0A1F3D">
                    <a:alpha val="90196"/>
                  </a:srgbClr>
                </a:solidFill>
                <a:latin typeface="Source Han Sans"/>
                <a:ea typeface="Source Han Sans"/>
                <a:cs typeface="Source Han Sans"/>
              </a:rPr>
              <a:t>condition、cover_image 等核心字段。</a:t>
            </a:r>
            <a:endParaRPr sz="1200" b="0" i="0" strike="noStrike">
              <a:solidFill>
                <a:srgbClr val="0A1F3D">
                  <a:alpha val="90196"/>
                </a:srgbClr>
              </a:solidFill>
              <a:latin typeface="Source Han Sans"/>
              <a:ea typeface="Source Han Sans"/>
              <a:cs typeface="Source Han Sans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685629" y="4342656"/>
            <a:ext cx="4947001" cy="40570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200" b="1" i="0" strike="noStrike">
                <a:solidFill>
                  <a:srgbClr val="5B8CB8">
                    <a:alpha val="90196"/>
                  </a:srgbClr>
                </a:solidFill>
                <a:latin typeface="Source Han Sans"/>
                <a:ea typeface="Source Han Sans"/>
                <a:cs typeface="Source Han Sans"/>
              </a:rPr>
              <a:t>order_info 订单表</a:t>
            </a:r>
            <a:r>
              <a:rPr sz="1200" b="0" i="0" strike="noStrike">
                <a:solidFill>
                  <a:srgbClr val="0A1F3D">
                    <a:alpha val="90196"/>
                  </a:srgbClr>
                </a:solidFill>
                <a:latin typeface="Source Han Sans"/>
                <a:ea typeface="Source Han Sans"/>
                <a:cs typeface="Source Han Sans"/>
              </a:rPr>
              <a:t>：存储完整交易快照，包含 order_no、buyer_id、</a:t>
            </a:r>
            <a:endParaRPr lang="en-US" sz="1100"/>
          </a:p>
          <a:p>
            <a:pPr algn="l"/>
            <a:r>
              <a:rPr sz="1200" b="0" i="0" strike="noStrike">
                <a:solidFill>
                  <a:srgbClr val="0A1F3D">
                    <a:alpha val="90196"/>
                  </a:srgbClr>
                </a:solidFill>
                <a:latin typeface="Source Han Sans"/>
                <a:ea typeface="Source Han Sans"/>
                <a:cs typeface="Source Han Sans"/>
              </a:rPr>
              <a:t>seller_id、book_id、status、total_amount 等。</a:t>
            </a:r>
            <a:endParaRPr sz="1200" b="0" i="0" strike="noStrike">
              <a:solidFill>
                <a:srgbClr val="0A1F3D">
                  <a:alpha val="90196"/>
                </a:srgbClr>
              </a:solidFill>
              <a:latin typeface="Source Han Sans"/>
              <a:ea typeface="Source Han Sans"/>
              <a:cs typeface="Source Han Sans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685629" y="5012978"/>
            <a:ext cx="11046238" cy="40570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200" b="1" i="0" strike="noStrike">
                <a:solidFill>
                  <a:srgbClr val="5B8CB8">
                    <a:alpha val="90196"/>
                  </a:srgbClr>
                </a:solidFill>
                <a:latin typeface="Source Han Sans"/>
                <a:ea typeface="Source Han Sans"/>
                <a:cs typeface="Source Han Sans"/>
              </a:rPr>
              <a:t>cart 购物车表</a:t>
            </a:r>
            <a:r>
              <a:rPr sz="1200" b="0" i="0" strike="noStrike">
                <a:solidFill>
                  <a:srgbClr val="0A1F3D">
                    <a:alpha val="90196"/>
                  </a:srgbClr>
                </a:solidFill>
                <a:latin typeface="Source Han Sans"/>
                <a:ea typeface="Source Han Sans"/>
                <a:cs typeface="Source Han Sans"/>
              </a:rPr>
              <a:t>：存储用户购物车项，user_id 和 book_id 联合唯一索引防</a:t>
            </a:r>
            <a:endParaRPr lang="en-US" sz="1100"/>
          </a:p>
          <a:p>
            <a:pPr algn="l"/>
            <a:r>
              <a:rPr sz="1200" b="0" i="0" strike="noStrike">
                <a:solidFill>
                  <a:srgbClr val="0A1F3D">
                    <a:alpha val="90196"/>
                  </a:srgbClr>
                </a:solidFill>
                <a:latin typeface="Source Han Sans"/>
                <a:ea typeface="Source Han Sans"/>
                <a:cs typeface="Source Han Sans"/>
              </a:rPr>
              <a:t>止同一用户重复添加同一本书。</a:t>
            </a:r>
            <a:endParaRPr sz="1200" b="0" i="0" strike="noStrike">
              <a:solidFill>
                <a:srgbClr val="0A1F3D">
                  <a:alpha val="90196"/>
                </a:srgbClr>
              </a:solidFill>
              <a:latin typeface="Source Han Sans"/>
              <a:ea typeface="Source Han Sans"/>
              <a:cs typeface="Source Han Sans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6525880" y="2297222"/>
            <a:ext cx="274251" cy="274320"/>
          </a:xfrm>
          <a:custGeom>
            <a:avLst/>
            <a:gdLst/>
            <a:ahLst/>
            <a:cxnLst/>
            <a:rect l="l" t="t" r="r" b="b"/>
            <a:pathLst>
              <a:path w="9998" h="10000">
                <a:moveTo>
                  <a:pt x="0" y="3889"/>
                </a:moveTo>
                <a:lnTo>
                  <a:pt x="0" y="556"/>
                </a:lnTo>
                <a:cubicBezTo>
                  <a:pt x="0" y="400"/>
                  <a:pt x="53" y="268"/>
                  <a:pt x="161" y="161"/>
                </a:cubicBezTo>
                <a:cubicBezTo>
                  <a:pt x="268" y="53"/>
                  <a:pt x="399" y="0"/>
                  <a:pt x="555" y="0"/>
                </a:cubicBezTo>
                <a:lnTo>
                  <a:pt x="3888" y="0"/>
                </a:lnTo>
                <a:cubicBezTo>
                  <a:pt x="4043" y="0"/>
                  <a:pt x="4174" y="53"/>
                  <a:pt x="4282" y="161"/>
                </a:cubicBezTo>
                <a:cubicBezTo>
                  <a:pt x="4390" y="268"/>
                  <a:pt x="4444" y="400"/>
                  <a:pt x="4444" y="556"/>
                </a:cubicBezTo>
                <a:lnTo>
                  <a:pt x="4444" y="3889"/>
                </a:lnTo>
                <a:cubicBezTo>
                  <a:pt x="4444" y="4044"/>
                  <a:pt x="4390" y="4175"/>
                  <a:pt x="4282" y="4283"/>
                </a:cubicBezTo>
                <a:cubicBezTo>
                  <a:pt x="4174" y="4390"/>
                  <a:pt x="4043" y="4444"/>
                  <a:pt x="3888" y="4444"/>
                </a:cubicBezTo>
                <a:lnTo>
                  <a:pt x="555" y="4444"/>
                </a:lnTo>
                <a:cubicBezTo>
                  <a:pt x="399" y="4444"/>
                  <a:pt x="268" y="4390"/>
                  <a:pt x="161" y="4283"/>
                </a:cubicBezTo>
                <a:cubicBezTo>
                  <a:pt x="53" y="4175"/>
                  <a:pt x="0" y="4044"/>
                  <a:pt x="0" y="3889"/>
                </a:cubicBezTo>
                <a:moveTo>
                  <a:pt x="0" y="9444"/>
                </a:moveTo>
                <a:lnTo>
                  <a:pt x="0" y="6111"/>
                </a:lnTo>
                <a:cubicBezTo>
                  <a:pt x="0" y="5955"/>
                  <a:pt x="53" y="5824"/>
                  <a:pt x="161" y="5717"/>
                </a:cubicBezTo>
                <a:cubicBezTo>
                  <a:pt x="268" y="5609"/>
                  <a:pt x="399" y="5556"/>
                  <a:pt x="555" y="5556"/>
                </a:cubicBezTo>
                <a:lnTo>
                  <a:pt x="3888" y="5556"/>
                </a:lnTo>
                <a:cubicBezTo>
                  <a:pt x="4043" y="5556"/>
                  <a:pt x="4174" y="5609"/>
                  <a:pt x="4282" y="5717"/>
                </a:cubicBezTo>
                <a:cubicBezTo>
                  <a:pt x="4390" y="5824"/>
                  <a:pt x="4444" y="5955"/>
                  <a:pt x="4444" y="6111"/>
                </a:cubicBezTo>
                <a:lnTo>
                  <a:pt x="4444" y="9444"/>
                </a:lnTo>
                <a:cubicBezTo>
                  <a:pt x="4444" y="9600"/>
                  <a:pt x="4390" y="9731"/>
                  <a:pt x="4282" y="9839"/>
                </a:cubicBezTo>
                <a:cubicBezTo>
                  <a:pt x="4174" y="9946"/>
                  <a:pt x="4043" y="10000"/>
                  <a:pt x="3888" y="10000"/>
                </a:cubicBezTo>
                <a:lnTo>
                  <a:pt x="555" y="10000"/>
                </a:lnTo>
                <a:cubicBezTo>
                  <a:pt x="399" y="10000"/>
                  <a:pt x="268" y="9946"/>
                  <a:pt x="161" y="9839"/>
                </a:cubicBezTo>
                <a:cubicBezTo>
                  <a:pt x="53" y="9731"/>
                  <a:pt x="0" y="9600"/>
                  <a:pt x="0" y="9444"/>
                </a:cubicBezTo>
                <a:moveTo>
                  <a:pt x="5554" y="3889"/>
                </a:moveTo>
                <a:lnTo>
                  <a:pt x="5554" y="556"/>
                </a:lnTo>
                <a:cubicBezTo>
                  <a:pt x="5554" y="400"/>
                  <a:pt x="5608" y="268"/>
                  <a:pt x="5716" y="161"/>
                </a:cubicBezTo>
                <a:cubicBezTo>
                  <a:pt x="5823" y="53"/>
                  <a:pt x="5954" y="0"/>
                  <a:pt x="6110" y="0"/>
                </a:cubicBezTo>
                <a:lnTo>
                  <a:pt x="9443" y="0"/>
                </a:lnTo>
                <a:cubicBezTo>
                  <a:pt x="9598" y="0"/>
                  <a:pt x="9729" y="53"/>
                  <a:pt x="9837" y="161"/>
                </a:cubicBezTo>
                <a:cubicBezTo>
                  <a:pt x="9944" y="268"/>
                  <a:pt x="9998" y="400"/>
                  <a:pt x="9998" y="556"/>
                </a:cubicBezTo>
                <a:lnTo>
                  <a:pt x="9998" y="3889"/>
                </a:lnTo>
                <a:cubicBezTo>
                  <a:pt x="9998" y="4044"/>
                  <a:pt x="9944" y="4175"/>
                  <a:pt x="9837" y="4283"/>
                </a:cubicBezTo>
                <a:cubicBezTo>
                  <a:pt x="9729" y="4390"/>
                  <a:pt x="9598" y="4444"/>
                  <a:pt x="9443" y="4444"/>
                </a:cubicBezTo>
                <a:lnTo>
                  <a:pt x="6110" y="4444"/>
                </a:lnTo>
                <a:cubicBezTo>
                  <a:pt x="5954" y="4444"/>
                  <a:pt x="5823" y="4390"/>
                  <a:pt x="5716" y="4283"/>
                </a:cubicBezTo>
                <a:cubicBezTo>
                  <a:pt x="5608" y="4175"/>
                  <a:pt x="5554" y="4044"/>
                  <a:pt x="5554" y="3889"/>
                </a:cubicBezTo>
                <a:moveTo>
                  <a:pt x="5554" y="9444"/>
                </a:moveTo>
                <a:lnTo>
                  <a:pt x="5554" y="6111"/>
                </a:lnTo>
                <a:cubicBezTo>
                  <a:pt x="5554" y="5955"/>
                  <a:pt x="5608" y="5824"/>
                  <a:pt x="5716" y="5717"/>
                </a:cubicBezTo>
                <a:cubicBezTo>
                  <a:pt x="5823" y="5609"/>
                  <a:pt x="5954" y="5556"/>
                  <a:pt x="6110" y="5556"/>
                </a:cubicBezTo>
                <a:lnTo>
                  <a:pt x="9443" y="5556"/>
                </a:lnTo>
                <a:cubicBezTo>
                  <a:pt x="9598" y="5556"/>
                  <a:pt x="9729" y="5609"/>
                  <a:pt x="9837" y="5717"/>
                </a:cubicBezTo>
                <a:cubicBezTo>
                  <a:pt x="9944" y="5824"/>
                  <a:pt x="9998" y="5955"/>
                  <a:pt x="9998" y="6111"/>
                </a:cubicBezTo>
                <a:lnTo>
                  <a:pt x="9998" y="9444"/>
                </a:lnTo>
                <a:cubicBezTo>
                  <a:pt x="9998" y="9600"/>
                  <a:pt x="9944" y="9731"/>
                  <a:pt x="9837" y="9839"/>
                </a:cubicBezTo>
                <a:cubicBezTo>
                  <a:pt x="9729" y="9946"/>
                  <a:pt x="9598" y="10000"/>
                  <a:pt x="9443" y="10000"/>
                </a:cubicBezTo>
                <a:lnTo>
                  <a:pt x="6110" y="10000"/>
                </a:lnTo>
                <a:cubicBezTo>
                  <a:pt x="5954" y="10000"/>
                  <a:pt x="5823" y="9946"/>
                  <a:pt x="5716" y="9839"/>
                </a:cubicBezTo>
                <a:cubicBezTo>
                  <a:pt x="5608" y="9731"/>
                  <a:pt x="5554" y="9600"/>
                  <a:pt x="5554" y="9444"/>
                </a:cubicBezTo>
                <a:moveTo>
                  <a:pt x="8887" y="1111"/>
                </a:moveTo>
                <a:lnTo>
                  <a:pt x="6665" y="1111"/>
                </a:lnTo>
                <a:lnTo>
                  <a:pt x="6665" y="3333"/>
                </a:lnTo>
                <a:lnTo>
                  <a:pt x="8887" y="3333"/>
                </a:lnTo>
                <a:lnTo>
                  <a:pt x="8887" y="1111"/>
                </a:lnTo>
                <a:moveTo>
                  <a:pt x="8887" y="6667"/>
                </a:moveTo>
                <a:lnTo>
                  <a:pt x="6665" y="6667"/>
                </a:lnTo>
                <a:lnTo>
                  <a:pt x="6665" y="8889"/>
                </a:lnTo>
                <a:lnTo>
                  <a:pt x="8887" y="8889"/>
                </a:lnTo>
                <a:lnTo>
                  <a:pt x="8887" y="6667"/>
                </a:lnTo>
                <a:moveTo>
                  <a:pt x="3333" y="1111"/>
                </a:moveTo>
                <a:lnTo>
                  <a:pt x="1111" y="1111"/>
                </a:lnTo>
                <a:lnTo>
                  <a:pt x="1111" y="3333"/>
                </a:lnTo>
                <a:lnTo>
                  <a:pt x="3333" y="3333"/>
                </a:lnTo>
                <a:lnTo>
                  <a:pt x="3333" y="1111"/>
                </a:lnTo>
                <a:moveTo>
                  <a:pt x="3333" y="6667"/>
                </a:moveTo>
                <a:lnTo>
                  <a:pt x="1111" y="6667"/>
                </a:lnTo>
                <a:lnTo>
                  <a:pt x="1111" y="8889"/>
                </a:lnTo>
                <a:lnTo>
                  <a:pt x="3333" y="8889"/>
                </a:lnTo>
              </a:path>
            </a:pathLst>
          </a:custGeom>
          <a:solidFill>
            <a:srgbClr val="5B8CB8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16" name="TextBox 16"/>
          <p:cNvSpPr txBox="1"/>
          <p:nvPr/>
        </p:nvSpPr>
        <p:spPr>
          <a:xfrm>
            <a:off x="6864915" y="2310557"/>
            <a:ext cx="4866951" cy="2476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r>
              <a:rPr lang="en-US" sz="1800" b="1" i="0" strike="noStrike">
                <a:solidFill>
                  <a:srgbClr val="0A1F3D">
                    <a:alpha val="100000"/>
                  </a:srgbClr>
                </a:solidFill>
                <a:latin typeface="Source Han Serif CN"/>
                <a:ea typeface="Source Han Serif CN"/>
                <a:cs typeface="Source Han Serif CN"/>
              </a:rPr>
              <a:t>辅助功能表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556323" y="2716262"/>
            <a:ext cx="380905" cy="19050"/>
          </a:xfrm>
          <a:prstGeom prst="rect">
            <a:avLst/>
          </a:prstGeom>
          <a:solidFill>
            <a:srgbClr val="5B8CB8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18" name="TextBox 18"/>
          <p:cNvSpPr txBox="1"/>
          <p:nvPr/>
        </p:nvSpPr>
        <p:spPr>
          <a:xfrm>
            <a:off x="6784866" y="3002012"/>
            <a:ext cx="4947001" cy="40570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200" b="1" i="0" strike="noStrike">
                <a:solidFill>
                  <a:srgbClr val="5B8CB8">
                    <a:alpha val="90196"/>
                  </a:srgbClr>
                </a:solidFill>
                <a:latin typeface="Source Han Sans"/>
                <a:ea typeface="Source Han Sans"/>
                <a:cs typeface="Source Han Sans"/>
              </a:rPr>
              <a:t>book_category 分类表</a:t>
            </a:r>
            <a:r>
              <a:rPr sz="1200" b="0" i="0" strike="noStrike">
                <a:solidFill>
                  <a:srgbClr val="0A1F3D">
                    <a:alpha val="90196"/>
                  </a:srgbClr>
                </a:solidFill>
                <a:latin typeface="Source Han Sans"/>
                <a:ea typeface="Source Han Sans"/>
                <a:cs typeface="Source Han Sans"/>
              </a:rPr>
              <a:t>：存储图书分类信息，系统预置 6 个默认分类，</a:t>
            </a:r>
            <a:endParaRPr lang="en-US" sz="1100"/>
          </a:p>
          <a:p>
            <a:pPr algn="l"/>
            <a:r>
              <a:rPr sz="1200" b="0" i="0" strike="noStrike">
                <a:solidFill>
                  <a:srgbClr val="0A1F3D">
                    <a:alpha val="90196"/>
                  </a:srgbClr>
                </a:solidFill>
                <a:latin typeface="Source Han Sans"/>
                <a:ea typeface="Source Han Sans"/>
                <a:cs typeface="Source Han Sans"/>
              </a:rPr>
              <a:t>sort_order 字段控制展示顺序。</a:t>
            </a:r>
            <a:endParaRPr sz="1200" b="0" i="0" strike="noStrike">
              <a:solidFill>
                <a:srgbClr val="0A1F3D">
                  <a:alpha val="90196"/>
                </a:srgbClr>
              </a:solidFill>
              <a:latin typeface="Source Han Sans"/>
              <a:ea typeface="Source Han Sans"/>
              <a:cs typeface="Source Han Sans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6784866" y="3672335"/>
            <a:ext cx="4947001" cy="40570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200" b="1" i="0" strike="noStrike">
                <a:solidFill>
                  <a:srgbClr val="5B8CB8">
                    <a:alpha val="90196"/>
                  </a:srgbClr>
                </a:solidFill>
                <a:latin typeface="Source Han Sans"/>
                <a:ea typeface="Source Han Sans"/>
                <a:cs typeface="Source Han Sans"/>
              </a:rPr>
              <a:t>favorite 收藏表</a:t>
            </a:r>
            <a:r>
              <a:rPr sz="1200" b="0" i="0" strike="noStrike">
                <a:solidFill>
                  <a:srgbClr val="0A1F3D">
                    <a:alpha val="90196"/>
                  </a:srgbClr>
                </a:solidFill>
                <a:latin typeface="Source Han Sans"/>
                <a:ea typeface="Source Han Sans"/>
                <a:cs typeface="Source Han Sans"/>
              </a:rPr>
              <a:t>：存储用户收藏关系，user_id 和 book_id 联合唯一索引</a:t>
            </a:r>
            <a:endParaRPr lang="en-US" sz="1100"/>
          </a:p>
          <a:p>
            <a:pPr algn="l"/>
            <a:r>
              <a:rPr sz="1200" b="0" i="0" strike="noStrike">
                <a:solidFill>
                  <a:srgbClr val="0A1F3D">
                    <a:alpha val="90196"/>
                  </a:srgbClr>
                </a:solidFill>
                <a:latin typeface="Source Han Sans"/>
                <a:ea typeface="Source Han Sans"/>
                <a:cs typeface="Source Han Sans"/>
              </a:rPr>
              <a:t>防止重复收藏同一本书。</a:t>
            </a:r>
            <a:endParaRPr sz="1200" b="0" i="0" strike="noStrike">
              <a:solidFill>
                <a:srgbClr val="0A1F3D">
                  <a:alpha val="90196"/>
                </a:srgbClr>
              </a:solidFill>
              <a:latin typeface="Source Han Sans"/>
              <a:ea typeface="Source Han Sans"/>
              <a:cs typeface="Source Han Sans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6784866" y="4342656"/>
            <a:ext cx="4948191" cy="40570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200" b="1" i="0" strike="noStrike">
                <a:solidFill>
                  <a:srgbClr val="5B8CB8">
                    <a:alpha val="90196"/>
                  </a:srgbClr>
                </a:solidFill>
                <a:latin typeface="Source Han Sans"/>
                <a:ea typeface="Source Han Sans"/>
                <a:cs typeface="Source Han Sans"/>
              </a:rPr>
              <a:t>announcement 公告表</a:t>
            </a:r>
            <a:r>
              <a:rPr sz="1200" b="0" i="0" strike="noStrike">
                <a:solidFill>
                  <a:srgbClr val="0A1F3D">
                    <a:alpha val="90196"/>
                  </a:srgbClr>
                </a:solidFill>
                <a:latin typeface="Source Han Sans"/>
                <a:ea typeface="Source Han Sans"/>
                <a:cs typeface="Source Han Sans"/>
              </a:rPr>
              <a:t>：存储平台公告信息，支持 is_pinned 置顶功能，</a:t>
            </a:r>
            <a:endParaRPr lang="en-US" sz="1100"/>
          </a:p>
          <a:p>
            <a:pPr algn="l"/>
            <a:r>
              <a:rPr sz="1200" b="0" i="0" strike="noStrike">
                <a:solidFill>
                  <a:srgbClr val="0A1F3D">
                    <a:alpha val="90196"/>
                  </a:srgbClr>
                </a:solidFill>
                <a:latin typeface="Source Han Sans"/>
                <a:ea typeface="Source Han Sans"/>
                <a:cs typeface="Source Han Sans"/>
              </a:rPr>
              <a:t>前台首页同步展示。</a:t>
            </a:r>
            <a:endParaRPr sz="1200" b="0" i="0" strike="noStrike">
              <a:solidFill>
                <a:srgbClr val="0A1F3D">
                  <a:alpha val="90196"/>
                </a:srgbClr>
              </a:solidFill>
              <a:latin typeface="Source Han Sans"/>
              <a:ea typeface="Source Han Sans"/>
              <a:cs typeface="Source Han Sans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6784866" y="5012978"/>
            <a:ext cx="4947001" cy="1619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200" b="0" i="1" strike="noStrike">
                <a:solidFill>
                  <a:srgbClr val="0A1F3D">
                    <a:alpha val="40000"/>
                  </a:srgbClr>
                </a:solidFill>
                <a:latin typeface="Source Han Sans"/>
                <a:ea typeface="Source Han Sans"/>
                <a:cs typeface="Source Han Sans"/>
              </a:rPr>
              <a:t>所有表均遵循 ACID 原则，支持事务回滚与并发控制。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457086" y="6067425"/>
            <a:ext cx="11274781" cy="9525"/>
          </a:xfrm>
          <a:prstGeom prst="line">
            <a:avLst/>
          </a:prstGeom>
          <a:ln w="9525">
            <a:solidFill>
              <a:srgbClr val="D1D5DB">
                <a:alpha val="60000"/>
              </a:srgbClr>
            </a:solidFill>
            <a:prstDash val="solid"/>
            <a:headEnd type="none"/>
            <a:tailEnd type="none"/>
          </a:ln>
        </p:spPr>
      </p:sp>
      <p:sp>
        <p:nvSpPr>
          <p:cNvPr id="23" name="TextBox 23"/>
          <p:cNvSpPr txBox="1"/>
          <p:nvPr/>
        </p:nvSpPr>
        <p:spPr>
          <a:xfrm>
            <a:off x="457086" y="6248400"/>
            <a:ext cx="828617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solidFill>
                  <a:srgbClr val="0A1F3D">
                    <a:alpha val="100000"/>
                  </a:srgbClr>
                </a:solidFill>
                <a:latin typeface="Inter"/>
                <a:ea typeface="Inter"/>
                <a:cs typeface="Inter"/>
              </a:rPr>
              <a:t>数据库设计 · 07</a:t>
            </a:r>
            <a:endParaRPr lang="en-US" sz="1100"/>
          </a:p>
        </p:txBody>
      </p:sp>
      <p:sp>
        <p:nvSpPr>
          <p:cNvPr id="24" name="TextBox 24"/>
          <p:cNvSpPr txBox="1"/>
          <p:nvPr/>
        </p:nvSpPr>
        <p:spPr>
          <a:xfrm>
            <a:off x="9801899" y="6248400"/>
            <a:ext cx="1958534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solidFill>
                  <a:srgbClr val="0A1F3D">
                    <a:alpha val="100000"/>
                  </a:srgbClr>
                </a:solidFill>
                <a:latin typeface="Inter"/>
                <a:ea typeface="Inter"/>
                <a:cs typeface="Inter"/>
              </a:rPr>
              <a:t>校园二手图书交易平台 - 项目结项答辩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333333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3" name="AutoShap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3F5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4" name="AutoShape 4"/>
          <p:cNvSpPr/>
          <p:nvPr/>
        </p:nvSpPr>
        <p:spPr>
          <a:xfrm>
            <a:off x="448977" y="485775"/>
            <a:ext cx="114271" cy="114300"/>
          </a:xfrm>
          <a:custGeom>
            <a:avLst/>
            <a:gdLst/>
            <a:ahLst/>
            <a:cxnLst/>
            <a:rect l="l" t="t" r="r" b="b"/>
            <a:pathLst>
              <a:path w="9998" h="10000">
                <a:moveTo>
                  <a:pt x="7640" y="1856"/>
                </a:moveTo>
                <a:lnTo>
                  <a:pt x="9998" y="5000"/>
                </a:lnTo>
                <a:lnTo>
                  <a:pt x="7640" y="8144"/>
                </a:lnTo>
                <a:lnTo>
                  <a:pt x="7049" y="7356"/>
                </a:lnTo>
                <a:lnTo>
                  <a:pt x="8823" y="5000"/>
                </a:lnTo>
                <a:lnTo>
                  <a:pt x="7049" y="2644"/>
                </a:lnTo>
                <a:lnTo>
                  <a:pt x="7640" y="1856"/>
                </a:lnTo>
                <a:moveTo>
                  <a:pt x="2949" y="2644"/>
                </a:moveTo>
                <a:lnTo>
                  <a:pt x="1175" y="5000"/>
                </a:lnTo>
                <a:lnTo>
                  <a:pt x="2949" y="7356"/>
                </a:lnTo>
                <a:lnTo>
                  <a:pt x="2358" y="8144"/>
                </a:lnTo>
                <a:lnTo>
                  <a:pt x="0" y="5000"/>
                </a:lnTo>
                <a:lnTo>
                  <a:pt x="2358" y="1856"/>
                </a:lnTo>
                <a:lnTo>
                  <a:pt x="2949" y="2644"/>
                </a:lnTo>
                <a:moveTo>
                  <a:pt x="6807" y="0"/>
                </a:moveTo>
                <a:lnTo>
                  <a:pt x="4074" y="10000"/>
                </a:lnTo>
                <a:lnTo>
                  <a:pt x="3191" y="10000"/>
                </a:lnTo>
                <a:lnTo>
                  <a:pt x="5924" y="0"/>
                </a:lnTo>
              </a:path>
            </a:pathLst>
          </a:custGeom>
          <a:solidFill>
            <a:srgbClr val="5B8CB8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5" name="TextBox 5"/>
          <p:cNvSpPr txBox="1"/>
          <p:nvPr/>
        </p:nvSpPr>
        <p:spPr>
          <a:xfrm>
            <a:off x="631320" y="476250"/>
            <a:ext cx="11100547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r>
              <a:rPr lang="en-US" sz="900" b="0" i="0" strike="noStrike">
                <a:solidFill>
                  <a:srgbClr val="0A1F3D">
                    <a:alpha val="50196"/>
                  </a:srgbClr>
                </a:solidFill>
                <a:latin typeface="Inter"/>
                <a:ea typeface="Inter"/>
                <a:cs typeface="Inter"/>
              </a:rPr>
              <a:t>CORE MODULES</a:t>
            </a:r>
            <a:endParaRPr lang="en-US" sz="1100"/>
          </a:p>
        </p:txBody>
      </p:sp>
      <p:sp>
        <p:nvSpPr>
          <p:cNvPr id="6" name="TextBox 6"/>
          <p:cNvSpPr txBox="1"/>
          <p:nvPr/>
        </p:nvSpPr>
        <p:spPr>
          <a:xfrm>
            <a:off x="457086" y="741016"/>
            <a:ext cx="11274781" cy="4286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3000" b="1" i="0" strike="noStrike">
                <a:solidFill>
                  <a:srgbClr val="0A1F3D">
                    <a:alpha val="100000"/>
                  </a:srgbClr>
                </a:solidFill>
                <a:latin typeface="Source Han Serif CN"/>
                <a:ea typeface="Source Han Serif CN"/>
                <a:cs typeface="Source Han Serif CN"/>
              </a:rPr>
              <a:t>核心功能实现（一）：</a:t>
            </a:r>
            <a:r>
              <a:rPr sz="3000" b="1" i="0" strike="noStrike">
                <a:solidFill>
                  <a:srgbClr val="5B8CB8">
                    <a:alpha val="100000"/>
                  </a:srgbClr>
                </a:solidFill>
                <a:latin typeface="Source Han Serif CN"/>
                <a:ea typeface="Source Han Serif CN"/>
                <a:cs typeface="Source Han Serif CN"/>
              </a:rPr>
              <a:t>用户与图书模块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457086" y="1417291"/>
            <a:ext cx="5523120" cy="3867150"/>
          </a:xfrm>
          <a:prstGeom prst="rect">
            <a:avLst/>
          </a:prstGeom>
          <a:blipFill rotWithShape="1">
            <a:blip r:embed="rId1">
              <a:alphaModFix amt="100000"/>
              <a:alphaModFix amt="100000"/>
            </a:blip>
            <a:stretch>
              <a:fillRect/>
            </a:stretch>
          </a:blipFill>
          <a:ln>
            <a:headEnd type="none"/>
            <a:tailEnd type="none"/>
          </a:ln>
        </p:spPr>
      </p:sp>
      <p:sp>
        <p:nvSpPr>
          <p:cNvPr id="8" name="AutoShape 8"/>
          <p:cNvSpPr/>
          <p:nvPr/>
        </p:nvSpPr>
        <p:spPr>
          <a:xfrm>
            <a:off x="669783" y="1712566"/>
            <a:ext cx="228543" cy="228600"/>
          </a:xfrm>
          <a:custGeom>
            <a:avLst/>
            <a:gdLst/>
            <a:ahLst/>
            <a:cxnLst/>
            <a:rect l="l" t="t" r="r" b="b"/>
            <a:pathLst>
              <a:path w="9998" h="10000">
                <a:moveTo>
                  <a:pt x="4264" y="5898"/>
                </a:moveTo>
                <a:lnTo>
                  <a:pt x="4264" y="6806"/>
                </a:lnTo>
                <a:cubicBezTo>
                  <a:pt x="3688" y="6806"/>
                  <a:pt x="3151" y="6930"/>
                  <a:pt x="2654" y="7178"/>
                </a:cubicBezTo>
                <a:cubicBezTo>
                  <a:pt x="2170" y="7420"/>
                  <a:pt x="1787" y="7743"/>
                  <a:pt x="1503" y="8149"/>
                </a:cubicBezTo>
                <a:cubicBezTo>
                  <a:pt x="1211" y="8572"/>
                  <a:pt x="1066" y="9032"/>
                  <a:pt x="1066" y="9528"/>
                </a:cubicBezTo>
                <a:lnTo>
                  <a:pt x="0" y="9528"/>
                </a:lnTo>
                <a:cubicBezTo>
                  <a:pt x="0" y="8868"/>
                  <a:pt x="195" y="8257"/>
                  <a:pt x="586" y="7695"/>
                </a:cubicBezTo>
                <a:cubicBezTo>
                  <a:pt x="962" y="7144"/>
                  <a:pt x="1470" y="6708"/>
                  <a:pt x="2110" y="6388"/>
                </a:cubicBezTo>
                <a:cubicBezTo>
                  <a:pt x="2771" y="6061"/>
                  <a:pt x="3489" y="5898"/>
                  <a:pt x="4264" y="5898"/>
                </a:cubicBezTo>
                <a:moveTo>
                  <a:pt x="4264" y="5445"/>
                </a:moveTo>
                <a:cubicBezTo>
                  <a:pt x="3688" y="5445"/>
                  <a:pt x="3151" y="5321"/>
                  <a:pt x="2654" y="5073"/>
                </a:cubicBezTo>
                <a:cubicBezTo>
                  <a:pt x="2170" y="4831"/>
                  <a:pt x="1787" y="4504"/>
                  <a:pt x="1503" y="4093"/>
                </a:cubicBezTo>
                <a:cubicBezTo>
                  <a:pt x="1211" y="3669"/>
                  <a:pt x="1066" y="3210"/>
                  <a:pt x="1066" y="2718"/>
                </a:cubicBezTo>
                <a:cubicBezTo>
                  <a:pt x="1066" y="2224"/>
                  <a:pt x="1211" y="1766"/>
                  <a:pt x="1503" y="1343"/>
                </a:cubicBezTo>
                <a:cubicBezTo>
                  <a:pt x="1787" y="937"/>
                  <a:pt x="2170" y="614"/>
                  <a:pt x="2654" y="372"/>
                </a:cubicBezTo>
                <a:cubicBezTo>
                  <a:pt x="3151" y="124"/>
                  <a:pt x="3689" y="0"/>
                  <a:pt x="4269" y="0"/>
                </a:cubicBezTo>
                <a:cubicBezTo>
                  <a:pt x="4848" y="0"/>
                  <a:pt x="5386" y="124"/>
                  <a:pt x="5884" y="372"/>
                </a:cubicBezTo>
                <a:cubicBezTo>
                  <a:pt x="6360" y="614"/>
                  <a:pt x="6740" y="937"/>
                  <a:pt x="7024" y="1343"/>
                </a:cubicBezTo>
                <a:cubicBezTo>
                  <a:pt x="7315" y="1766"/>
                  <a:pt x="7461" y="2224"/>
                  <a:pt x="7461" y="2718"/>
                </a:cubicBezTo>
                <a:cubicBezTo>
                  <a:pt x="7461" y="3210"/>
                  <a:pt x="7315" y="3669"/>
                  <a:pt x="7024" y="4093"/>
                </a:cubicBezTo>
                <a:cubicBezTo>
                  <a:pt x="6740" y="4504"/>
                  <a:pt x="6360" y="4831"/>
                  <a:pt x="5884" y="5073"/>
                </a:cubicBezTo>
                <a:cubicBezTo>
                  <a:pt x="5386" y="5321"/>
                  <a:pt x="4846" y="5445"/>
                  <a:pt x="4264" y="5445"/>
                </a:cubicBezTo>
                <a:moveTo>
                  <a:pt x="4264" y="4537"/>
                </a:moveTo>
                <a:cubicBezTo>
                  <a:pt x="4647" y="4537"/>
                  <a:pt x="5002" y="4455"/>
                  <a:pt x="5329" y="4292"/>
                </a:cubicBezTo>
                <a:cubicBezTo>
                  <a:pt x="5656" y="4128"/>
                  <a:pt x="5916" y="3908"/>
                  <a:pt x="6108" y="3630"/>
                </a:cubicBezTo>
                <a:cubicBezTo>
                  <a:pt x="6299" y="3351"/>
                  <a:pt x="6395" y="3048"/>
                  <a:pt x="6395" y="2722"/>
                </a:cubicBezTo>
                <a:cubicBezTo>
                  <a:pt x="6395" y="2395"/>
                  <a:pt x="6299" y="2093"/>
                  <a:pt x="6108" y="1815"/>
                </a:cubicBezTo>
                <a:cubicBezTo>
                  <a:pt x="5916" y="1536"/>
                  <a:pt x="5656" y="1315"/>
                  <a:pt x="5329" y="1152"/>
                </a:cubicBezTo>
                <a:cubicBezTo>
                  <a:pt x="5002" y="988"/>
                  <a:pt x="4647" y="907"/>
                  <a:pt x="4264" y="907"/>
                </a:cubicBezTo>
                <a:cubicBezTo>
                  <a:pt x="3880" y="907"/>
                  <a:pt x="3524" y="988"/>
                  <a:pt x="3198" y="1152"/>
                </a:cubicBezTo>
                <a:cubicBezTo>
                  <a:pt x="2870" y="1315"/>
                  <a:pt x="2611" y="1536"/>
                  <a:pt x="2420" y="1815"/>
                </a:cubicBezTo>
                <a:cubicBezTo>
                  <a:pt x="2228" y="2093"/>
                  <a:pt x="2132" y="2395"/>
                  <a:pt x="2132" y="2722"/>
                </a:cubicBezTo>
                <a:cubicBezTo>
                  <a:pt x="2132" y="3048"/>
                  <a:pt x="2228" y="3351"/>
                  <a:pt x="2420" y="3630"/>
                </a:cubicBezTo>
                <a:cubicBezTo>
                  <a:pt x="2611" y="3908"/>
                  <a:pt x="2870" y="4128"/>
                  <a:pt x="3198" y="4292"/>
                </a:cubicBezTo>
                <a:cubicBezTo>
                  <a:pt x="3524" y="4455"/>
                  <a:pt x="3880" y="4537"/>
                  <a:pt x="4264" y="4537"/>
                </a:cubicBezTo>
                <a:moveTo>
                  <a:pt x="9028" y="10000"/>
                </a:moveTo>
                <a:lnTo>
                  <a:pt x="7461" y="9301"/>
                </a:lnTo>
                <a:lnTo>
                  <a:pt x="5894" y="10000"/>
                </a:lnTo>
                <a:lnTo>
                  <a:pt x="6193" y="8512"/>
                </a:lnTo>
                <a:lnTo>
                  <a:pt x="4924" y="7468"/>
                </a:lnTo>
                <a:lnTo>
                  <a:pt x="6683" y="7250"/>
                </a:lnTo>
                <a:lnTo>
                  <a:pt x="7461" y="5898"/>
                </a:lnTo>
                <a:lnTo>
                  <a:pt x="8250" y="7250"/>
                </a:lnTo>
                <a:lnTo>
                  <a:pt x="9998" y="7468"/>
                </a:lnTo>
                <a:lnTo>
                  <a:pt x="8730" y="8512"/>
                </a:lnTo>
              </a:path>
            </a:pathLst>
          </a:custGeom>
          <a:solidFill>
            <a:srgbClr val="5B8CB8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9" name="TextBox 9"/>
          <p:cNvSpPr txBox="1"/>
          <p:nvPr/>
        </p:nvSpPr>
        <p:spPr>
          <a:xfrm>
            <a:off x="987228" y="1722091"/>
            <a:ext cx="1380780" cy="2095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500" b="1" i="0" strike="noStrike">
                <a:solidFill>
                  <a:srgbClr val="0A1F3D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用户与基础模块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74856" y="2215471"/>
            <a:ext cx="182834" cy="182880"/>
          </a:xfrm>
          <a:custGeom>
            <a:avLst/>
            <a:gdLst/>
            <a:ahLst/>
            <a:cxnLst/>
            <a:rect l="l" t="t" r="r" b="b"/>
            <a:pathLst>
              <a:path w="9998" h="10000">
                <a:moveTo>
                  <a:pt x="1000" y="5000"/>
                </a:moveTo>
                <a:cubicBezTo>
                  <a:pt x="1000" y="4273"/>
                  <a:pt x="1183" y="3600"/>
                  <a:pt x="1550" y="2980"/>
                </a:cubicBezTo>
                <a:cubicBezTo>
                  <a:pt x="1903" y="2380"/>
                  <a:pt x="2379" y="1903"/>
                  <a:pt x="2979" y="1550"/>
                </a:cubicBezTo>
                <a:cubicBezTo>
                  <a:pt x="3599" y="1183"/>
                  <a:pt x="4272" y="1000"/>
                  <a:pt x="4999" y="1000"/>
                </a:cubicBezTo>
                <a:cubicBezTo>
                  <a:pt x="5725" y="1000"/>
                  <a:pt x="6399" y="1183"/>
                  <a:pt x="7019" y="1550"/>
                </a:cubicBezTo>
                <a:cubicBezTo>
                  <a:pt x="7618" y="1903"/>
                  <a:pt x="8094" y="2380"/>
                  <a:pt x="8448" y="2980"/>
                </a:cubicBezTo>
                <a:cubicBezTo>
                  <a:pt x="8814" y="3600"/>
                  <a:pt x="8998" y="4273"/>
                  <a:pt x="8998" y="5000"/>
                </a:cubicBezTo>
                <a:cubicBezTo>
                  <a:pt x="8998" y="5726"/>
                  <a:pt x="8814" y="6400"/>
                  <a:pt x="8448" y="7020"/>
                </a:cubicBezTo>
                <a:cubicBezTo>
                  <a:pt x="8094" y="7620"/>
                  <a:pt x="7618" y="8096"/>
                  <a:pt x="7019" y="8450"/>
                </a:cubicBezTo>
                <a:cubicBezTo>
                  <a:pt x="6399" y="8816"/>
                  <a:pt x="5725" y="9000"/>
                  <a:pt x="4999" y="9000"/>
                </a:cubicBezTo>
                <a:cubicBezTo>
                  <a:pt x="4272" y="9000"/>
                  <a:pt x="3599" y="8816"/>
                  <a:pt x="2979" y="8450"/>
                </a:cubicBezTo>
                <a:cubicBezTo>
                  <a:pt x="2379" y="8096"/>
                  <a:pt x="1903" y="7620"/>
                  <a:pt x="1550" y="7020"/>
                </a:cubicBezTo>
                <a:cubicBezTo>
                  <a:pt x="1183" y="6400"/>
                  <a:pt x="1000" y="5726"/>
                  <a:pt x="1000" y="5000"/>
                </a:cubicBezTo>
                <a:moveTo>
                  <a:pt x="4999" y="0"/>
                </a:moveTo>
                <a:cubicBezTo>
                  <a:pt x="4319" y="0"/>
                  <a:pt x="3669" y="130"/>
                  <a:pt x="3049" y="390"/>
                </a:cubicBezTo>
                <a:cubicBezTo>
                  <a:pt x="2456" y="643"/>
                  <a:pt x="1928" y="1001"/>
                  <a:pt x="1465" y="1465"/>
                </a:cubicBezTo>
                <a:cubicBezTo>
                  <a:pt x="1001" y="1928"/>
                  <a:pt x="643" y="2456"/>
                  <a:pt x="390" y="3050"/>
                </a:cubicBezTo>
                <a:cubicBezTo>
                  <a:pt x="130" y="3670"/>
                  <a:pt x="0" y="4320"/>
                  <a:pt x="0" y="5000"/>
                </a:cubicBezTo>
                <a:cubicBezTo>
                  <a:pt x="0" y="5680"/>
                  <a:pt x="130" y="6330"/>
                  <a:pt x="390" y="6950"/>
                </a:cubicBezTo>
                <a:cubicBezTo>
                  <a:pt x="643" y="7543"/>
                  <a:pt x="1001" y="8071"/>
                  <a:pt x="1465" y="8535"/>
                </a:cubicBezTo>
                <a:cubicBezTo>
                  <a:pt x="1928" y="8998"/>
                  <a:pt x="2456" y="9356"/>
                  <a:pt x="3049" y="9610"/>
                </a:cubicBezTo>
                <a:cubicBezTo>
                  <a:pt x="3669" y="9870"/>
                  <a:pt x="4319" y="10000"/>
                  <a:pt x="4999" y="10000"/>
                </a:cubicBezTo>
                <a:cubicBezTo>
                  <a:pt x="5679" y="10000"/>
                  <a:pt x="6329" y="9870"/>
                  <a:pt x="6949" y="9610"/>
                </a:cubicBezTo>
                <a:cubicBezTo>
                  <a:pt x="7541" y="9356"/>
                  <a:pt x="8069" y="8998"/>
                  <a:pt x="8533" y="8535"/>
                </a:cubicBezTo>
                <a:cubicBezTo>
                  <a:pt x="8996" y="8071"/>
                  <a:pt x="9354" y="7543"/>
                  <a:pt x="9608" y="6950"/>
                </a:cubicBezTo>
                <a:cubicBezTo>
                  <a:pt x="9868" y="6330"/>
                  <a:pt x="9998" y="5680"/>
                  <a:pt x="9998" y="5000"/>
                </a:cubicBezTo>
                <a:cubicBezTo>
                  <a:pt x="9998" y="4320"/>
                  <a:pt x="9868" y="3670"/>
                  <a:pt x="9608" y="3050"/>
                </a:cubicBezTo>
                <a:cubicBezTo>
                  <a:pt x="9354" y="2456"/>
                  <a:pt x="8996" y="1928"/>
                  <a:pt x="8533" y="1465"/>
                </a:cubicBezTo>
                <a:cubicBezTo>
                  <a:pt x="8069" y="1001"/>
                  <a:pt x="7541" y="643"/>
                  <a:pt x="6949" y="390"/>
                </a:cubicBezTo>
                <a:cubicBezTo>
                  <a:pt x="6329" y="130"/>
                  <a:pt x="5679" y="0"/>
                  <a:pt x="4999" y="0"/>
                </a:cubicBezTo>
                <a:moveTo>
                  <a:pt x="4499" y="6960"/>
                </a:moveTo>
                <a:lnTo>
                  <a:pt x="7728" y="3730"/>
                </a:lnTo>
                <a:lnTo>
                  <a:pt x="7019" y="3020"/>
                </a:lnTo>
                <a:lnTo>
                  <a:pt x="4499" y="5540"/>
                </a:lnTo>
                <a:lnTo>
                  <a:pt x="3099" y="4150"/>
                </a:lnTo>
                <a:lnTo>
                  <a:pt x="2400" y="4850"/>
                </a:lnTo>
              </a:path>
            </a:pathLst>
          </a:custGeom>
          <a:solidFill>
            <a:srgbClr val="5B8CB8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11" name="TextBox 11"/>
          <p:cNvSpPr txBox="1"/>
          <p:nvPr/>
        </p:nvSpPr>
        <p:spPr>
          <a:xfrm>
            <a:off x="951667" y="2179291"/>
            <a:ext cx="4796721" cy="3905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100" b="1" i="0" strike="noStrike">
                <a:solidFill>
                  <a:srgbClr val="0A1F3D">
                    <a:alpha val="90196"/>
                  </a:srgbClr>
                </a:solidFill>
                <a:latin typeface="Source Han Sans"/>
                <a:ea typeface="Source Han Sans"/>
                <a:cs typeface="Source Han Sans"/>
              </a:rPr>
              <a:t>用户模块：</a:t>
            </a:r>
            <a:r>
              <a:rPr sz="1100" b="0" i="0" strike="noStrike">
                <a:solidFill>
                  <a:srgbClr val="0A1F3D">
                    <a:alpha val="90196"/>
                  </a:srgbClr>
                </a:solidFill>
                <a:latin typeface="Source Han Sans"/>
                <a:ea typeface="Source Han Sans"/>
                <a:cs typeface="Source Han Sans"/>
              </a:rPr>
              <a:t>注册、登录、JWT 签发校验、个人信息维护，登录成功后前端保</a:t>
            </a:r>
            <a:endParaRPr lang="en-US" sz="1100"/>
          </a:p>
          <a:p>
            <a:pPr algn="l"/>
            <a:r>
              <a:rPr sz="1100" b="0" i="0" strike="noStrike">
                <a:solidFill>
                  <a:srgbClr val="0A1F3D">
                    <a:alpha val="90196"/>
                  </a:srgbClr>
                </a:solidFill>
                <a:latin typeface="Source Han Sans"/>
                <a:ea typeface="Source Han Sans"/>
                <a:cs typeface="Source Han Sans"/>
              </a:rPr>
              <a:t>存 Token 和用户信息。</a:t>
            </a:r>
            <a:endParaRPr sz="1100" b="0" i="0" strike="noStrike">
              <a:solidFill>
                <a:srgbClr val="0A1F3D">
                  <a:alpha val="90196"/>
                </a:srgbClr>
              </a:solidFill>
              <a:latin typeface="Source Han Sans"/>
              <a:ea typeface="Source Han Sans"/>
              <a:cs typeface="Source Han Sans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674856" y="3230479"/>
            <a:ext cx="182834" cy="182880"/>
          </a:xfrm>
          <a:custGeom>
            <a:avLst/>
            <a:gdLst/>
            <a:ahLst/>
            <a:cxnLst/>
            <a:rect l="l" t="t" r="r" b="b"/>
            <a:pathLst>
              <a:path w="9998" h="10000">
                <a:moveTo>
                  <a:pt x="3072" y="7410"/>
                </a:moveTo>
                <a:lnTo>
                  <a:pt x="4999" y="5290"/>
                </a:lnTo>
                <a:lnTo>
                  <a:pt x="6926" y="7410"/>
                </a:lnTo>
                <a:lnTo>
                  <a:pt x="6281" y="8120"/>
                </a:lnTo>
                <a:lnTo>
                  <a:pt x="5453" y="7210"/>
                </a:lnTo>
                <a:lnTo>
                  <a:pt x="5453" y="10000"/>
                </a:lnTo>
                <a:lnTo>
                  <a:pt x="4545" y="10000"/>
                </a:lnTo>
                <a:lnTo>
                  <a:pt x="4545" y="7210"/>
                </a:lnTo>
                <a:lnTo>
                  <a:pt x="3717" y="8120"/>
                </a:lnTo>
                <a:lnTo>
                  <a:pt x="3072" y="7410"/>
                </a:lnTo>
                <a:moveTo>
                  <a:pt x="4999" y="0"/>
                </a:moveTo>
                <a:cubicBezTo>
                  <a:pt x="5532" y="0"/>
                  <a:pt x="6035" y="140"/>
                  <a:pt x="6508" y="420"/>
                </a:cubicBezTo>
                <a:cubicBezTo>
                  <a:pt x="6956" y="686"/>
                  <a:pt x="7328" y="1056"/>
                  <a:pt x="7626" y="1530"/>
                </a:cubicBezTo>
                <a:cubicBezTo>
                  <a:pt x="7922" y="2003"/>
                  <a:pt x="8101" y="2526"/>
                  <a:pt x="8162" y="3100"/>
                </a:cubicBezTo>
                <a:cubicBezTo>
                  <a:pt x="8513" y="3206"/>
                  <a:pt x="8828" y="3388"/>
                  <a:pt x="9107" y="3645"/>
                </a:cubicBezTo>
                <a:cubicBezTo>
                  <a:pt x="9385" y="3901"/>
                  <a:pt x="9604" y="4213"/>
                  <a:pt x="9762" y="4580"/>
                </a:cubicBezTo>
                <a:cubicBezTo>
                  <a:pt x="9919" y="4946"/>
                  <a:pt x="9998" y="5336"/>
                  <a:pt x="9998" y="5750"/>
                </a:cubicBezTo>
                <a:cubicBezTo>
                  <a:pt x="9998" y="6223"/>
                  <a:pt x="9898" y="6660"/>
                  <a:pt x="9698" y="7060"/>
                </a:cubicBezTo>
                <a:cubicBezTo>
                  <a:pt x="9498" y="7460"/>
                  <a:pt x="9223" y="7788"/>
                  <a:pt x="8875" y="8045"/>
                </a:cubicBezTo>
                <a:cubicBezTo>
                  <a:pt x="8527" y="8301"/>
                  <a:pt x="8144" y="8450"/>
                  <a:pt x="7726" y="8490"/>
                </a:cubicBezTo>
                <a:lnTo>
                  <a:pt x="7726" y="7480"/>
                </a:lnTo>
                <a:cubicBezTo>
                  <a:pt x="7980" y="7440"/>
                  <a:pt x="8211" y="7338"/>
                  <a:pt x="8421" y="7175"/>
                </a:cubicBezTo>
                <a:cubicBezTo>
                  <a:pt x="8630" y="7011"/>
                  <a:pt x="8794" y="6805"/>
                  <a:pt x="8912" y="6555"/>
                </a:cubicBezTo>
                <a:cubicBezTo>
                  <a:pt x="9030" y="6305"/>
                  <a:pt x="9089" y="6036"/>
                  <a:pt x="9089" y="5750"/>
                </a:cubicBezTo>
                <a:cubicBezTo>
                  <a:pt x="9089" y="5430"/>
                  <a:pt x="9017" y="5136"/>
                  <a:pt x="8875" y="4870"/>
                </a:cubicBezTo>
                <a:cubicBezTo>
                  <a:pt x="8733" y="4603"/>
                  <a:pt x="8540" y="4391"/>
                  <a:pt x="8298" y="4235"/>
                </a:cubicBezTo>
                <a:cubicBezTo>
                  <a:pt x="8056" y="4078"/>
                  <a:pt x="7789" y="4000"/>
                  <a:pt x="7499" y="4000"/>
                </a:cubicBezTo>
                <a:cubicBezTo>
                  <a:pt x="7401" y="4000"/>
                  <a:pt x="7307" y="4010"/>
                  <a:pt x="7217" y="4030"/>
                </a:cubicBezTo>
                <a:cubicBezTo>
                  <a:pt x="7253" y="3856"/>
                  <a:pt x="7271" y="3680"/>
                  <a:pt x="7271" y="3500"/>
                </a:cubicBezTo>
                <a:cubicBezTo>
                  <a:pt x="7271" y="3046"/>
                  <a:pt x="7169" y="2628"/>
                  <a:pt x="6967" y="2245"/>
                </a:cubicBezTo>
                <a:cubicBezTo>
                  <a:pt x="6763" y="1861"/>
                  <a:pt x="6488" y="1558"/>
                  <a:pt x="6140" y="1335"/>
                </a:cubicBezTo>
                <a:cubicBezTo>
                  <a:pt x="5791" y="1111"/>
                  <a:pt x="5411" y="1000"/>
                  <a:pt x="4999" y="1000"/>
                </a:cubicBezTo>
                <a:cubicBezTo>
                  <a:pt x="4587" y="1000"/>
                  <a:pt x="4206" y="1111"/>
                  <a:pt x="3858" y="1335"/>
                </a:cubicBezTo>
                <a:cubicBezTo>
                  <a:pt x="3510" y="1558"/>
                  <a:pt x="3234" y="1861"/>
                  <a:pt x="3031" y="2245"/>
                </a:cubicBezTo>
                <a:cubicBezTo>
                  <a:pt x="2828" y="2628"/>
                  <a:pt x="2727" y="3046"/>
                  <a:pt x="2727" y="3500"/>
                </a:cubicBezTo>
                <a:cubicBezTo>
                  <a:pt x="2727" y="3680"/>
                  <a:pt x="2745" y="3856"/>
                  <a:pt x="2781" y="4030"/>
                </a:cubicBezTo>
                <a:cubicBezTo>
                  <a:pt x="2684" y="4010"/>
                  <a:pt x="2590" y="4000"/>
                  <a:pt x="2499" y="4000"/>
                </a:cubicBezTo>
                <a:cubicBezTo>
                  <a:pt x="2208" y="4000"/>
                  <a:pt x="1942" y="4078"/>
                  <a:pt x="1700" y="4235"/>
                </a:cubicBezTo>
                <a:cubicBezTo>
                  <a:pt x="1457" y="4391"/>
                  <a:pt x="1265" y="4603"/>
                  <a:pt x="1123" y="4870"/>
                </a:cubicBezTo>
                <a:cubicBezTo>
                  <a:pt x="980" y="5136"/>
                  <a:pt x="909" y="5430"/>
                  <a:pt x="909" y="5750"/>
                </a:cubicBezTo>
                <a:cubicBezTo>
                  <a:pt x="909" y="6030"/>
                  <a:pt x="965" y="6291"/>
                  <a:pt x="1077" y="6535"/>
                </a:cubicBezTo>
                <a:cubicBezTo>
                  <a:pt x="1189" y="6778"/>
                  <a:pt x="1342" y="6981"/>
                  <a:pt x="1536" y="7145"/>
                </a:cubicBezTo>
                <a:cubicBezTo>
                  <a:pt x="1730" y="7308"/>
                  <a:pt x="1948" y="7416"/>
                  <a:pt x="2190" y="7470"/>
                </a:cubicBezTo>
                <a:lnTo>
                  <a:pt x="2272" y="7480"/>
                </a:lnTo>
                <a:lnTo>
                  <a:pt x="2272" y="8490"/>
                </a:lnTo>
                <a:cubicBezTo>
                  <a:pt x="1854" y="8450"/>
                  <a:pt x="1471" y="8301"/>
                  <a:pt x="1123" y="8045"/>
                </a:cubicBezTo>
                <a:cubicBezTo>
                  <a:pt x="774" y="7788"/>
                  <a:pt x="500" y="7460"/>
                  <a:pt x="300" y="7060"/>
                </a:cubicBezTo>
                <a:cubicBezTo>
                  <a:pt x="100" y="6660"/>
                  <a:pt x="0" y="6223"/>
                  <a:pt x="0" y="5750"/>
                </a:cubicBezTo>
                <a:cubicBezTo>
                  <a:pt x="0" y="5336"/>
                  <a:pt x="78" y="4946"/>
                  <a:pt x="236" y="4580"/>
                </a:cubicBezTo>
                <a:cubicBezTo>
                  <a:pt x="394" y="4213"/>
                  <a:pt x="612" y="3901"/>
                  <a:pt x="891" y="3645"/>
                </a:cubicBezTo>
                <a:cubicBezTo>
                  <a:pt x="1169" y="3388"/>
                  <a:pt x="1484" y="3206"/>
                  <a:pt x="1836" y="3100"/>
                </a:cubicBezTo>
                <a:cubicBezTo>
                  <a:pt x="1896" y="2526"/>
                  <a:pt x="2075" y="2003"/>
                  <a:pt x="2372" y="1530"/>
                </a:cubicBezTo>
                <a:cubicBezTo>
                  <a:pt x="2669" y="1056"/>
                  <a:pt x="3042" y="686"/>
                  <a:pt x="3490" y="420"/>
                </a:cubicBezTo>
                <a:cubicBezTo>
                  <a:pt x="3962" y="140"/>
                  <a:pt x="4465" y="0"/>
                  <a:pt x="4999" y="0"/>
                </a:cubicBezTo>
              </a:path>
            </a:pathLst>
          </a:custGeom>
          <a:solidFill>
            <a:srgbClr val="5B8CB8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13" name="TextBox 13"/>
          <p:cNvSpPr txBox="1"/>
          <p:nvPr/>
        </p:nvSpPr>
        <p:spPr>
          <a:xfrm>
            <a:off x="951667" y="3194298"/>
            <a:ext cx="4790473" cy="3905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100" b="1" i="0" strike="noStrike">
                <a:solidFill>
                  <a:srgbClr val="0A1F3D">
                    <a:alpha val="90196"/>
                  </a:srgbClr>
                </a:solidFill>
                <a:latin typeface="Source Han Sans"/>
                <a:ea typeface="Source Han Sans"/>
                <a:cs typeface="Source Han Sans"/>
              </a:rPr>
              <a:t>文件上传：</a:t>
            </a:r>
            <a:r>
              <a:rPr sz="1100" b="0" i="0" strike="noStrike">
                <a:solidFill>
                  <a:srgbClr val="0A1F3D">
                    <a:alpha val="90196"/>
                  </a:srgbClr>
                </a:solidFill>
                <a:latin typeface="Source Han Sans"/>
                <a:ea typeface="Source Han Sans"/>
                <a:cs typeface="Source Han Sans"/>
              </a:rPr>
              <a:t>图书封面上传接口保存到后端 uploads 目录，删除图书时自动清</a:t>
            </a:r>
            <a:endParaRPr lang="en-US" sz="1100"/>
          </a:p>
          <a:p>
            <a:pPr algn="l"/>
            <a:r>
              <a:rPr sz="1100" b="0" i="0" strike="noStrike">
                <a:solidFill>
                  <a:srgbClr val="0A1F3D">
                    <a:alpha val="90196"/>
                  </a:srgbClr>
                </a:solidFill>
                <a:latin typeface="Source Han Sans"/>
                <a:ea typeface="Source Han Sans"/>
                <a:cs typeface="Source Han Sans"/>
              </a:rPr>
              <a:t>理关联封面和附加图片。</a:t>
            </a:r>
            <a:endParaRPr sz="1100" b="0" i="0" strike="noStrike">
              <a:solidFill>
                <a:srgbClr val="0A1F3D">
                  <a:alpha val="90196"/>
                </a:srgbClr>
              </a:solidFill>
              <a:latin typeface="Source Han Sans"/>
              <a:ea typeface="Source Han Sans"/>
              <a:cs typeface="Source Han Sans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674856" y="4245635"/>
            <a:ext cx="182834" cy="182880"/>
          </a:xfrm>
          <a:custGeom>
            <a:avLst/>
            <a:gdLst/>
            <a:ahLst/>
            <a:cxnLst/>
            <a:rect l="l" t="t" r="r" b="b"/>
            <a:pathLst>
              <a:path w="9998" h="10000">
                <a:moveTo>
                  <a:pt x="3078" y="10000"/>
                </a:moveTo>
                <a:lnTo>
                  <a:pt x="3078" y="7368"/>
                </a:lnTo>
                <a:cubicBezTo>
                  <a:pt x="3201" y="7389"/>
                  <a:pt x="3327" y="7410"/>
                  <a:pt x="3457" y="7432"/>
                </a:cubicBezTo>
                <a:cubicBezTo>
                  <a:pt x="3779" y="7494"/>
                  <a:pt x="4104" y="7568"/>
                  <a:pt x="4432" y="7653"/>
                </a:cubicBezTo>
                <a:cubicBezTo>
                  <a:pt x="4897" y="7772"/>
                  <a:pt x="5331" y="7905"/>
                  <a:pt x="5735" y="8053"/>
                </a:cubicBezTo>
                <a:cubicBezTo>
                  <a:pt x="6241" y="8235"/>
                  <a:pt x="6689" y="8435"/>
                  <a:pt x="7079" y="8653"/>
                </a:cubicBezTo>
                <a:cubicBezTo>
                  <a:pt x="7537" y="8905"/>
                  <a:pt x="7914" y="9179"/>
                  <a:pt x="8208" y="9474"/>
                </a:cubicBezTo>
                <a:lnTo>
                  <a:pt x="8721" y="9474"/>
                </a:lnTo>
                <a:cubicBezTo>
                  <a:pt x="8857" y="9474"/>
                  <a:pt x="8975" y="9423"/>
                  <a:pt x="9075" y="9321"/>
                </a:cubicBezTo>
                <a:cubicBezTo>
                  <a:pt x="9173" y="9219"/>
                  <a:pt x="9223" y="9094"/>
                  <a:pt x="9223" y="8947"/>
                </a:cubicBezTo>
                <a:lnTo>
                  <a:pt x="9223" y="5758"/>
                </a:lnTo>
                <a:cubicBezTo>
                  <a:pt x="9449" y="5694"/>
                  <a:pt x="9635" y="5570"/>
                  <a:pt x="9783" y="5384"/>
                </a:cubicBezTo>
                <a:cubicBezTo>
                  <a:pt x="9929" y="5198"/>
                  <a:pt x="10001" y="4982"/>
                  <a:pt x="9998" y="4737"/>
                </a:cubicBezTo>
                <a:cubicBezTo>
                  <a:pt x="9994" y="4491"/>
                  <a:pt x="9921" y="4275"/>
                  <a:pt x="9777" y="4089"/>
                </a:cubicBezTo>
                <a:cubicBezTo>
                  <a:pt x="9633" y="3903"/>
                  <a:pt x="9452" y="3779"/>
                  <a:pt x="9234" y="3716"/>
                </a:cubicBezTo>
                <a:lnTo>
                  <a:pt x="9234" y="526"/>
                </a:lnTo>
                <a:cubicBezTo>
                  <a:pt x="9234" y="378"/>
                  <a:pt x="9182" y="254"/>
                  <a:pt x="9080" y="153"/>
                </a:cubicBezTo>
                <a:cubicBezTo>
                  <a:pt x="8977" y="51"/>
                  <a:pt x="8854" y="0"/>
                  <a:pt x="8710" y="0"/>
                </a:cubicBezTo>
                <a:lnTo>
                  <a:pt x="8208" y="0"/>
                </a:lnTo>
                <a:cubicBezTo>
                  <a:pt x="7920" y="294"/>
                  <a:pt x="7544" y="568"/>
                  <a:pt x="7079" y="821"/>
                </a:cubicBezTo>
                <a:cubicBezTo>
                  <a:pt x="6689" y="1038"/>
                  <a:pt x="6241" y="1238"/>
                  <a:pt x="5735" y="1421"/>
                </a:cubicBezTo>
                <a:cubicBezTo>
                  <a:pt x="5331" y="1568"/>
                  <a:pt x="4897" y="1701"/>
                  <a:pt x="4432" y="1821"/>
                </a:cubicBezTo>
                <a:cubicBezTo>
                  <a:pt x="4104" y="1905"/>
                  <a:pt x="3779" y="1978"/>
                  <a:pt x="3457" y="2042"/>
                </a:cubicBezTo>
                <a:lnTo>
                  <a:pt x="3078" y="2105"/>
                </a:lnTo>
                <a:lnTo>
                  <a:pt x="1026" y="2105"/>
                </a:lnTo>
                <a:cubicBezTo>
                  <a:pt x="834" y="2105"/>
                  <a:pt x="660" y="2152"/>
                  <a:pt x="503" y="2247"/>
                </a:cubicBezTo>
                <a:cubicBezTo>
                  <a:pt x="345" y="2341"/>
                  <a:pt x="222" y="2470"/>
                  <a:pt x="133" y="2632"/>
                </a:cubicBezTo>
                <a:cubicBezTo>
                  <a:pt x="44" y="2793"/>
                  <a:pt x="0" y="2968"/>
                  <a:pt x="0" y="3158"/>
                </a:cubicBezTo>
                <a:lnTo>
                  <a:pt x="0" y="6316"/>
                </a:lnTo>
                <a:cubicBezTo>
                  <a:pt x="0" y="6505"/>
                  <a:pt x="44" y="6680"/>
                  <a:pt x="133" y="6842"/>
                </a:cubicBezTo>
                <a:cubicBezTo>
                  <a:pt x="222" y="7003"/>
                  <a:pt x="345" y="7131"/>
                  <a:pt x="503" y="7226"/>
                </a:cubicBezTo>
                <a:cubicBezTo>
                  <a:pt x="660" y="7320"/>
                  <a:pt x="831" y="7368"/>
                  <a:pt x="1016" y="7368"/>
                </a:cubicBezTo>
                <a:lnTo>
                  <a:pt x="1539" y="7368"/>
                </a:lnTo>
                <a:lnTo>
                  <a:pt x="2052" y="10000"/>
                </a:lnTo>
                <a:lnTo>
                  <a:pt x="3078" y="10000"/>
                </a:lnTo>
                <a:moveTo>
                  <a:pt x="4094" y="2979"/>
                </a:moveTo>
                <a:lnTo>
                  <a:pt x="4104" y="2979"/>
                </a:lnTo>
                <a:cubicBezTo>
                  <a:pt x="4528" y="2887"/>
                  <a:pt x="4941" y="2779"/>
                  <a:pt x="5345" y="2653"/>
                </a:cubicBezTo>
                <a:cubicBezTo>
                  <a:pt x="6521" y="2301"/>
                  <a:pt x="7472" y="1870"/>
                  <a:pt x="8197" y="1358"/>
                </a:cubicBezTo>
                <a:lnTo>
                  <a:pt x="8197" y="8116"/>
                </a:lnTo>
                <a:cubicBezTo>
                  <a:pt x="7472" y="7603"/>
                  <a:pt x="6521" y="7171"/>
                  <a:pt x="5345" y="6821"/>
                </a:cubicBezTo>
                <a:cubicBezTo>
                  <a:pt x="4941" y="6695"/>
                  <a:pt x="4524" y="6586"/>
                  <a:pt x="4094" y="6495"/>
                </a:cubicBezTo>
                <a:lnTo>
                  <a:pt x="4094" y="2979"/>
                </a:lnTo>
                <a:moveTo>
                  <a:pt x="1026" y="6316"/>
                </a:moveTo>
                <a:lnTo>
                  <a:pt x="1026" y="3158"/>
                </a:lnTo>
                <a:lnTo>
                  <a:pt x="3078" y="3158"/>
                </a:lnTo>
                <a:lnTo>
                  <a:pt x="3078" y="6316"/>
                </a:lnTo>
              </a:path>
            </a:pathLst>
          </a:custGeom>
          <a:solidFill>
            <a:srgbClr val="5B8CB8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15" name="TextBox 15"/>
          <p:cNvSpPr txBox="1"/>
          <p:nvPr/>
        </p:nvSpPr>
        <p:spPr>
          <a:xfrm>
            <a:off x="951667" y="4209454"/>
            <a:ext cx="4790473" cy="3905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100" b="1" i="0" strike="noStrike">
                <a:solidFill>
                  <a:srgbClr val="0A1F3D">
                    <a:alpha val="90196"/>
                  </a:srgbClr>
                </a:solidFill>
                <a:latin typeface="Source Han Sans"/>
                <a:ea typeface="Source Han Sans"/>
                <a:cs typeface="Source Han Sans"/>
              </a:rPr>
              <a:t>公告模块：</a:t>
            </a:r>
            <a:r>
              <a:rPr sz="1100" b="0" i="0" strike="noStrike">
                <a:solidFill>
                  <a:srgbClr val="0A1F3D">
                    <a:alpha val="90196"/>
                  </a:srgbClr>
                </a:solidFill>
                <a:latin typeface="Source Han Sans"/>
                <a:ea typeface="Source Han Sans"/>
                <a:cs typeface="Source Han Sans"/>
              </a:rPr>
              <a:t>前台首页展示公告列表，后台支持新增、编辑、删除公告，管理</a:t>
            </a:r>
            <a:endParaRPr lang="en-US" sz="1100"/>
          </a:p>
          <a:p>
            <a:pPr algn="l"/>
            <a:r>
              <a:rPr sz="1100" b="0" i="0" strike="noStrike">
                <a:solidFill>
                  <a:srgbClr val="0A1F3D">
                    <a:alpha val="90196"/>
                  </a:srgbClr>
                </a:solidFill>
                <a:latin typeface="Source Han Sans"/>
                <a:ea typeface="Source Han Sans"/>
                <a:cs typeface="Source Han Sans"/>
              </a:rPr>
              <a:t>员可设置置顶状态。</a:t>
            </a:r>
            <a:endParaRPr sz="1100" b="0" i="0" strike="noStrike">
              <a:solidFill>
                <a:srgbClr val="0A1F3D">
                  <a:alpha val="90196"/>
                </a:srgbClr>
              </a:solidFill>
              <a:latin typeface="Source Han Sans"/>
              <a:ea typeface="Source Han Sans"/>
              <a:cs typeface="Source Han Sans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6208747" y="1417291"/>
            <a:ext cx="5523120" cy="3867150"/>
          </a:xfrm>
          <a:prstGeom prst="rect">
            <a:avLst/>
          </a:prstGeom>
          <a:blipFill rotWithShape="1">
            <a:blip r:embed="rId1">
              <a:alphaModFix amt="100000"/>
              <a:alphaModFix amt="100000"/>
            </a:blip>
            <a:stretch>
              <a:fillRect/>
            </a:stretch>
          </a:blipFill>
          <a:ln>
            <a:headEnd type="none"/>
            <a:tailEnd type="none"/>
          </a:ln>
        </p:spPr>
      </p:sp>
      <p:sp>
        <p:nvSpPr>
          <p:cNvPr id="17" name="AutoShape 17"/>
          <p:cNvSpPr/>
          <p:nvPr/>
        </p:nvSpPr>
        <p:spPr>
          <a:xfrm>
            <a:off x="6421444" y="1712566"/>
            <a:ext cx="228543" cy="228600"/>
          </a:xfrm>
          <a:custGeom>
            <a:avLst/>
            <a:gdLst/>
            <a:ahLst/>
            <a:cxnLst/>
            <a:rect l="l" t="t" r="r" b="b"/>
            <a:pathLst>
              <a:path w="9998" h="10000">
                <a:moveTo>
                  <a:pt x="9498" y="9000"/>
                </a:moveTo>
                <a:lnTo>
                  <a:pt x="5499" y="9000"/>
                </a:lnTo>
                <a:lnTo>
                  <a:pt x="5499" y="10000"/>
                </a:lnTo>
                <a:lnTo>
                  <a:pt x="4499" y="10000"/>
                </a:lnTo>
                <a:lnTo>
                  <a:pt x="4499" y="9000"/>
                </a:lnTo>
                <a:lnTo>
                  <a:pt x="500" y="9000"/>
                </a:lnTo>
                <a:cubicBezTo>
                  <a:pt x="360" y="9000"/>
                  <a:pt x="241" y="8951"/>
                  <a:pt x="145" y="8855"/>
                </a:cubicBezTo>
                <a:cubicBezTo>
                  <a:pt x="48" y="8758"/>
                  <a:pt x="0" y="8640"/>
                  <a:pt x="0" y="8500"/>
                </a:cubicBezTo>
                <a:lnTo>
                  <a:pt x="0" y="500"/>
                </a:lnTo>
                <a:cubicBezTo>
                  <a:pt x="0" y="360"/>
                  <a:pt x="48" y="241"/>
                  <a:pt x="145" y="145"/>
                </a:cubicBezTo>
                <a:cubicBezTo>
                  <a:pt x="241" y="48"/>
                  <a:pt x="360" y="0"/>
                  <a:pt x="500" y="0"/>
                </a:cubicBezTo>
                <a:lnTo>
                  <a:pt x="3499" y="0"/>
                </a:lnTo>
                <a:cubicBezTo>
                  <a:pt x="3792" y="0"/>
                  <a:pt x="4069" y="60"/>
                  <a:pt x="4329" y="180"/>
                </a:cubicBezTo>
                <a:cubicBezTo>
                  <a:pt x="4589" y="300"/>
                  <a:pt x="4812" y="466"/>
                  <a:pt x="4999" y="680"/>
                </a:cubicBezTo>
                <a:cubicBezTo>
                  <a:pt x="5185" y="466"/>
                  <a:pt x="5409" y="300"/>
                  <a:pt x="5669" y="180"/>
                </a:cubicBezTo>
                <a:cubicBezTo>
                  <a:pt x="5929" y="60"/>
                  <a:pt x="6205" y="0"/>
                  <a:pt x="6499" y="0"/>
                </a:cubicBezTo>
                <a:lnTo>
                  <a:pt x="9498" y="0"/>
                </a:lnTo>
                <a:cubicBezTo>
                  <a:pt x="9638" y="0"/>
                  <a:pt x="9756" y="48"/>
                  <a:pt x="9853" y="145"/>
                </a:cubicBezTo>
                <a:cubicBezTo>
                  <a:pt x="9949" y="241"/>
                  <a:pt x="9998" y="360"/>
                  <a:pt x="9998" y="500"/>
                </a:cubicBezTo>
                <a:lnTo>
                  <a:pt x="9998" y="8500"/>
                </a:lnTo>
                <a:cubicBezTo>
                  <a:pt x="9998" y="8640"/>
                  <a:pt x="9949" y="8758"/>
                  <a:pt x="9853" y="8855"/>
                </a:cubicBezTo>
                <a:cubicBezTo>
                  <a:pt x="9756" y="8951"/>
                  <a:pt x="9638" y="9000"/>
                  <a:pt x="9498" y="9000"/>
                </a:cubicBezTo>
                <a:moveTo>
                  <a:pt x="5499" y="8000"/>
                </a:moveTo>
                <a:lnTo>
                  <a:pt x="8998" y="8000"/>
                </a:lnTo>
                <a:lnTo>
                  <a:pt x="8998" y="1000"/>
                </a:lnTo>
                <a:lnTo>
                  <a:pt x="6499" y="1000"/>
                </a:lnTo>
                <a:cubicBezTo>
                  <a:pt x="6319" y="1000"/>
                  <a:pt x="6152" y="1045"/>
                  <a:pt x="5999" y="1135"/>
                </a:cubicBezTo>
                <a:cubicBezTo>
                  <a:pt x="5845" y="1225"/>
                  <a:pt x="5724" y="1346"/>
                  <a:pt x="5634" y="1500"/>
                </a:cubicBezTo>
                <a:cubicBezTo>
                  <a:pt x="5544" y="1653"/>
                  <a:pt x="5499" y="1820"/>
                  <a:pt x="5499" y="2000"/>
                </a:cubicBezTo>
                <a:lnTo>
                  <a:pt x="5499" y="8000"/>
                </a:lnTo>
                <a:moveTo>
                  <a:pt x="1000" y="8000"/>
                </a:moveTo>
                <a:lnTo>
                  <a:pt x="4499" y="8000"/>
                </a:lnTo>
                <a:lnTo>
                  <a:pt x="4499" y="2000"/>
                </a:lnTo>
                <a:cubicBezTo>
                  <a:pt x="4499" y="1820"/>
                  <a:pt x="4454" y="1653"/>
                  <a:pt x="4364" y="1500"/>
                </a:cubicBezTo>
                <a:cubicBezTo>
                  <a:pt x="4274" y="1346"/>
                  <a:pt x="4152" y="1225"/>
                  <a:pt x="3999" y="1135"/>
                </a:cubicBezTo>
                <a:cubicBezTo>
                  <a:pt x="3845" y="1045"/>
                  <a:pt x="3679" y="1000"/>
                  <a:pt x="3499" y="1000"/>
                </a:cubicBezTo>
                <a:lnTo>
                  <a:pt x="1000" y="1000"/>
                </a:lnTo>
              </a:path>
            </a:pathLst>
          </a:custGeom>
          <a:solidFill>
            <a:srgbClr val="5B8CB8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18" name="TextBox 18"/>
          <p:cNvSpPr txBox="1"/>
          <p:nvPr/>
        </p:nvSpPr>
        <p:spPr>
          <a:xfrm>
            <a:off x="6738889" y="1722091"/>
            <a:ext cx="1380780" cy="2095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500" b="1" i="0" strike="noStrike">
                <a:solidFill>
                  <a:srgbClr val="0A1F3D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图书与交易模块</a:t>
            </a:r>
            <a:endParaRPr lang="en-US" sz="1100"/>
          </a:p>
        </p:txBody>
      </p:sp>
      <p:sp>
        <p:nvSpPr>
          <p:cNvPr id="19" name="TextBox 19"/>
          <p:cNvSpPr txBox="1"/>
          <p:nvPr/>
        </p:nvSpPr>
        <p:spPr>
          <a:xfrm>
            <a:off x="6561084" y="2179291"/>
            <a:ext cx="4932717" cy="3905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100" b="1" i="0" strike="noStrike">
                <a:solidFill>
                  <a:srgbClr val="0A1F3D">
                    <a:alpha val="90196"/>
                  </a:srgbClr>
                </a:solidFill>
                <a:latin typeface="Source Han Sans"/>
                <a:ea typeface="Source Han Sans"/>
                <a:cs typeface="Source Han Sans"/>
              </a:rPr>
              <a:t>图书模块：</a:t>
            </a:r>
            <a:r>
              <a:rPr sz="1100" b="0" i="0" strike="noStrike">
                <a:solidFill>
                  <a:srgbClr val="0A1F3D">
                    <a:alpha val="90196"/>
                  </a:srgbClr>
                </a:solidFill>
                <a:latin typeface="Source Han Sans"/>
                <a:ea typeface="Source Han Sans"/>
                <a:cs typeface="Source Han Sans"/>
              </a:rPr>
              <a:t>首页分页列表、分类筛选、关键词搜索、详情展示、浏览量统计、</a:t>
            </a:r>
            <a:endParaRPr lang="en-US" sz="1100"/>
          </a:p>
          <a:p>
            <a:pPr algn="l"/>
            <a:r>
              <a:rPr sz="1100" b="0" i="0" strike="noStrike">
                <a:solidFill>
                  <a:srgbClr val="0A1F3D">
                    <a:alpha val="90196"/>
                  </a:srgbClr>
                </a:solidFill>
                <a:latin typeface="Source Han Sans"/>
                <a:ea typeface="Source Han Sans"/>
                <a:cs typeface="Source Han Sans"/>
              </a:rPr>
              <a:t>发布/编辑/下架功能完整。</a:t>
            </a:r>
            <a:endParaRPr sz="1100" b="0" i="0" strike="noStrike">
              <a:solidFill>
                <a:srgbClr val="0A1F3D">
                  <a:alpha val="90196"/>
                </a:srgbClr>
              </a:solidFill>
              <a:latin typeface="Source Han Sans"/>
              <a:ea typeface="Source Han Sans"/>
              <a:cs typeface="Source Han Sans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6426518" y="2967201"/>
            <a:ext cx="182834" cy="182880"/>
          </a:xfrm>
          <a:custGeom>
            <a:avLst/>
            <a:gdLst/>
            <a:ahLst/>
            <a:cxnLst/>
            <a:rect l="l" t="t" r="r" b="b"/>
            <a:pathLst>
              <a:path w="9998" h="10000">
                <a:moveTo>
                  <a:pt x="1551" y="7646"/>
                </a:moveTo>
                <a:lnTo>
                  <a:pt x="1551" y="2194"/>
                </a:lnTo>
                <a:lnTo>
                  <a:pt x="0" y="669"/>
                </a:lnTo>
                <a:lnTo>
                  <a:pt x="670" y="0"/>
                </a:lnTo>
                <a:lnTo>
                  <a:pt x="2222" y="1525"/>
                </a:lnTo>
                <a:lnTo>
                  <a:pt x="9519" y="1525"/>
                </a:lnTo>
                <a:cubicBezTo>
                  <a:pt x="9653" y="1525"/>
                  <a:pt x="9766" y="1570"/>
                  <a:pt x="9859" y="1662"/>
                </a:cubicBezTo>
                <a:cubicBezTo>
                  <a:pt x="9951" y="1752"/>
                  <a:pt x="9998" y="1864"/>
                  <a:pt x="9998" y="1996"/>
                </a:cubicBezTo>
                <a:cubicBezTo>
                  <a:pt x="9998" y="2040"/>
                  <a:pt x="9991" y="2084"/>
                  <a:pt x="9979" y="2128"/>
                </a:cubicBezTo>
                <a:lnTo>
                  <a:pt x="8830" y="5895"/>
                </a:lnTo>
                <a:cubicBezTo>
                  <a:pt x="8804" y="5995"/>
                  <a:pt x="8748" y="6076"/>
                  <a:pt x="8662" y="6139"/>
                </a:cubicBezTo>
                <a:cubicBezTo>
                  <a:pt x="8576" y="6202"/>
                  <a:pt x="8478" y="6234"/>
                  <a:pt x="8370" y="6234"/>
                </a:cubicBezTo>
                <a:lnTo>
                  <a:pt x="2509" y="6234"/>
                </a:lnTo>
                <a:lnTo>
                  <a:pt x="2509" y="7175"/>
                </a:lnTo>
                <a:lnTo>
                  <a:pt x="7776" y="7175"/>
                </a:lnTo>
                <a:lnTo>
                  <a:pt x="7776" y="8117"/>
                </a:lnTo>
                <a:lnTo>
                  <a:pt x="2030" y="8117"/>
                </a:lnTo>
                <a:cubicBezTo>
                  <a:pt x="1896" y="8117"/>
                  <a:pt x="1782" y="8071"/>
                  <a:pt x="1690" y="7980"/>
                </a:cubicBezTo>
                <a:cubicBezTo>
                  <a:pt x="1597" y="7889"/>
                  <a:pt x="1551" y="7778"/>
                  <a:pt x="1551" y="7646"/>
                </a:cubicBezTo>
                <a:moveTo>
                  <a:pt x="8878" y="2467"/>
                </a:moveTo>
                <a:lnTo>
                  <a:pt x="2509" y="2467"/>
                </a:lnTo>
                <a:lnTo>
                  <a:pt x="2509" y="5292"/>
                </a:lnTo>
                <a:lnTo>
                  <a:pt x="8016" y="5292"/>
                </a:lnTo>
                <a:lnTo>
                  <a:pt x="8878" y="2467"/>
                </a:lnTo>
                <a:moveTo>
                  <a:pt x="2270" y="10000"/>
                </a:moveTo>
                <a:cubicBezTo>
                  <a:pt x="2072" y="10000"/>
                  <a:pt x="1902" y="9931"/>
                  <a:pt x="1762" y="9793"/>
                </a:cubicBezTo>
                <a:cubicBezTo>
                  <a:pt x="1621" y="9655"/>
                  <a:pt x="1551" y="9488"/>
                  <a:pt x="1551" y="9294"/>
                </a:cubicBezTo>
                <a:cubicBezTo>
                  <a:pt x="1551" y="9099"/>
                  <a:pt x="1621" y="8933"/>
                  <a:pt x="1762" y="8795"/>
                </a:cubicBezTo>
                <a:cubicBezTo>
                  <a:pt x="1902" y="8657"/>
                  <a:pt x="2072" y="8588"/>
                  <a:pt x="2270" y="8588"/>
                </a:cubicBezTo>
                <a:cubicBezTo>
                  <a:pt x="2468" y="8588"/>
                  <a:pt x="2637" y="8657"/>
                  <a:pt x="2777" y="8795"/>
                </a:cubicBezTo>
                <a:cubicBezTo>
                  <a:pt x="2917" y="8933"/>
                  <a:pt x="2988" y="9099"/>
                  <a:pt x="2988" y="9294"/>
                </a:cubicBezTo>
                <a:cubicBezTo>
                  <a:pt x="2988" y="9488"/>
                  <a:pt x="2917" y="9655"/>
                  <a:pt x="2777" y="9793"/>
                </a:cubicBezTo>
                <a:cubicBezTo>
                  <a:pt x="2637" y="9931"/>
                  <a:pt x="2468" y="10000"/>
                  <a:pt x="2270" y="10000"/>
                </a:cubicBezTo>
                <a:moveTo>
                  <a:pt x="8016" y="10000"/>
                </a:moveTo>
                <a:cubicBezTo>
                  <a:pt x="7818" y="10000"/>
                  <a:pt x="7648" y="9931"/>
                  <a:pt x="7508" y="9793"/>
                </a:cubicBezTo>
                <a:cubicBezTo>
                  <a:pt x="7367" y="9655"/>
                  <a:pt x="7297" y="9488"/>
                  <a:pt x="7297" y="9294"/>
                </a:cubicBezTo>
                <a:cubicBezTo>
                  <a:pt x="7297" y="9099"/>
                  <a:pt x="7367" y="8933"/>
                  <a:pt x="7508" y="8795"/>
                </a:cubicBezTo>
                <a:cubicBezTo>
                  <a:pt x="7648" y="8657"/>
                  <a:pt x="7818" y="8588"/>
                  <a:pt x="8016" y="8588"/>
                </a:cubicBezTo>
                <a:cubicBezTo>
                  <a:pt x="8214" y="8588"/>
                  <a:pt x="8383" y="8657"/>
                  <a:pt x="8523" y="8795"/>
                </a:cubicBezTo>
                <a:cubicBezTo>
                  <a:pt x="8663" y="8933"/>
                  <a:pt x="8734" y="9099"/>
                  <a:pt x="8734" y="9294"/>
                </a:cubicBezTo>
                <a:cubicBezTo>
                  <a:pt x="8734" y="9488"/>
                  <a:pt x="8663" y="9655"/>
                  <a:pt x="8523" y="9793"/>
                </a:cubicBezTo>
                <a:cubicBezTo>
                  <a:pt x="8383" y="9931"/>
                  <a:pt x="8214" y="10000"/>
                  <a:pt x="8016" y="10000"/>
                </a:cubicBezTo>
              </a:path>
            </a:pathLst>
          </a:custGeom>
          <a:solidFill>
            <a:srgbClr val="5B8CB8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21" name="TextBox 21"/>
          <p:cNvSpPr txBox="1"/>
          <p:nvPr/>
        </p:nvSpPr>
        <p:spPr>
          <a:xfrm>
            <a:off x="6703328" y="2931022"/>
            <a:ext cx="4790473" cy="3905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100" b="1" i="0" strike="noStrike">
                <a:solidFill>
                  <a:srgbClr val="0A1F3D">
                    <a:alpha val="90196"/>
                  </a:srgbClr>
                </a:solidFill>
                <a:latin typeface="Source Han Sans"/>
                <a:ea typeface="Source Han Sans"/>
                <a:cs typeface="Source Han Sans"/>
              </a:rPr>
              <a:t>购物车模块：</a:t>
            </a:r>
            <a:r>
              <a:rPr sz="1100" b="0" i="0" strike="noStrike">
                <a:solidFill>
                  <a:srgbClr val="0A1F3D">
                    <a:alpha val="90196"/>
                  </a:srgbClr>
                </a:solidFill>
                <a:latin typeface="Source Han Sans"/>
                <a:ea typeface="Source Han Sans"/>
                <a:cs typeface="Source Han Sans"/>
              </a:rPr>
              <a:t>加入购物车、查看购物车、修改数量和选中状态、删除购物车</a:t>
            </a:r>
            <a:endParaRPr lang="en-US" sz="1100"/>
          </a:p>
          <a:p>
            <a:pPr algn="l"/>
            <a:r>
              <a:rPr sz="1100" b="0" i="0" strike="noStrike">
                <a:solidFill>
                  <a:srgbClr val="0A1F3D">
                    <a:alpha val="90196"/>
                  </a:srgbClr>
                </a:solidFill>
                <a:latin typeface="Source Han Sans"/>
                <a:ea typeface="Source Han Sans"/>
                <a:cs typeface="Source Han Sans"/>
              </a:rPr>
              <a:t>项，实时计算选中商品总金额。</a:t>
            </a:r>
            <a:endParaRPr sz="1100" b="0" i="0" strike="noStrike">
              <a:solidFill>
                <a:srgbClr val="0A1F3D">
                  <a:alpha val="90196"/>
                </a:srgbClr>
              </a:solidFill>
              <a:latin typeface="Source Han Sans"/>
              <a:ea typeface="Source Han Sans"/>
              <a:cs typeface="Source Han Sans"/>
            </a:endParaRPr>
          </a:p>
        </p:txBody>
      </p:sp>
      <p:sp>
        <p:nvSpPr>
          <p:cNvPr id="22" name="AutoShape 22"/>
          <p:cNvSpPr/>
          <p:nvPr/>
        </p:nvSpPr>
        <p:spPr>
          <a:xfrm>
            <a:off x="6426518" y="3719081"/>
            <a:ext cx="182834" cy="182880"/>
          </a:xfrm>
          <a:custGeom>
            <a:avLst/>
            <a:gdLst/>
            <a:ahLst/>
            <a:cxnLst/>
            <a:rect l="l" t="t" r="r" b="b"/>
            <a:pathLst>
              <a:path w="9998" h="10000">
                <a:moveTo>
                  <a:pt x="8498" y="10000"/>
                </a:moveTo>
                <a:lnTo>
                  <a:pt x="1500" y="10000"/>
                </a:lnTo>
                <a:cubicBezTo>
                  <a:pt x="1226" y="10000"/>
                  <a:pt x="975" y="9933"/>
                  <a:pt x="745" y="9800"/>
                </a:cubicBezTo>
                <a:cubicBezTo>
                  <a:pt x="515" y="9666"/>
                  <a:pt x="333" y="9485"/>
                  <a:pt x="200" y="9255"/>
                </a:cubicBezTo>
                <a:cubicBezTo>
                  <a:pt x="66" y="9025"/>
                  <a:pt x="0" y="8773"/>
                  <a:pt x="0" y="8500"/>
                </a:cubicBezTo>
                <a:lnTo>
                  <a:pt x="0" y="500"/>
                </a:lnTo>
                <a:cubicBezTo>
                  <a:pt x="0" y="360"/>
                  <a:pt x="48" y="241"/>
                  <a:pt x="145" y="145"/>
                </a:cubicBezTo>
                <a:cubicBezTo>
                  <a:pt x="241" y="48"/>
                  <a:pt x="360" y="0"/>
                  <a:pt x="500" y="0"/>
                </a:cubicBezTo>
                <a:lnTo>
                  <a:pt x="7499" y="0"/>
                </a:lnTo>
                <a:cubicBezTo>
                  <a:pt x="7638" y="0"/>
                  <a:pt x="7756" y="48"/>
                  <a:pt x="7853" y="145"/>
                </a:cubicBezTo>
                <a:cubicBezTo>
                  <a:pt x="7949" y="241"/>
                  <a:pt x="7998" y="360"/>
                  <a:pt x="7998" y="500"/>
                </a:cubicBezTo>
                <a:lnTo>
                  <a:pt x="7998" y="6500"/>
                </a:lnTo>
                <a:lnTo>
                  <a:pt x="9998" y="6500"/>
                </a:lnTo>
                <a:lnTo>
                  <a:pt x="9998" y="8500"/>
                </a:lnTo>
                <a:cubicBezTo>
                  <a:pt x="9998" y="8773"/>
                  <a:pt x="9931" y="9025"/>
                  <a:pt x="9798" y="9255"/>
                </a:cubicBezTo>
                <a:cubicBezTo>
                  <a:pt x="9664" y="9485"/>
                  <a:pt x="9483" y="9666"/>
                  <a:pt x="9253" y="9800"/>
                </a:cubicBezTo>
                <a:cubicBezTo>
                  <a:pt x="9023" y="9933"/>
                  <a:pt x="8771" y="10000"/>
                  <a:pt x="8498" y="10000"/>
                </a:cubicBezTo>
                <a:moveTo>
                  <a:pt x="8998" y="7500"/>
                </a:moveTo>
                <a:lnTo>
                  <a:pt x="7998" y="7500"/>
                </a:lnTo>
                <a:lnTo>
                  <a:pt x="7998" y="8500"/>
                </a:lnTo>
                <a:cubicBezTo>
                  <a:pt x="7998" y="8640"/>
                  <a:pt x="8046" y="8758"/>
                  <a:pt x="8143" y="8855"/>
                </a:cubicBezTo>
                <a:cubicBezTo>
                  <a:pt x="8239" y="8951"/>
                  <a:pt x="8358" y="9000"/>
                  <a:pt x="8498" y="9000"/>
                </a:cubicBezTo>
                <a:cubicBezTo>
                  <a:pt x="8638" y="9000"/>
                  <a:pt x="8756" y="8951"/>
                  <a:pt x="8853" y="8855"/>
                </a:cubicBezTo>
                <a:cubicBezTo>
                  <a:pt x="8949" y="8758"/>
                  <a:pt x="8998" y="8640"/>
                  <a:pt x="8998" y="8500"/>
                </a:cubicBezTo>
                <a:lnTo>
                  <a:pt x="8998" y="7500"/>
                </a:lnTo>
                <a:moveTo>
                  <a:pt x="1500" y="9000"/>
                </a:moveTo>
                <a:lnTo>
                  <a:pt x="6999" y="9000"/>
                </a:lnTo>
                <a:lnTo>
                  <a:pt x="6999" y="1000"/>
                </a:lnTo>
                <a:lnTo>
                  <a:pt x="1000" y="1000"/>
                </a:lnTo>
                <a:lnTo>
                  <a:pt x="1000" y="8500"/>
                </a:lnTo>
                <a:cubicBezTo>
                  <a:pt x="1000" y="8640"/>
                  <a:pt x="1048" y="8758"/>
                  <a:pt x="1145" y="8855"/>
                </a:cubicBezTo>
                <a:cubicBezTo>
                  <a:pt x="1241" y="8951"/>
                  <a:pt x="1360" y="9000"/>
                  <a:pt x="1500" y="9000"/>
                </a:cubicBezTo>
                <a:moveTo>
                  <a:pt x="2000" y="3500"/>
                </a:moveTo>
                <a:lnTo>
                  <a:pt x="2000" y="2500"/>
                </a:lnTo>
                <a:lnTo>
                  <a:pt x="5999" y="2500"/>
                </a:lnTo>
                <a:lnTo>
                  <a:pt x="5999" y="3500"/>
                </a:lnTo>
                <a:lnTo>
                  <a:pt x="2000" y="3500"/>
                </a:lnTo>
                <a:moveTo>
                  <a:pt x="2000" y="5500"/>
                </a:moveTo>
                <a:lnTo>
                  <a:pt x="2000" y="4500"/>
                </a:lnTo>
                <a:lnTo>
                  <a:pt x="5999" y="4500"/>
                </a:lnTo>
                <a:lnTo>
                  <a:pt x="5999" y="5500"/>
                </a:lnTo>
                <a:lnTo>
                  <a:pt x="2000" y="5500"/>
                </a:lnTo>
                <a:moveTo>
                  <a:pt x="2000" y="7500"/>
                </a:moveTo>
                <a:lnTo>
                  <a:pt x="2000" y="6500"/>
                </a:lnTo>
                <a:lnTo>
                  <a:pt x="4499" y="6500"/>
                </a:lnTo>
                <a:lnTo>
                  <a:pt x="4499" y="7500"/>
                </a:lnTo>
              </a:path>
            </a:pathLst>
          </a:custGeom>
          <a:solidFill>
            <a:srgbClr val="5B8CB8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23" name="TextBox 23"/>
          <p:cNvSpPr txBox="1"/>
          <p:nvPr/>
        </p:nvSpPr>
        <p:spPr>
          <a:xfrm>
            <a:off x="6703328" y="3682901"/>
            <a:ext cx="4790473" cy="3905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100" b="1" i="0" strike="noStrike">
                <a:solidFill>
                  <a:srgbClr val="0A1F3D">
                    <a:alpha val="90196"/>
                  </a:srgbClr>
                </a:solidFill>
                <a:latin typeface="Source Han Sans"/>
                <a:ea typeface="Source Han Sans"/>
                <a:cs typeface="Source Han Sans"/>
              </a:rPr>
              <a:t>订单模块：</a:t>
            </a:r>
            <a:r>
              <a:rPr sz="1100" b="0" i="0" strike="noStrike">
                <a:solidFill>
                  <a:srgbClr val="0A1F3D">
                    <a:alpha val="90196"/>
                  </a:srgbClr>
                </a:solidFill>
                <a:latin typeface="Source Han Sans"/>
                <a:ea typeface="Source Han Sans"/>
                <a:cs typeface="Source Han Sans"/>
              </a:rPr>
              <a:t>创建订单、模拟付款、卖家发货、确认收货、取消订单，买家和</a:t>
            </a:r>
            <a:endParaRPr lang="en-US" sz="1100"/>
          </a:p>
          <a:p>
            <a:pPr algn="l"/>
            <a:r>
              <a:rPr sz="1100" b="0" i="0" strike="noStrike">
                <a:solidFill>
                  <a:srgbClr val="0A1F3D">
                    <a:alpha val="90196"/>
                  </a:srgbClr>
                </a:solidFill>
                <a:latin typeface="Source Han Sans"/>
                <a:ea typeface="Source Han Sans"/>
                <a:cs typeface="Source Han Sans"/>
              </a:rPr>
              <a:t>卖家双视角订单列表。</a:t>
            </a:r>
            <a:endParaRPr sz="1100" b="0" i="0" strike="noStrike">
              <a:solidFill>
                <a:srgbClr val="0A1F3D">
                  <a:alpha val="90196"/>
                </a:srgbClr>
              </a:solidFill>
              <a:latin typeface="Source Han Sans"/>
              <a:ea typeface="Source Han Sans"/>
              <a:cs typeface="Source Han Sans"/>
            </a:endParaRPr>
          </a:p>
        </p:txBody>
      </p:sp>
      <p:sp>
        <p:nvSpPr>
          <p:cNvPr id="24" name="AutoShape 24"/>
          <p:cNvSpPr/>
          <p:nvPr/>
        </p:nvSpPr>
        <p:spPr>
          <a:xfrm>
            <a:off x="6426518" y="4470811"/>
            <a:ext cx="182834" cy="182880"/>
          </a:xfrm>
          <a:custGeom>
            <a:avLst/>
            <a:gdLst/>
            <a:ahLst/>
            <a:cxnLst/>
            <a:rect l="l" t="t" r="r" b="b"/>
            <a:pathLst>
              <a:path w="9998" h="10000">
                <a:moveTo>
                  <a:pt x="7249" y="0"/>
                </a:moveTo>
                <a:cubicBezTo>
                  <a:pt x="7748" y="0"/>
                  <a:pt x="8208" y="140"/>
                  <a:pt x="8628" y="422"/>
                </a:cubicBezTo>
                <a:cubicBezTo>
                  <a:pt x="9048" y="702"/>
                  <a:pt x="9378" y="1084"/>
                  <a:pt x="9618" y="1568"/>
                </a:cubicBezTo>
                <a:cubicBezTo>
                  <a:pt x="9871" y="2072"/>
                  <a:pt x="9998" y="2630"/>
                  <a:pt x="9998" y="3243"/>
                </a:cubicBezTo>
                <a:cubicBezTo>
                  <a:pt x="9998" y="4079"/>
                  <a:pt x="9818" y="4882"/>
                  <a:pt x="9458" y="5654"/>
                </a:cubicBezTo>
                <a:cubicBezTo>
                  <a:pt x="9151" y="6310"/>
                  <a:pt x="8714" y="6940"/>
                  <a:pt x="8148" y="7546"/>
                </a:cubicBezTo>
                <a:cubicBezTo>
                  <a:pt x="7708" y="8021"/>
                  <a:pt x="7185" y="8486"/>
                  <a:pt x="6579" y="8941"/>
                </a:cubicBezTo>
                <a:cubicBezTo>
                  <a:pt x="6239" y="9193"/>
                  <a:pt x="5792" y="9495"/>
                  <a:pt x="5239" y="9849"/>
                </a:cubicBezTo>
                <a:lnTo>
                  <a:pt x="4999" y="10000"/>
                </a:lnTo>
                <a:lnTo>
                  <a:pt x="4759" y="9849"/>
                </a:lnTo>
                <a:cubicBezTo>
                  <a:pt x="4205" y="9495"/>
                  <a:pt x="3759" y="9193"/>
                  <a:pt x="3419" y="8941"/>
                </a:cubicBezTo>
                <a:cubicBezTo>
                  <a:pt x="2812" y="8486"/>
                  <a:pt x="2289" y="8021"/>
                  <a:pt x="1850" y="7546"/>
                </a:cubicBezTo>
                <a:cubicBezTo>
                  <a:pt x="1283" y="6940"/>
                  <a:pt x="846" y="6310"/>
                  <a:pt x="540" y="5654"/>
                </a:cubicBezTo>
                <a:cubicBezTo>
                  <a:pt x="180" y="4882"/>
                  <a:pt x="0" y="4079"/>
                  <a:pt x="0" y="3243"/>
                </a:cubicBezTo>
                <a:cubicBezTo>
                  <a:pt x="0" y="2630"/>
                  <a:pt x="126" y="2072"/>
                  <a:pt x="380" y="1568"/>
                </a:cubicBezTo>
                <a:cubicBezTo>
                  <a:pt x="620" y="1084"/>
                  <a:pt x="950" y="702"/>
                  <a:pt x="1370" y="422"/>
                </a:cubicBezTo>
                <a:cubicBezTo>
                  <a:pt x="1790" y="140"/>
                  <a:pt x="2249" y="0"/>
                  <a:pt x="2749" y="0"/>
                </a:cubicBezTo>
                <a:cubicBezTo>
                  <a:pt x="3182" y="7"/>
                  <a:pt x="3612" y="122"/>
                  <a:pt x="4039" y="346"/>
                </a:cubicBezTo>
                <a:cubicBezTo>
                  <a:pt x="4399" y="533"/>
                  <a:pt x="4719" y="778"/>
                  <a:pt x="4999" y="1081"/>
                </a:cubicBezTo>
                <a:cubicBezTo>
                  <a:pt x="5279" y="778"/>
                  <a:pt x="5599" y="533"/>
                  <a:pt x="5959" y="346"/>
                </a:cubicBezTo>
                <a:cubicBezTo>
                  <a:pt x="6385" y="115"/>
                  <a:pt x="6815" y="0"/>
                  <a:pt x="7249" y="0"/>
                </a:cubicBezTo>
                <a:moveTo>
                  <a:pt x="5469" y="8443"/>
                </a:moveTo>
                <a:cubicBezTo>
                  <a:pt x="5922" y="8133"/>
                  <a:pt x="6325" y="7826"/>
                  <a:pt x="6679" y="7524"/>
                </a:cubicBezTo>
                <a:cubicBezTo>
                  <a:pt x="7438" y="6868"/>
                  <a:pt x="8011" y="6195"/>
                  <a:pt x="8398" y="5503"/>
                </a:cubicBezTo>
                <a:cubicBezTo>
                  <a:pt x="8798" y="4782"/>
                  <a:pt x="8998" y="4032"/>
                  <a:pt x="8998" y="3254"/>
                </a:cubicBezTo>
                <a:cubicBezTo>
                  <a:pt x="8998" y="2836"/>
                  <a:pt x="8921" y="2461"/>
                  <a:pt x="8768" y="2130"/>
                </a:cubicBezTo>
                <a:cubicBezTo>
                  <a:pt x="8614" y="1798"/>
                  <a:pt x="8404" y="1542"/>
                  <a:pt x="8138" y="1362"/>
                </a:cubicBezTo>
                <a:cubicBezTo>
                  <a:pt x="7871" y="1182"/>
                  <a:pt x="7575" y="1088"/>
                  <a:pt x="7249" y="1081"/>
                </a:cubicBezTo>
                <a:cubicBezTo>
                  <a:pt x="6982" y="1081"/>
                  <a:pt x="6712" y="1151"/>
                  <a:pt x="6439" y="1292"/>
                </a:cubicBezTo>
                <a:cubicBezTo>
                  <a:pt x="6165" y="1432"/>
                  <a:pt x="5922" y="1618"/>
                  <a:pt x="5709" y="1849"/>
                </a:cubicBezTo>
                <a:lnTo>
                  <a:pt x="4999" y="2616"/>
                </a:lnTo>
                <a:lnTo>
                  <a:pt x="4289" y="1849"/>
                </a:lnTo>
                <a:cubicBezTo>
                  <a:pt x="4075" y="1618"/>
                  <a:pt x="3832" y="1432"/>
                  <a:pt x="3559" y="1292"/>
                </a:cubicBezTo>
                <a:cubicBezTo>
                  <a:pt x="3285" y="1151"/>
                  <a:pt x="3015" y="1081"/>
                  <a:pt x="2749" y="1081"/>
                </a:cubicBezTo>
                <a:cubicBezTo>
                  <a:pt x="2429" y="1081"/>
                  <a:pt x="2136" y="1174"/>
                  <a:pt x="1870" y="1362"/>
                </a:cubicBezTo>
                <a:cubicBezTo>
                  <a:pt x="1603" y="1549"/>
                  <a:pt x="1391" y="1807"/>
                  <a:pt x="1235" y="2135"/>
                </a:cubicBezTo>
                <a:cubicBezTo>
                  <a:pt x="1078" y="2463"/>
                  <a:pt x="1000" y="2836"/>
                  <a:pt x="1000" y="3254"/>
                </a:cubicBezTo>
                <a:cubicBezTo>
                  <a:pt x="1000" y="4032"/>
                  <a:pt x="1200" y="4782"/>
                  <a:pt x="1600" y="5503"/>
                </a:cubicBezTo>
                <a:cubicBezTo>
                  <a:pt x="1986" y="6195"/>
                  <a:pt x="2559" y="6868"/>
                  <a:pt x="3319" y="7524"/>
                </a:cubicBezTo>
                <a:cubicBezTo>
                  <a:pt x="3672" y="7826"/>
                  <a:pt x="4075" y="8133"/>
                  <a:pt x="4529" y="8443"/>
                </a:cubicBezTo>
                <a:cubicBezTo>
                  <a:pt x="4669" y="8537"/>
                  <a:pt x="4825" y="8638"/>
                  <a:pt x="4999" y="8746"/>
                </a:cubicBezTo>
                <a:cubicBezTo>
                  <a:pt x="5172" y="8638"/>
                  <a:pt x="5329" y="8537"/>
                  <a:pt x="5469" y="8443"/>
                </a:cubicBezTo>
              </a:path>
            </a:pathLst>
          </a:custGeom>
          <a:solidFill>
            <a:srgbClr val="5B8CB8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25" name="TextBox 25"/>
          <p:cNvSpPr txBox="1"/>
          <p:nvPr/>
        </p:nvSpPr>
        <p:spPr>
          <a:xfrm>
            <a:off x="6703328" y="4434632"/>
            <a:ext cx="4791514" cy="3905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100" b="1" i="0" strike="noStrike">
                <a:solidFill>
                  <a:srgbClr val="0A1F3D">
                    <a:alpha val="90196"/>
                  </a:srgbClr>
                </a:solidFill>
                <a:latin typeface="Source Han Sans"/>
                <a:ea typeface="Source Han Sans"/>
                <a:cs typeface="Source Han Sans"/>
              </a:rPr>
              <a:t>收藏模块：</a:t>
            </a:r>
            <a:r>
              <a:rPr sz="1100" b="0" i="0" strike="noStrike">
                <a:solidFill>
                  <a:srgbClr val="0A1F3D">
                    <a:alpha val="90196"/>
                  </a:srgbClr>
                </a:solidFill>
                <a:latin typeface="Source Han Sans"/>
                <a:ea typeface="Source Han Sans"/>
                <a:cs typeface="Source Han Sans"/>
              </a:rPr>
              <a:t>收藏/取消收藏、收藏列表查看、详情页收藏状态实时判断，由曹</a:t>
            </a:r>
            <a:endParaRPr lang="en-US" sz="1100"/>
          </a:p>
          <a:p>
            <a:pPr algn="l"/>
            <a:r>
              <a:rPr sz="1100" b="0" i="0" strike="noStrike">
                <a:solidFill>
                  <a:srgbClr val="0A1F3D">
                    <a:alpha val="90196"/>
                  </a:srgbClr>
                </a:solidFill>
                <a:latin typeface="Source Han Sans"/>
                <a:ea typeface="Source Han Sans"/>
                <a:cs typeface="Source Han Sans"/>
              </a:rPr>
              <a:t>项登同学主责完成。</a:t>
            </a:r>
            <a:endParaRPr sz="1100" b="0" i="0" strike="noStrike">
              <a:solidFill>
                <a:srgbClr val="0A1F3D">
                  <a:alpha val="90196"/>
                </a:srgbClr>
              </a:solidFill>
              <a:latin typeface="Source Han Sans"/>
              <a:ea typeface="Source Han Sans"/>
              <a:cs typeface="Source Han Sans"/>
            </a:endParaRPr>
          </a:p>
        </p:txBody>
      </p:sp>
      <p:sp>
        <p:nvSpPr>
          <p:cNvPr id="26" name="AutoShape 26"/>
          <p:cNvSpPr/>
          <p:nvPr/>
        </p:nvSpPr>
        <p:spPr>
          <a:xfrm>
            <a:off x="457086" y="5586412"/>
            <a:ext cx="11274781" cy="9525"/>
          </a:xfrm>
          <a:prstGeom prst="line">
            <a:avLst/>
          </a:prstGeom>
          <a:ln w="9525">
            <a:solidFill>
              <a:srgbClr val="DCE1E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27" name="AutoShape 27"/>
          <p:cNvSpPr/>
          <p:nvPr/>
        </p:nvSpPr>
        <p:spPr>
          <a:xfrm>
            <a:off x="433384" y="5820772"/>
            <a:ext cx="213307" cy="213360"/>
          </a:xfrm>
          <a:custGeom>
            <a:avLst/>
            <a:gdLst/>
            <a:ahLst/>
            <a:cxnLst/>
            <a:rect l="l" t="t" r="r" b="b"/>
            <a:pathLst>
              <a:path w="9998" h="10000">
                <a:moveTo>
                  <a:pt x="3737" y="7619"/>
                </a:moveTo>
                <a:lnTo>
                  <a:pt x="6261" y="7619"/>
                </a:lnTo>
                <a:cubicBezTo>
                  <a:pt x="6303" y="7346"/>
                  <a:pt x="6419" y="7079"/>
                  <a:pt x="6611" y="6819"/>
                </a:cubicBezTo>
                <a:cubicBezTo>
                  <a:pt x="6777" y="6584"/>
                  <a:pt x="7023" y="6330"/>
                  <a:pt x="7349" y="6057"/>
                </a:cubicBezTo>
                <a:lnTo>
                  <a:pt x="7523" y="5914"/>
                </a:lnTo>
                <a:cubicBezTo>
                  <a:pt x="7765" y="5724"/>
                  <a:pt x="7898" y="5619"/>
                  <a:pt x="7923" y="5600"/>
                </a:cubicBezTo>
                <a:cubicBezTo>
                  <a:pt x="8189" y="5346"/>
                  <a:pt x="8394" y="5066"/>
                  <a:pt x="8536" y="4762"/>
                </a:cubicBezTo>
                <a:cubicBezTo>
                  <a:pt x="8677" y="4457"/>
                  <a:pt x="8748" y="4140"/>
                  <a:pt x="8748" y="3810"/>
                </a:cubicBezTo>
                <a:cubicBezTo>
                  <a:pt x="8748" y="3295"/>
                  <a:pt x="8577" y="2815"/>
                  <a:pt x="8236" y="2371"/>
                </a:cubicBezTo>
                <a:cubicBezTo>
                  <a:pt x="7902" y="1939"/>
                  <a:pt x="7452" y="1597"/>
                  <a:pt x="6886" y="1343"/>
                </a:cubicBezTo>
                <a:cubicBezTo>
                  <a:pt x="6302" y="1082"/>
                  <a:pt x="5673" y="952"/>
                  <a:pt x="4999" y="952"/>
                </a:cubicBezTo>
                <a:cubicBezTo>
                  <a:pt x="4324" y="952"/>
                  <a:pt x="3695" y="1082"/>
                  <a:pt x="3112" y="1343"/>
                </a:cubicBezTo>
                <a:cubicBezTo>
                  <a:pt x="2545" y="1597"/>
                  <a:pt x="2095" y="1939"/>
                  <a:pt x="1762" y="2371"/>
                </a:cubicBezTo>
                <a:cubicBezTo>
                  <a:pt x="1420" y="2815"/>
                  <a:pt x="1250" y="3295"/>
                  <a:pt x="1250" y="3810"/>
                </a:cubicBezTo>
                <a:cubicBezTo>
                  <a:pt x="1250" y="4140"/>
                  <a:pt x="1320" y="4457"/>
                  <a:pt x="1462" y="4762"/>
                </a:cubicBezTo>
                <a:cubicBezTo>
                  <a:pt x="1604" y="5066"/>
                  <a:pt x="1808" y="5342"/>
                  <a:pt x="2075" y="5590"/>
                </a:cubicBezTo>
                <a:cubicBezTo>
                  <a:pt x="2099" y="5616"/>
                  <a:pt x="2233" y="5724"/>
                  <a:pt x="2475" y="5914"/>
                </a:cubicBezTo>
                <a:lnTo>
                  <a:pt x="2649" y="6057"/>
                </a:lnTo>
                <a:cubicBezTo>
                  <a:pt x="2974" y="6330"/>
                  <a:pt x="3220" y="6584"/>
                  <a:pt x="3387" y="6819"/>
                </a:cubicBezTo>
                <a:cubicBezTo>
                  <a:pt x="3578" y="7079"/>
                  <a:pt x="3695" y="7346"/>
                  <a:pt x="3737" y="7619"/>
                </a:cubicBezTo>
                <a:moveTo>
                  <a:pt x="6249" y="9048"/>
                </a:moveTo>
                <a:lnTo>
                  <a:pt x="6249" y="8571"/>
                </a:lnTo>
                <a:lnTo>
                  <a:pt x="3749" y="8571"/>
                </a:lnTo>
                <a:lnTo>
                  <a:pt x="3749" y="9048"/>
                </a:lnTo>
                <a:lnTo>
                  <a:pt x="6249" y="9048"/>
                </a:lnTo>
                <a:moveTo>
                  <a:pt x="1100" y="6190"/>
                </a:moveTo>
                <a:cubicBezTo>
                  <a:pt x="750" y="5860"/>
                  <a:pt x="479" y="5495"/>
                  <a:pt x="287" y="5095"/>
                </a:cubicBezTo>
                <a:cubicBezTo>
                  <a:pt x="95" y="4682"/>
                  <a:pt x="0" y="4254"/>
                  <a:pt x="0" y="3810"/>
                </a:cubicBezTo>
                <a:cubicBezTo>
                  <a:pt x="0" y="3117"/>
                  <a:pt x="229" y="2476"/>
                  <a:pt x="687" y="1886"/>
                </a:cubicBezTo>
                <a:cubicBezTo>
                  <a:pt x="1129" y="1314"/>
                  <a:pt x="1725" y="860"/>
                  <a:pt x="2475" y="524"/>
                </a:cubicBezTo>
                <a:cubicBezTo>
                  <a:pt x="3249" y="174"/>
                  <a:pt x="4091" y="0"/>
                  <a:pt x="4999" y="0"/>
                </a:cubicBezTo>
                <a:cubicBezTo>
                  <a:pt x="5907" y="0"/>
                  <a:pt x="6748" y="174"/>
                  <a:pt x="7523" y="524"/>
                </a:cubicBezTo>
                <a:cubicBezTo>
                  <a:pt x="8273" y="860"/>
                  <a:pt x="8869" y="1314"/>
                  <a:pt x="9311" y="1886"/>
                </a:cubicBezTo>
                <a:cubicBezTo>
                  <a:pt x="9769" y="2476"/>
                  <a:pt x="9998" y="3117"/>
                  <a:pt x="9998" y="3810"/>
                </a:cubicBezTo>
                <a:cubicBezTo>
                  <a:pt x="9998" y="4254"/>
                  <a:pt x="9902" y="4682"/>
                  <a:pt x="9711" y="5095"/>
                </a:cubicBezTo>
                <a:cubicBezTo>
                  <a:pt x="9519" y="5495"/>
                  <a:pt x="9248" y="5860"/>
                  <a:pt x="8898" y="6190"/>
                </a:cubicBezTo>
                <a:cubicBezTo>
                  <a:pt x="8840" y="6247"/>
                  <a:pt x="8723" y="6342"/>
                  <a:pt x="8548" y="6476"/>
                </a:cubicBezTo>
                <a:cubicBezTo>
                  <a:pt x="8223" y="6736"/>
                  <a:pt x="7994" y="6943"/>
                  <a:pt x="7861" y="7095"/>
                </a:cubicBezTo>
                <a:cubicBezTo>
                  <a:pt x="7619" y="7361"/>
                  <a:pt x="7499" y="7615"/>
                  <a:pt x="7499" y="7857"/>
                </a:cubicBezTo>
                <a:lnTo>
                  <a:pt x="7499" y="9048"/>
                </a:lnTo>
                <a:cubicBezTo>
                  <a:pt x="7499" y="9219"/>
                  <a:pt x="7442" y="9378"/>
                  <a:pt x="7330" y="9524"/>
                </a:cubicBezTo>
                <a:cubicBezTo>
                  <a:pt x="7217" y="9670"/>
                  <a:pt x="7065" y="9785"/>
                  <a:pt x="6874" y="9871"/>
                </a:cubicBezTo>
                <a:cubicBezTo>
                  <a:pt x="6682" y="9957"/>
                  <a:pt x="6473" y="10000"/>
                  <a:pt x="6249" y="10000"/>
                </a:cubicBezTo>
                <a:lnTo>
                  <a:pt x="3749" y="10000"/>
                </a:lnTo>
                <a:cubicBezTo>
                  <a:pt x="3524" y="10000"/>
                  <a:pt x="3316" y="9957"/>
                  <a:pt x="3124" y="9871"/>
                </a:cubicBezTo>
                <a:cubicBezTo>
                  <a:pt x="2932" y="9785"/>
                  <a:pt x="2780" y="9670"/>
                  <a:pt x="2668" y="9524"/>
                </a:cubicBezTo>
                <a:cubicBezTo>
                  <a:pt x="2556" y="9378"/>
                  <a:pt x="2500" y="9219"/>
                  <a:pt x="2500" y="9048"/>
                </a:cubicBezTo>
                <a:lnTo>
                  <a:pt x="2500" y="7857"/>
                </a:lnTo>
                <a:cubicBezTo>
                  <a:pt x="2500" y="7615"/>
                  <a:pt x="2379" y="7361"/>
                  <a:pt x="2137" y="7095"/>
                </a:cubicBezTo>
                <a:cubicBezTo>
                  <a:pt x="2003" y="6943"/>
                  <a:pt x="1774" y="6736"/>
                  <a:pt x="1450" y="6476"/>
                </a:cubicBezTo>
                <a:cubicBezTo>
                  <a:pt x="1274" y="6342"/>
                  <a:pt x="1158" y="6247"/>
                  <a:pt x="1100" y="6190"/>
                </a:cubicBezTo>
                <a:moveTo>
                  <a:pt x="5624" y="1905"/>
                </a:moveTo>
                <a:lnTo>
                  <a:pt x="5624" y="3810"/>
                </a:lnTo>
                <a:lnTo>
                  <a:pt x="7186" y="3810"/>
                </a:lnTo>
                <a:lnTo>
                  <a:pt x="4374" y="6667"/>
                </a:lnTo>
                <a:lnTo>
                  <a:pt x="4374" y="4762"/>
                </a:lnTo>
                <a:lnTo>
                  <a:pt x="2812" y="4762"/>
                </a:lnTo>
              </a:path>
            </a:pathLst>
          </a:custGeom>
          <a:solidFill>
            <a:srgbClr val="5B8CB8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28" name="TextBox 28"/>
          <p:cNvSpPr txBox="1"/>
          <p:nvPr/>
        </p:nvSpPr>
        <p:spPr>
          <a:xfrm>
            <a:off x="737259" y="5767388"/>
            <a:ext cx="10994607" cy="1143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800" b="0" i="0" strike="noStrike">
                <a:solidFill>
                  <a:srgbClr val="0A1F3D">
                    <a:alpha val="60000"/>
                  </a:srgbClr>
                </a:solidFill>
                <a:latin typeface="Inter"/>
                <a:ea typeface="Inter"/>
                <a:cs typeface="Inter"/>
              </a:rPr>
              <a:t>KEY INSIGHT</a:t>
            </a:r>
            <a:endParaRPr lang="en-US" sz="1100"/>
          </a:p>
        </p:txBody>
      </p:sp>
      <p:sp>
        <p:nvSpPr>
          <p:cNvPr id="29" name="TextBox 29"/>
          <p:cNvSpPr txBox="1"/>
          <p:nvPr/>
        </p:nvSpPr>
        <p:spPr>
          <a:xfrm>
            <a:off x="737259" y="5972175"/>
            <a:ext cx="11451693" cy="3905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200" b="0" i="0" strike="noStrike">
                <a:solidFill>
                  <a:srgbClr val="0A1F3D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八大核心模块全部完成并上线，用户模块实现注册登录和 JWT 认证，图书模块实现发布浏览搜索下架全流程，文件模块实现封面上传和删除清理，购物车模块实现</a:t>
            </a:r>
            <a:endParaRPr lang="en-US" sz="1100"/>
          </a:p>
          <a:p>
            <a:pPr algn="l"/>
            <a:r>
              <a:rPr sz="1200" b="0" i="0" strike="noStrike">
                <a:solidFill>
                  <a:srgbClr val="0A1F3D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增删改查和实时金额计算。各模块功能完整，通过 20 项测试用例验证。</a:t>
            </a:r>
            <a:endParaRPr sz="1200" b="0" i="0" strike="noStrike">
              <a:solidFill>
                <a:srgbClr val="0A1F3D">
                  <a:alpha val="100000"/>
                </a:srgbClr>
              </a:solidFill>
              <a:latin typeface="Source Han Sans"/>
              <a:ea typeface="Source Han Sans"/>
              <a:cs typeface="Source Han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333333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3" name="AutoShap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3F5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4" name="TextBox 4"/>
          <p:cNvSpPr txBox="1"/>
          <p:nvPr/>
        </p:nvSpPr>
        <p:spPr>
          <a:xfrm>
            <a:off x="457086" y="466725"/>
            <a:ext cx="11274781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solidFill>
                  <a:srgbClr val="0A1F3D">
                    <a:alpha val="60000"/>
                  </a:srgbClr>
                </a:solidFill>
                <a:latin typeface="Poppins"/>
                <a:ea typeface="Poppins"/>
                <a:cs typeface="Poppins"/>
              </a:rPr>
              <a:t>SYSTEM MODULES</a:t>
            </a:r>
            <a:endParaRPr lang="en-US" sz="1100"/>
          </a:p>
        </p:txBody>
      </p:sp>
      <p:sp>
        <p:nvSpPr>
          <p:cNvPr id="5" name="TextBox 5"/>
          <p:cNvSpPr txBox="1"/>
          <p:nvPr/>
        </p:nvSpPr>
        <p:spPr>
          <a:xfrm>
            <a:off x="457086" y="742950"/>
            <a:ext cx="11274781" cy="3810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2700" b="1" i="0" strike="noStrike">
                <a:solidFill>
                  <a:srgbClr val="0A1F3D">
                    <a:alpha val="100000"/>
                  </a:srgbClr>
                </a:solidFill>
                <a:latin typeface="Source Han Serif CN"/>
                <a:ea typeface="Source Han Serif CN"/>
                <a:cs typeface="Source Han Serif CN"/>
              </a:rPr>
              <a:t>核心功能实现（二）：后台管理系统</a:t>
            </a:r>
            <a:endParaRPr lang="en-US" sz="1100"/>
          </a:p>
        </p:txBody>
      </p:sp>
      <p:sp>
        <p:nvSpPr>
          <p:cNvPr id="6" name="TextBox 6"/>
          <p:cNvSpPr txBox="1"/>
          <p:nvPr/>
        </p:nvSpPr>
        <p:spPr>
          <a:xfrm>
            <a:off x="457086" y="1343025"/>
            <a:ext cx="11274781" cy="7477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300" b="0" i="0" strike="noStrike">
                <a:solidFill>
                  <a:srgbClr val="0A1F3D">
                    <a:alpha val="80000"/>
                  </a:srgbClr>
                </a:solidFill>
                <a:latin typeface="Source Han Sans"/>
                <a:ea typeface="Source Han Sans"/>
                <a:cs typeface="Source Han Sans"/>
              </a:rPr>
              <a:t>后台管理系统提供用户管理、分类管理、订单管理、公告管理四大功能模块，管理员通过 admin</a:t>
            </a:r>
            <a:endParaRPr lang="en-US" sz="1100"/>
          </a:p>
          <a:p>
            <a:pPr algn="l"/>
            <a:r>
              <a:rPr sz="1300" b="0" i="0" strike="noStrike">
                <a:solidFill>
                  <a:srgbClr val="0A1F3D">
                    <a:alpha val="80000"/>
                  </a:srgbClr>
                </a:solidFill>
                <a:latin typeface="Source Han Sans"/>
                <a:ea typeface="Source Han Sans"/>
                <a:cs typeface="Source Han Sans"/>
              </a:rPr>
              <a:t>账号登录后统一管理全站数据。权限控制严格，普通用户无法访问后台，分类删除有保护机制防</a:t>
            </a:r>
            <a:endParaRPr sz="1300" b="0" i="0" strike="noStrike">
              <a:solidFill>
                <a:srgbClr val="0A1F3D">
                  <a:alpha val="80000"/>
                </a:srgbClr>
              </a:solidFill>
              <a:latin typeface="Source Han Sans"/>
              <a:ea typeface="Source Han Sans"/>
              <a:cs typeface="Source Han Sans"/>
            </a:endParaRPr>
          </a:p>
          <a:p>
            <a:pPr algn="l"/>
            <a:r>
              <a:rPr sz="1300" b="0" i="0" strike="noStrike">
                <a:solidFill>
                  <a:srgbClr val="0A1F3D">
                    <a:alpha val="80000"/>
                  </a:srgbClr>
                </a:solidFill>
                <a:latin typeface="Source Han Sans"/>
                <a:ea typeface="Source Han Sans"/>
                <a:cs typeface="Source Han Sans"/>
              </a:rPr>
              <a:t>止数据丢失，所有操作均有完整校验和反馈。</a:t>
            </a:r>
            <a:endParaRPr sz="1300" b="0" i="0" strike="noStrike">
              <a:solidFill>
                <a:srgbClr val="0A1F3D">
                  <a:alpha val="80000"/>
                </a:srgbClr>
              </a:solidFill>
              <a:latin typeface="Source Han Sans"/>
              <a:ea typeface="Source Han Sans"/>
              <a:cs typeface="Source Han Sans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457086" y="2445544"/>
            <a:ext cx="5523120" cy="1647825"/>
          </a:xfrm>
          <a:prstGeom prst="rect">
            <a:avLst/>
          </a:prstGeom>
          <a:blipFill rotWithShape="1">
            <a:blip r:embed="rId1">
              <a:alphaModFix amt="100000"/>
              <a:alphaModFix amt="100000"/>
            </a:blip>
            <a:stretch>
              <a:fillRect/>
            </a:stretch>
          </a:blipFill>
          <a:ln>
            <a:headEnd type="none"/>
            <a:tailEnd type="none"/>
          </a:ln>
        </p:spPr>
      </p:sp>
      <p:sp>
        <p:nvSpPr>
          <p:cNvPr id="8" name="AutoShape 8"/>
          <p:cNvSpPr/>
          <p:nvPr/>
        </p:nvSpPr>
        <p:spPr>
          <a:xfrm>
            <a:off x="669783" y="2750344"/>
            <a:ext cx="228543" cy="228600"/>
          </a:xfrm>
          <a:custGeom>
            <a:avLst/>
            <a:gdLst/>
            <a:ahLst/>
            <a:cxnLst/>
            <a:rect l="l" t="t" r="r" b="b"/>
            <a:pathLst>
              <a:path w="9998" h="10000">
                <a:moveTo>
                  <a:pt x="4347" y="6047"/>
                </a:moveTo>
                <a:lnTo>
                  <a:pt x="4347" y="6977"/>
                </a:lnTo>
                <a:cubicBezTo>
                  <a:pt x="3760" y="6977"/>
                  <a:pt x="3213" y="7104"/>
                  <a:pt x="2706" y="7358"/>
                </a:cubicBezTo>
                <a:cubicBezTo>
                  <a:pt x="2213" y="7606"/>
                  <a:pt x="1822" y="7941"/>
                  <a:pt x="1532" y="8363"/>
                </a:cubicBezTo>
                <a:cubicBezTo>
                  <a:pt x="1235" y="8797"/>
                  <a:pt x="1087" y="9268"/>
                  <a:pt x="1087" y="9777"/>
                </a:cubicBezTo>
                <a:lnTo>
                  <a:pt x="0" y="9777"/>
                </a:lnTo>
                <a:cubicBezTo>
                  <a:pt x="0" y="9101"/>
                  <a:pt x="199" y="8474"/>
                  <a:pt x="598" y="7898"/>
                </a:cubicBezTo>
                <a:cubicBezTo>
                  <a:pt x="982" y="7333"/>
                  <a:pt x="1500" y="6886"/>
                  <a:pt x="2152" y="6558"/>
                </a:cubicBezTo>
                <a:cubicBezTo>
                  <a:pt x="2825" y="6217"/>
                  <a:pt x="3557" y="6047"/>
                  <a:pt x="4347" y="6047"/>
                </a:cubicBezTo>
                <a:moveTo>
                  <a:pt x="4347" y="5581"/>
                </a:moveTo>
                <a:cubicBezTo>
                  <a:pt x="3760" y="5581"/>
                  <a:pt x="3213" y="5457"/>
                  <a:pt x="2706" y="5209"/>
                </a:cubicBezTo>
                <a:cubicBezTo>
                  <a:pt x="2213" y="4961"/>
                  <a:pt x="1822" y="4626"/>
                  <a:pt x="1532" y="4205"/>
                </a:cubicBezTo>
                <a:cubicBezTo>
                  <a:pt x="1235" y="3770"/>
                  <a:pt x="1087" y="3300"/>
                  <a:pt x="1087" y="2795"/>
                </a:cubicBezTo>
                <a:cubicBezTo>
                  <a:pt x="1087" y="2289"/>
                  <a:pt x="1235" y="1820"/>
                  <a:pt x="1532" y="1386"/>
                </a:cubicBezTo>
                <a:cubicBezTo>
                  <a:pt x="1822" y="964"/>
                  <a:pt x="2213" y="629"/>
                  <a:pt x="2706" y="381"/>
                </a:cubicBezTo>
                <a:cubicBezTo>
                  <a:pt x="3213" y="127"/>
                  <a:pt x="3762" y="0"/>
                  <a:pt x="4352" y="0"/>
                </a:cubicBezTo>
                <a:cubicBezTo>
                  <a:pt x="4942" y="0"/>
                  <a:pt x="5491" y="127"/>
                  <a:pt x="5999" y="381"/>
                </a:cubicBezTo>
                <a:cubicBezTo>
                  <a:pt x="6484" y="629"/>
                  <a:pt x="6872" y="964"/>
                  <a:pt x="7162" y="1386"/>
                </a:cubicBezTo>
                <a:cubicBezTo>
                  <a:pt x="7458" y="1820"/>
                  <a:pt x="7607" y="2289"/>
                  <a:pt x="7607" y="2795"/>
                </a:cubicBezTo>
                <a:cubicBezTo>
                  <a:pt x="7607" y="3300"/>
                  <a:pt x="7458" y="3770"/>
                  <a:pt x="7162" y="4205"/>
                </a:cubicBezTo>
                <a:cubicBezTo>
                  <a:pt x="6872" y="4626"/>
                  <a:pt x="6484" y="4961"/>
                  <a:pt x="5999" y="5209"/>
                </a:cubicBezTo>
                <a:cubicBezTo>
                  <a:pt x="5491" y="5457"/>
                  <a:pt x="4941" y="5581"/>
                  <a:pt x="4347" y="5581"/>
                </a:cubicBezTo>
                <a:moveTo>
                  <a:pt x="4347" y="4651"/>
                </a:moveTo>
                <a:cubicBezTo>
                  <a:pt x="4738" y="4651"/>
                  <a:pt x="5100" y="4569"/>
                  <a:pt x="5434" y="4405"/>
                </a:cubicBezTo>
                <a:cubicBezTo>
                  <a:pt x="5767" y="4240"/>
                  <a:pt x="6031" y="4015"/>
                  <a:pt x="6227" y="3730"/>
                </a:cubicBezTo>
                <a:cubicBezTo>
                  <a:pt x="6422" y="3444"/>
                  <a:pt x="6520" y="3133"/>
                  <a:pt x="6520" y="2795"/>
                </a:cubicBezTo>
                <a:cubicBezTo>
                  <a:pt x="6520" y="2457"/>
                  <a:pt x="6422" y="2145"/>
                  <a:pt x="6227" y="1860"/>
                </a:cubicBezTo>
                <a:cubicBezTo>
                  <a:pt x="6031" y="1575"/>
                  <a:pt x="5767" y="1349"/>
                  <a:pt x="5434" y="1181"/>
                </a:cubicBezTo>
                <a:cubicBezTo>
                  <a:pt x="5100" y="1013"/>
                  <a:pt x="4738" y="930"/>
                  <a:pt x="4347" y="930"/>
                </a:cubicBezTo>
                <a:cubicBezTo>
                  <a:pt x="3955" y="930"/>
                  <a:pt x="3593" y="1013"/>
                  <a:pt x="3260" y="1181"/>
                </a:cubicBezTo>
                <a:cubicBezTo>
                  <a:pt x="2926" y="1349"/>
                  <a:pt x="2662" y="1575"/>
                  <a:pt x="2467" y="1860"/>
                </a:cubicBezTo>
                <a:cubicBezTo>
                  <a:pt x="2271" y="2145"/>
                  <a:pt x="2173" y="2457"/>
                  <a:pt x="2173" y="2795"/>
                </a:cubicBezTo>
                <a:cubicBezTo>
                  <a:pt x="2173" y="3133"/>
                  <a:pt x="2271" y="3444"/>
                  <a:pt x="2467" y="3730"/>
                </a:cubicBezTo>
                <a:cubicBezTo>
                  <a:pt x="2662" y="4015"/>
                  <a:pt x="2926" y="4240"/>
                  <a:pt x="3260" y="4405"/>
                </a:cubicBezTo>
                <a:cubicBezTo>
                  <a:pt x="3593" y="4569"/>
                  <a:pt x="3955" y="4651"/>
                  <a:pt x="4347" y="4651"/>
                </a:cubicBezTo>
                <a:moveTo>
                  <a:pt x="5216" y="8558"/>
                </a:moveTo>
                <a:lnTo>
                  <a:pt x="5760" y="8288"/>
                </a:lnTo>
                <a:cubicBezTo>
                  <a:pt x="5723" y="8164"/>
                  <a:pt x="5705" y="8038"/>
                  <a:pt x="5705" y="7912"/>
                </a:cubicBezTo>
                <a:cubicBezTo>
                  <a:pt x="5705" y="7784"/>
                  <a:pt x="5723" y="7659"/>
                  <a:pt x="5760" y="7535"/>
                </a:cubicBezTo>
                <a:lnTo>
                  <a:pt x="5216" y="7265"/>
                </a:lnTo>
                <a:lnTo>
                  <a:pt x="5760" y="6465"/>
                </a:lnTo>
                <a:lnTo>
                  <a:pt x="6303" y="6726"/>
                </a:lnTo>
                <a:cubicBezTo>
                  <a:pt x="6520" y="6552"/>
                  <a:pt x="6774" y="6427"/>
                  <a:pt x="7064" y="6353"/>
                </a:cubicBezTo>
                <a:lnTo>
                  <a:pt x="7064" y="5814"/>
                </a:lnTo>
                <a:lnTo>
                  <a:pt x="8151" y="5814"/>
                </a:lnTo>
                <a:lnTo>
                  <a:pt x="8151" y="6353"/>
                </a:lnTo>
                <a:cubicBezTo>
                  <a:pt x="8440" y="6427"/>
                  <a:pt x="8693" y="6552"/>
                  <a:pt x="8911" y="6726"/>
                </a:cubicBezTo>
                <a:lnTo>
                  <a:pt x="9455" y="6465"/>
                </a:lnTo>
                <a:lnTo>
                  <a:pt x="9998" y="7265"/>
                </a:lnTo>
                <a:lnTo>
                  <a:pt x="9455" y="7535"/>
                </a:lnTo>
                <a:cubicBezTo>
                  <a:pt x="9491" y="7659"/>
                  <a:pt x="9509" y="7784"/>
                  <a:pt x="9509" y="7912"/>
                </a:cubicBezTo>
                <a:cubicBezTo>
                  <a:pt x="9509" y="8038"/>
                  <a:pt x="9491" y="8164"/>
                  <a:pt x="9455" y="8288"/>
                </a:cubicBezTo>
                <a:lnTo>
                  <a:pt x="9998" y="8558"/>
                </a:lnTo>
                <a:lnTo>
                  <a:pt x="9455" y="9358"/>
                </a:lnTo>
                <a:lnTo>
                  <a:pt x="8911" y="9098"/>
                </a:lnTo>
                <a:cubicBezTo>
                  <a:pt x="8693" y="9271"/>
                  <a:pt x="8440" y="9395"/>
                  <a:pt x="8151" y="9470"/>
                </a:cubicBezTo>
                <a:lnTo>
                  <a:pt x="8151" y="10000"/>
                </a:lnTo>
                <a:lnTo>
                  <a:pt x="7064" y="10000"/>
                </a:lnTo>
                <a:lnTo>
                  <a:pt x="7064" y="9470"/>
                </a:lnTo>
                <a:cubicBezTo>
                  <a:pt x="6774" y="9395"/>
                  <a:pt x="6520" y="9271"/>
                  <a:pt x="6303" y="9098"/>
                </a:cubicBezTo>
                <a:lnTo>
                  <a:pt x="5760" y="9358"/>
                </a:lnTo>
                <a:lnTo>
                  <a:pt x="5216" y="8558"/>
                </a:lnTo>
                <a:moveTo>
                  <a:pt x="7607" y="8614"/>
                </a:moveTo>
                <a:lnTo>
                  <a:pt x="7607" y="8605"/>
                </a:lnTo>
                <a:cubicBezTo>
                  <a:pt x="7831" y="8605"/>
                  <a:pt x="8023" y="8538"/>
                  <a:pt x="8183" y="8405"/>
                </a:cubicBezTo>
                <a:cubicBezTo>
                  <a:pt x="8342" y="8271"/>
                  <a:pt x="8422" y="8107"/>
                  <a:pt x="8422" y="7912"/>
                </a:cubicBezTo>
                <a:cubicBezTo>
                  <a:pt x="8422" y="7716"/>
                  <a:pt x="8342" y="7552"/>
                  <a:pt x="8183" y="7419"/>
                </a:cubicBezTo>
                <a:cubicBezTo>
                  <a:pt x="8023" y="7285"/>
                  <a:pt x="7831" y="7217"/>
                  <a:pt x="7607" y="7214"/>
                </a:cubicBezTo>
                <a:cubicBezTo>
                  <a:pt x="7382" y="7210"/>
                  <a:pt x="7190" y="7277"/>
                  <a:pt x="7031" y="7414"/>
                </a:cubicBezTo>
                <a:cubicBezTo>
                  <a:pt x="6871" y="7550"/>
                  <a:pt x="6792" y="7716"/>
                  <a:pt x="6792" y="7912"/>
                </a:cubicBezTo>
                <a:cubicBezTo>
                  <a:pt x="6792" y="8107"/>
                  <a:pt x="6871" y="8273"/>
                  <a:pt x="7031" y="8409"/>
                </a:cubicBezTo>
                <a:cubicBezTo>
                  <a:pt x="7190" y="8545"/>
                  <a:pt x="7382" y="8614"/>
                  <a:pt x="7607" y="8614"/>
                </a:cubicBezTo>
              </a:path>
            </a:pathLst>
          </a:custGeom>
          <a:solidFill>
            <a:srgbClr val="5B8CB8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9" name="TextBox 9"/>
          <p:cNvSpPr txBox="1"/>
          <p:nvPr/>
        </p:nvSpPr>
        <p:spPr>
          <a:xfrm>
            <a:off x="987228" y="2759869"/>
            <a:ext cx="809423" cy="2095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500" b="1" i="0" strike="noStrike">
                <a:solidFill>
                  <a:srgbClr val="0A1F3D">
                    <a:alpha val="100000"/>
                  </a:srgbClr>
                </a:solidFill>
                <a:latin typeface="Source Han Serif CN"/>
                <a:ea typeface="Source Han Serif CN"/>
                <a:cs typeface="Source Han Serif CN"/>
              </a:rPr>
              <a:t>用户管理</a:t>
            </a:r>
            <a:endParaRPr lang="en-US" sz="1100"/>
          </a:p>
        </p:txBody>
      </p:sp>
      <p:sp>
        <p:nvSpPr>
          <p:cNvPr id="10" name="TextBox 10"/>
          <p:cNvSpPr txBox="1"/>
          <p:nvPr/>
        </p:nvSpPr>
        <p:spPr>
          <a:xfrm>
            <a:off x="695151" y="3255169"/>
            <a:ext cx="91506" cy="1619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200" b="0" i="0" strike="noStrike">
                <a:solidFill>
                  <a:srgbClr val="5B8CB8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•</a:t>
            </a:r>
            <a:endParaRPr lang="en-US" sz="1100"/>
          </a:p>
        </p:txBody>
      </p:sp>
      <p:sp>
        <p:nvSpPr>
          <p:cNvPr id="11" name="TextBox 11"/>
          <p:cNvSpPr txBox="1"/>
          <p:nvPr/>
        </p:nvSpPr>
        <p:spPr>
          <a:xfrm>
            <a:off x="824748" y="3198019"/>
            <a:ext cx="4194268" cy="1619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200" b="0" i="0" strike="noStrike">
                <a:solidFill>
                  <a:srgbClr val="0A1F3D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查看用户 ID、用户名、手机号、邮箱、角色、状态等详细信息</a:t>
            </a:r>
            <a:endParaRPr lang="en-US" sz="1100"/>
          </a:p>
        </p:txBody>
      </p:sp>
      <p:sp>
        <p:nvSpPr>
          <p:cNvPr id="12" name="TextBox 12"/>
          <p:cNvSpPr txBox="1"/>
          <p:nvPr/>
        </p:nvSpPr>
        <p:spPr>
          <a:xfrm>
            <a:off x="695151" y="3655219"/>
            <a:ext cx="91506" cy="1619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200" b="0" i="0" strike="noStrike">
                <a:solidFill>
                  <a:srgbClr val="5B8CB8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•</a:t>
            </a:r>
            <a:endParaRPr lang="en-US" sz="1100"/>
          </a:p>
        </p:txBody>
      </p:sp>
      <p:sp>
        <p:nvSpPr>
          <p:cNvPr id="13" name="TextBox 13"/>
          <p:cNvSpPr txBox="1"/>
          <p:nvPr/>
        </p:nvSpPr>
        <p:spPr>
          <a:xfrm>
            <a:off x="824748" y="3598069"/>
            <a:ext cx="3237690" cy="1619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200" b="0" i="0" strike="noStrike">
                <a:solidFill>
                  <a:srgbClr val="0A1F3D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对异常账号执行禁用或启用操作，保障平台安全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208747" y="2445544"/>
            <a:ext cx="5523120" cy="1647825"/>
          </a:xfrm>
          <a:prstGeom prst="rect">
            <a:avLst/>
          </a:prstGeom>
          <a:blipFill rotWithShape="1">
            <a:blip r:embed="rId1">
              <a:alphaModFix amt="100000"/>
              <a:alphaModFix amt="100000"/>
            </a:blip>
            <a:stretch>
              <a:fillRect/>
            </a:stretch>
          </a:blipFill>
          <a:ln>
            <a:headEnd type="none"/>
            <a:tailEnd type="none"/>
          </a:ln>
        </p:spPr>
      </p:sp>
      <p:sp>
        <p:nvSpPr>
          <p:cNvPr id="15" name="AutoShape 15"/>
          <p:cNvSpPr/>
          <p:nvPr/>
        </p:nvSpPr>
        <p:spPr>
          <a:xfrm>
            <a:off x="6421444" y="2750344"/>
            <a:ext cx="228543" cy="228600"/>
          </a:xfrm>
          <a:custGeom>
            <a:avLst/>
            <a:gdLst/>
            <a:ahLst/>
            <a:cxnLst/>
            <a:rect l="l" t="t" r="r" b="b"/>
            <a:pathLst>
              <a:path w="9998" h="10000">
                <a:moveTo>
                  <a:pt x="4209" y="0"/>
                </a:moveTo>
                <a:lnTo>
                  <a:pt x="5209" y="1111"/>
                </a:lnTo>
                <a:lnTo>
                  <a:pt x="9498" y="1111"/>
                </a:lnTo>
                <a:cubicBezTo>
                  <a:pt x="9638" y="1111"/>
                  <a:pt x="9756" y="1164"/>
                  <a:pt x="9853" y="1272"/>
                </a:cubicBezTo>
                <a:cubicBezTo>
                  <a:pt x="9949" y="1379"/>
                  <a:pt x="9998" y="1511"/>
                  <a:pt x="9998" y="1667"/>
                </a:cubicBezTo>
                <a:lnTo>
                  <a:pt x="9998" y="9444"/>
                </a:lnTo>
                <a:cubicBezTo>
                  <a:pt x="9998" y="9600"/>
                  <a:pt x="9949" y="9731"/>
                  <a:pt x="9853" y="9839"/>
                </a:cubicBezTo>
                <a:cubicBezTo>
                  <a:pt x="9756" y="9946"/>
                  <a:pt x="9638" y="10000"/>
                  <a:pt x="9498" y="10000"/>
                </a:cubicBezTo>
                <a:lnTo>
                  <a:pt x="500" y="10000"/>
                </a:lnTo>
                <a:cubicBezTo>
                  <a:pt x="360" y="10000"/>
                  <a:pt x="241" y="9946"/>
                  <a:pt x="145" y="9839"/>
                </a:cubicBezTo>
                <a:cubicBezTo>
                  <a:pt x="48" y="9731"/>
                  <a:pt x="0" y="9600"/>
                  <a:pt x="0" y="9444"/>
                </a:cubicBezTo>
                <a:lnTo>
                  <a:pt x="0" y="556"/>
                </a:lnTo>
                <a:cubicBezTo>
                  <a:pt x="0" y="400"/>
                  <a:pt x="48" y="268"/>
                  <a:pt x="145" y="161"/>
                </a:cubicBezTo>
                <a:cubicBezTo>
                  <a:pt x="241" y="53"/>
                  <a:pt x="360" y="0"/>
                  <a:pt x="500" y="0"/>
                </a:cubicBezTo>
                <a:lnTo>
                  <a:pt x="4209" y="0"/>
                </a:lnTo>
                <a:moveTo>
                  <a:pt x="3789" y="1111"/>
                </a:moveTo>
                <a:lnTo>
                  <a:pt x="1000" y="1111"/>
                </a:lnTo>
                <a:lnTo>
                  <a:pt x="1000" y="8889"/>
                </a:lnTo>
                <a:lnTo>
                  <a:pt x="8998" y="8889"/>
                </a:lnTo>
                <a:lnTo>
                  <a:pt x="8998" y="2222"/>
                </a:lnTo>
                <a:lnTo>
                  <a:pt x="4789" y="2222"/>
                </a:lnTo>
                <a:lnTo>
                  <a:pt x="3789" y="1111"/>
                </a:lnTo>
                <a:moveTo>
                  <a:pt x="2799" y="6322"/>
                </a:moveTo>
                <a:lnTo>
                  <a:pt x="3299" y="6000"/>
                </a:lnTo>
                <a:cubicBezTo>
                  <a:pt x="3265" y="5859"/>
                  <a:pt x="3249" y="5711"/>
                  <a:pt x="3249" y="5556"/>
                </a:cubicBezTo>
                <a:cubicBezTo>
                  <a:pt x="3249" y="5400"/>
                  <a:pt x="3265" y="5248"/>
                  <a:pt x="3299" y="5100"/>
                </a:cubicBezTo>
                <a:lnTo>
                  <a:pt x="2799" y="4789"/>
                </a:lnTo>
                <a:lnTo>
                  <a:pt x="3299" y="3822"/>
                </a:lnTo>
                <a:lnTo>
                  <a:pt x="3799" y="4144"/>
                </a:lnTo>
                <a:cubicBezTo>
                  <a:pt x="3999" y="3929"/>
                  <a:pt x="4232" y="3777"/>
                  <a:pt x="4499" y="3689"/>
                </a:cubicBezTo>
                <a:lnTo>
                  <a:pt x="4499" y="3056"/>
                </a:lnTo>
                <a:lnTo>
                  <a:pt x="5499" y="3056"/>
                </a:lnTo>
                <a:lnTo>
                  <a:pt x="5499" y="3689"/>
                </a:lnTo>
                <a:cubicBezTo>
                  <a:pt x="5765" y="3777"/>
                  <a:pt x="5999" y="3929"/>
                  <a:pt x="6199" y="4144"/>
                </a:cubicBezTo>
                <a:lnTo>
                  <a:pt x="6699" y="3822"/>
                </a:lnTo>
                <a:lnTo>
                  <a:pt x="7199" y="4789"/>
                </a:lnTo>
                <a:lnTo>
                  <a:pt x="6699" y="5100"/>
                </a:lnTo>
                <a:cubicBezTo>
                  <a:pt x="6732" y="5248"/>
                  <a:pt x="6749" y="5400"/>
                  <a:pt x="6749" y="5556"/>
                </a:cubicBezTo>
                <a:cubicBezTo>
                  <a:pt x="6749" y="5711"/>
                  <a:pt x="6732" y="5859"/>
                  <a:pt x="6699" y="6000"/>
                </a:cubicBezTo>
                <a:lnTo>
                  <a:pt x="7199" y="6322"/>
                </a:lnTo>
                <a:lnTo>
                  <a:pt x="6699" y="7289"/>
                </a:lnTo>
                <a:lnTo>
                  <a:pt x="6199" y="6967"/>
                </a:lnTo>
                <a:cubicBezTo>
                  <a:pt x="5999" y="7181"/>
                  <a:pt x="5765" y="7333"/>
                  <a:pt x="5499" y="7422"/>
                </a:cubicBezTo>
                <a:lnTo>
                  <a:pt x="5499" y="8056"/>
                </a:lnTo>
                <a:lnTo>
                  <a:pt x="4499" y="8056"/>
                </a:lnTo>
                <a:lnTo>
                  <a:pt x="4499" y="7422"/>
                </a:lnTo>
                <a:cubicBezTo>
                  <a:pt x="4232" y="7333"/>
                  <a:pt x="3999" y="7181"/>
                  <a:pt x="3799" y="6967"/>
                </a:cubicBezTo>
                <a:lnTo>
                  <a:pt x="3299" y="7289"/>
                </a:lnTo>
                <a:lnTo>
                  <a:pt x="2799" y="6322"/>
                </a:lnTo>
                <a:moveTo>
                  <a:pt x="4999" y="6389"/>
                </a:moveTo>
                <a:cubicBezTo>
                  <a:pt x="5205" y="6389"/>
                  <a:pt x="5382" y="6307"/>
                  <a:pt x="5529" y="6144"/>
                </a:cubicBezTo>
                <a:cubicBezTo>
                  <a:pt x="5675" y="5981"/>
                  <a:pt x="5749" y="5785"/>
                  <a:pt x="5749" y="5556"/>
                </a:cubicBezTo>
                <a:cubicBezTo>
                  <a:pt x="5749" y="5326"/>
                  <a:pt x="5675" y="5129"/>
                  <a:pt x="5529" y="4967"/>
                </a:cubicBezTo>
                <a:cubicBezTo>
                  <a:pt x="5382" y="4803"/>
                  <a:pt x="5205" y="4722"/>
                  <a:pt x="4999" y="4722"/>
                </a:cubicBezTo>
                <a:cubicBezTo>
                  <a:pt x="4792" y="4722"/>
                  <a:pt x="4615" y="4803"/>
                  <a:pt x="4469" y="4967"/>
                </a:cubicBezTo>
                <a:cubicBezTo>
                  <a:pt x="4322" y="5129"/>
                  <a:pt x="4249" y="5326"/>
                  <a:pt x="4249" y="5556"/>
                </a:cubicBezTo>
                <a:cubicBezTo>
                  <a:pt x="4249" y="5785"/>
                  <a:pt x="4322" y="5981"/>
                  <a:pt x="4469" y="6144"/>
                </a:cubicBezTo>
                <a:cubicBezTo>
                  <a:pt x="4615" y="6307"/>
                  <a:pt x="4792" y="6389"/>
                  <a:pt x="4999" y="6389"/>
                </a:cubicBezTo>
              </a:path>
            </a:pathLst>
          </a:custGeom>
          <a:solidFill>
            <a:srgbClr val="5B8CB8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16" name="TextBox 16"/>
          <p:cNvSpPr txBox="1"/>
          <p:nvPr/>
        </p:nvSpPr>
        <p:spPr>
          <a:xfrm>
            <a:off x="6738889" y="2759869"/>
            <a:ext cx="809423" cy="2095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500" b="1" i="0" strike="noStrike">
                <a:solidFill>
                  <a:srgbClr val="0A1F3D">
                    <a:alpha val="100000"/>
                  </a:srgbClr>
                </a:solidFill>
                <a:latin typeface="Source Han Serif CN"/>
                <a:ea typeface="Source Han Serif CN"/>
                <a:cs typeface="Source Han Serif CN"/>
              </a:rPr>
              <a:t>分类管理</a:t>
            </a:r>
            <a:endParaRPr lang="en-US" sz="1100"/>
          </a:p>
        </p:txBody>
      </p:sp>
      <p:sp>
        <p:nvSpPr>
          <p:cNvPr id="17" name="TextBox 17"/>
          <p:cNvSpPr txBox="1"/>
          <p:nvPr/>
        </p:nvSpPr>
        <p:spPr>
          <a:xfrm>
            <a:off x="6446813" y="3255169"/>
            <a:ext cx="91506" cy="1619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200" b="0" i="0" strike="noStrike">
                <a:solidFill>
                  <a:srgbClr val="5B8CB8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•</a:t>
            </a:r>
            <a:endParaRPr lang="en-US" sz="1100"/>
          </a:p>
        </p:txBody>
      </p:sp>
      <p:sp>
        <p:nvSpPr>
          <p:cNvPr id="18" name="TextBox 18"/>
          <p:cNvSpPr txBox="1"/>
          <p:nvPr/>
        </p:nvSpPr>
        <p:spPr>
          <a:xfrm>
            <a:off x="6576409" y="3198019"/>
            <a:ext cx="3085328" cy="1619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200" b="0" i="0" strike="noStrike">
                <a:solidFill>
                  <a:srgbClr val="0A1F3D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新增图书分类并设置排序权重，优化浏览体验</a:t>
            </a:r>
            <a:endParaRPr lang="en-US" sz="1100"/>
          </a:p>
        </p:txBody>
      </p:sp>
      <p:sp>
        <p:nvSpPr>
          <p:cNvPr id="19" name="TextBox 19"/>
          <p:cNvSpPr txBox="1"/>
          <p:nvPr/>
        </p:nvSpPr>
        <p:spPr>
          <a:xfrm>
            <a:off x="6446813" y="3655219"/>
            <a:ext cx="91506" cy="1619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200" b="0" i="0" strike="noStrike">
                <a:solidFill>
                  <a:srgbClr val="5B8CB8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•</a:t>
            </a:r>
            <a:endParaRPr lang="en-US" sz="1100"/>
          </a:p>
        </p:txBody>
      </p:sp>
      <p:sp>
        <p:nvSpPr>
          <p:cNvPr id="20" name="TextBox 20"/>
          <p:cNvSpPr txBox="1"/>
          <p:nvPr/>
        </p:nvSpPr>
        <p:spPr>
          <a:xfrm>
            <a:off x="6576409" y="3598069"/>
            <a:ext cx="3999499" cy="1619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200" b="0" i="0" strike="noStrike">
                <a:solidFill>
                  <a:srgbClr val="0A1F3D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编辑已有分类名称或排序，删除前检查分类下是否存在图书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457086" y="4321969"/>
            <a:ext cx="5523120" cy="1647825"/>
          </a:xfrm>
          <a:prstGeom prst="rect">
            <a:avLst/>
          </a:prstGeom>
          <a:blipFill rotWithShape="1">
            <a:blip r:embed="rId1">
              <a:alphaModFix amt="100000"/>
              <a:alphaModFix amt="100000"/>
            </a:blip>
            <a:stretch>
              <a:fillRect/>
            </a:stretch>
          </a:blipFill>
          <a:ln>
            <a:headEnd type="none"/>
            <a:tailEnd type="none"/>
          </a:ln>
        </p:spPr>
      </p:sp>
      <p:sp>
        <p:nvSpPr>
          <p:cNvPr id="22" name="AutoShape 22"/>
          <p:cNvSpPr/>
          <p:nvPr/>
        </p:nvSpPr>
        <p:spPr>
          <a:xfrm>
            <a:off x="669783" y="4626769"/>
            <a:ext cx="228543" cy="228600"/>
          </a:xfrm>
          <a:custGeom>
            <a:avLst/>
            <a:gdLst/>
            <a:ahLst/>
            <a:cxnLst/>
            <a:rect l="l" t="t" r="r" b="b"/>
            <a:pathLst>
              <a:path w="9998" h="10000">
                <a:moveTo>
                  <a:pt x="1944" y="0"/>
                </a:moveTo>
                <a:lnTo>
                  <a:pt x="8054" y="0"/>
                </a:lnTo>
                <a:cubicBezTo>
                  <a:pt x="8142" y="0"/>
                  <a:pt x="8226" y="18"/>
                  <a:pt x="8304" y="55"/>
                </a:cubicBezTo>
                <a:cubicBezTo>
                  <a:pt x="8382" y="91"/>
                  <a:pt x="8446" y="140"/>
                  <a:pt x="8498" y="200"/>
                </a:cubicBezTo>
                <a:lnTo>
                  <a:pt x="9998" y="2000"/>
                </a:lnTo>
                <a:lnTo>
                  <a:pt x="9998" y="9500"/>
                </a:lnTo>
                <a:cubicBezTo>
                  <a:pt x="9998" y="9640"/>
                  <a:pt x="9944" y="9758"/>
                  <a:pt x="9837" y="9855"/>
                </a:cubicBezTo>
                <a:cubicBezTo>
                  <a:pt x="9729" y="9951"/>
                  <a:pt x="9598" y="10000"/>
                  <a:pt x="9443" y="10000"/>
                </a:cubicBezTo>
                <a:lnTo>
                  <a:pt x="555" y="10000"/>
                </a:lnTo>
                <a:cubicBezTo>
                  <a:pt x="399" y="10000"/>
                  <a:pt x="268" y="9951"/>
                  <a:pt x="161" y="9855"/>
                </a:cubicBezTo>
                <a:cubicBezTo>
                  <a:pt x="53" y="9758"/>
                  <a:pt x="0" y="9640"/>
                  <a:pt x="0" y="9500"/>
                </a:cubicBezTo>
                <a:lnTo>
                  <a:pt x="0" y="2000"/>
                </a:lnTo>
                <a:lnTo>
                  <a:pt x="1500" y="200"/>
                </a:lnTo>
                <a:cubicBezTo>
                  <a:pt x="1551" y="140"/>
                  <a:pt x="1616" y="91"/>
                  <a:pt x="1694" y="55"/>
                </a:cubicBezTo>
                <a:cubicBezTo>
                  <a:pt x="1772" y="18"/>
                  <a:pt x="1855" y="0"/>
                  <a:pt x="1944" y="0"/>
                </a:cubicBezTo>
                <a:moveTo>
                  <a:pt x="8887" y="9000"/>
                </a:moveTo>
                <a:lnTo>
                  <a:pt x="8887" y="3000"/>
                </a:lnTo>
                <a:lnTo>
                  <a:pt x="1111" y="3000"/>
                </a:lnTo>
                <a:lnTo>
                  <a:pt x="1111" y="9000"/>
                </a:lnTo>
                <a:lnTo>
                  <a:pt x="8887" y="9000"/>
                </a:lnTo>
                <a:moveTo>
                  <a:pt x="1389" y="2000"/>
                </a:moveTo>
                <a:lnTo>
                  <a:pt x="8609" y="2000"/>
                </a:lnTo>
                <a:lnTo>
                  <a:pt x="7776" y="1000"/>
                </a:lnTo>
                <a:lnTo>
                  <a:pt x="2222" y="1000"/>
                </a:lnTo>
                <a:lnTo>
                  <a:pt x="1389" y="2000"/>
                </a:lnTo>
                <a:moveTo>
                  <a:pt x="2222" y="4000"/>
                </a:moveTo>
                <a:lnTo>
                  <a:pt x="3333" y="4000"/>
                </a:lnTo>
                <a:lnTo>
                  <a:pt x="3333" y="5000"/>
                </a:lnTo>
                <a:cubicBezTo>
                  <a:pt x="3333" y="5273"/>
                  <a:pt x="3407" y="5525"/>
                  <a:pt x="3555" y="5755"/>
                </a:cubicBezTo>
                <a:cubicBezTo>
                  <a:pt x="3703" y="5985"/>
                  <a:pt x="3904" y="6166"/>
                  <a:pt x="4160" y="6300"/>
                </a:cubicBezTo>
                <a:cubicBezTo>
                  <a:pt x="4416" y="6433"/>
                  <a:pt x="4695" y="6500"/>
                  <a:pt x="4999" y="6500"/>
                </a:cubicBezTo>
                <a:cubicBezTo>
                  <a:pt x="5302" y="6500"/>
                  <a:pt x="5582" y="6433"/>
                  <a:pt x="5838" y="6300"/>
                </a:cubicBezTo>
                <a:cubicBezTo>
                  <a:pt x="6093" y="6166"/>
                  <a:pt x="6295" y="5985"/>
                  <a:pt x="6443" y="5755"/>
                </a:cubicBezTo>
                <a:cubicBezTo>
                  <a:pt x="6591" y="5525"/>
                  <a:pt x="6665" y="5273"/>
                  <a:pt x="6665" y="5000"/>
                </a:cubicBezTo>
                <a:lnTo>
                  <a:pt x="6665" y="4000"/>
                </a:lnTo>
                <a:lnTo>
                  <a:pt x="7776" y="4000"/>
                </a:lnTo>
                <a:lnTo>
                  <a:pt x="7776" y="5000"/>
                </a:lnTo>
                <a:cubicBezTo>
                  <a:pt x="7776" y="5453"/>
                  <a:pt x="7652" y="5871"/>
                  <a:pt x="7404" y="6255"/>
                </a:cubicBezTo>
                <a:cubicBezTo>
                  <a:pt x="7156" y="6638"/>
                  <a:pt x="6819" y="6941"/>
                  <a:pt x="6393" y="7165"/>
                </a:cubicBezTo>
                <a:cubicBezTo>
                  <a:pt x="5967" y="7388"/>
                  <a:pt x="5502" y="7500"/>
                  <a:pt x="4999" y="7500"/>
                </a:cubicBezTo>
                <a:cubicBezTo>
                  <a:pt x="4495" y="7500"/>
                  <a:pt x="4031" y="7388"/>
                  <a:pt x="3605" y="7165"/>
                </a:cubicBezTo>
                <a:cubicBezTo>
                  <a:pt x="3179" y="6941"/>
                  <a:pt x="2842" y="6638"/>
                  <a:pt x="2594" y="6255"/>
                </a:cubicBezTo>
                <a:cubicBezTo>
                  <a:pt x="2346" y="5871"/>
                  <a:pt x="2222" y="5453"/>
                  <a:pt x="2222" y="5000"/>
                </a:cubicBezTo>
              </a:path>
            </a:pathLst>
          </a:custGeom>
          <a:solidFill>
            <a:srgbClr val="5B8CB8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23" name="TextBox 23"/>
          <p:cNvSpPr txBox="1"/>
          <p:nvPr/>
        </p:nvSpPr>
        <p:spPr>
          <a:xfrm>
            <a:off x="987228" y="4636294"/>
            <a:ext cx="809423" cy="2095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500" b="1" i="0" strike="noStrike">
                <a:solidFill>
                  <a:srgbClr val="0A1F3D">
                    <a:alpha val="100000"/>
                  </a:srgbClr>
                </a:solidFill>
                <a:latin typeface="Source Han Serif CN"/>
                <a:ea typeface="Source Han Serif CN"/>
                <a:cs typeface="Source Han Serif CN"/>
              </a:rPr>
              <a:t>订单管理</a:t>
            </a:r>
            <a:endParaRPr lang="en-US" sz="1100"/>
          </a:p>
        </p:txBody>
      </p:sp>
      <p:sp>
        <p:nvSpPr>
          <p:cNvPr id="24" name="TextBox 24"/>
          <p:cNvSpPr txBox="1"/>
          <p:nvPr/>
        </p:nvSpPr>
        <p:spPr>
          <a:xfrm>
            <a:off x="695151" y="5131594"/>
            <a:ext cx="91506" cy="1619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200" b="0" i="0" strike="noStrike">
                <a:solidFill>
                  <a:srgbClr val="5B8CB8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•</a:t>
            </a:r>
            <a:endParaRPr lang="en-US" sz="1100"/>
          </a:p>
        </p:txBody>
      </p:sp>
      <p:sp>
        <p:nvSpPr>
          <p:cNvPr id="25" name="TextBox 25"/>
          <p:cNvSpPr txBox="1"/>
          <p:nvPr/>
        </p:nvSpPr>
        <p:spPr>
          <a:xfrm>
            <a:off x="824748" y="5074444"/>
            <a:ext cx="3390052" cy="1619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200" b="0" i="0" strike="noStrike">
                <a:solidFill>
                  <a:srgbClr val="0A1F3D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查看全站订单记录和状态流转，监控交易完成情况</a:t>
            </a:r>
            <a:endParaRPr lang="en-US" sz="1100"/>
          </a:p>
        </p:txBody>
      </p:sp>
      <p:sp>
        <p:nvSpPr>
          <p:cNvPr id="26" name="TextBox 26"/>
          <p:cNvSpPr txBox="1"/>
          <p:nvPr/>
        </p:nvSpPr>
        <p:spPr>
          <a:xfrm>
            <a:off x="695151" y="5531644"/>
            <a:ext cx="91506" cy="1619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200" b="0" i="0" strike="noStrike">
                <a:solidFill>
                  <a:srgbClr val="5B8CB8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•</a:t>
            </a:r>
            <a:endParaRPr lang="en-US" sz="1100"/>
          </a:p>
        </p:txBody>
      </p:sp>
      <p:sp>
        <p:nvSpPr>
          <p:cNvPr id="27" name="TextBox 27"/>
          <p:cNvSpPr txBox="1"/>
          <p:nvPr/>
        </p:nvSpPr>
        <p:spPr>
          <a:xfrm>
            <a:off x="824748" y="5474494"/>
            <a:ext cx="3390052" cy="1619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200" b="0" i="0" strike="noStrike">
                <a:solidFill>
                  <a:srgbClr val="0A1F3D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对已付款待发货订单执行发货操作，闭环交易流程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6208747" y="4321969"/>
            <a:ext cx="5523120" cy="1647825"/>
          </a:xfrm>
          <a:prstGeom prst="rect">
            <a:avLst/>
          </a:prstGeom>
          <a:blipFill rotWithShape="1">
            <a:blip r:embed="rId1">
              <a:alphaModFix amt="100000"/>
              <a:alphaModFix amt="100000"/>
            </a:blip>
            <a:stretch>
              <a:fillRect/>
            </a:stretch>
          </a:blipFill>
          <a:ln>
            <a:headEnd type="none"/>
            <a:tailEnd type="none"/>
          </a:ln>
        </p:spPr>
      </p:sp>
      <p:sp>
        <p:nvSpPr>
          <p:cNvPr id="29" name="AutoShape 29"/>
          <p:cNvSpPr/>
          <p:nvPr/>
        </p:nvSpPr>
        <p:spPr>
          <a:xfrm>
            <a:off x="6421444" y="4626769"/>
            <a:ext cx="228543" cy="228600"/>
          </a:xfrm>
          <a:custGeom>
            <a:avLst/>
            <a:gdLst/>
            <a:ahLst/>
            <a:cxnLst/>
            <a:rect l="l" t="t" r="r" b="b"/>
            <a:pathLst>
              <a:path w="9998" h="10000">
                <a:moveTo>
                  <a:pt x="3078" y="10000"/>
                </a:moveTo>
                <a:lnTo>
                  <a:pt x="3078" y="7368"/>
                </a:lnTo>
                <a:cubicBezTo>
                  <a:pt x="3201" y="7389"/>
                  <a:pt x="3327" y="7410"/>
                  <a:pt x="3457" y="7432"/>
                </a:cubicBezTo>
                <a:cubicBezTo>
                  <a:pt x="3779" y="7494"/>
                  <a:pt x="4104" y="7568"/>
                  <a:pt x="4432" y="7653"/>
                </a:cubicBezTo>
                <a:cubicBezTo>
                  <a:pt x="4897" y="7772"/>
                  <a:pt x="5331" y="7905"/>
                  <a:pt x="5735" y="8053"/>
                </a:cubicBezTo>
                <a:cubicBezTo>
                  <a:pt x="6241" y="8235"/>
                  <a:pt x="6689" y="8435"/>
                  <a:pt x="7079" y="8653"/>
                </a:cubicBezTo>
                <a:cubicBezTo>
                  <a:pt x="7537" y="8905"/>
                  <a:pt x="7914" y="9179"/>
                  <a:pt x="8208" y="9474"/>
                </a:cubicBezTo>
                <a:lnTo>
                  <a:pt x="8721" y="9474"/>
                </a:lnTo>
                <a:cubicBezTo>
                  <a:pt x="8857" y="9474"/>
                  <a:pt x="8975" y="9423"/>
                  <a:pt x="9075" y="9321"/>
                </a:cubicBezTo>
                <a:cubicBezTo>
                  <a:pt x="9173" y="9219"/>
                  <a:pt x="9223" y="9094"/>
                  <a:pt x="9223" y="8947"/>
                </a:cubicBezTo>
                <a:lnTo>
                  <a:pt x="9223" y="5758"/>
                </a:lnTo>
                <a:cubicBezTo>
                  <a:pt x="9449" y="5694"/>
                  <a:pt x="9635" y="5570"/>
                  <a:pt x="9783" y="5384"/>
                </a:cubicBezTo>
                <a:cubicBezTo>
                  <a:pt x="9929" y="5198"/>
                  <a:pt x="10001" y="4982"/>
                  <a:pt x="9998" y="4737"/>
                </a:cubicBezTo>
                <a:cubicBezTo>
                  <a:pt x="9994" y="4491"/>
                  <a:pt x="9921" y="4275"/>
                  <a:pt x="9777" y="4089"/>
                </a:cubicBezTo>
                <a:cubicBezTo>
                  <a:pt x="9633" y="3903"/>
                  <a:pt x="9452" y="3779"/>
                  <a:pt x="9234" y="3716"/>
                </a:cubicBezTo>
                <a:lnTo>
                  <a:pt x="9234" y="526"/>
                </a:lnTo>
                <a:cubicBezTo>
                  <a:pt x="9234" y="378"/>
                  <a:pt x="9182" y="254"/>
                  <a:pt x="9080" y="153"/>
                </a:cubicBezTo>
                <a:cubicBezTo>
                  <a:pt x="8977" y="51"/>
                  <a:pt x="8854" y="0"/>
                  <a:pt x="8710" y="0"/>
                </a:cubicBezTo>
                <a:lnTo>
                  <a:pt x="8208" y="0"/>
                </a:lnTo>
                <a:cubicBezTo>
                  <a:pt x="7920" y="294"/>
                  <a:pt x="7544" y="568"/>
                  <a:pt x="7079" y="821"/>
                </a:cubicBezTo>
                <a:cubicBezTo>
                  <a:pt x="6689" y="1038"/>
                  <a:pt x="6241" y="1238"/>
                  <a:pt x="5735" y="1421"/>
                </a:cubicBezTo>
                <a:cubicBezTo>
                  <a:pt x="5331" y="1568"/>
                  <a:pt x="4897" y="1701"/>
                  <a:pt x="4432" y="1821"/>
                </a:cubicBezTo>
                <a:cubicBezTo>
                  <a:pt x="4104" y="1905"/>
                  <a:pt x="3779" y="1978"/>
                  <a:pt x="3457" y="2042"/>
                </a:cubicBezTo>
                <a:lnTo>
                  <a:pt x="3078" y="2105"/>
                </a:lnTo>
                <a:lnTo>
                  <a:pt x="1026" y="2105"/>
                </a:lnTo>
                <a:cubicBezTo>
                  <a:pt x="834" y="2105"/>
                  <a:pt x="660" y="2152"/>
                  <a:pt x="503" y="2247"/>
                </a:cubicBezTo>
                <a:cubicBezTo>
                  <a:pt x="345" y="2341"/>
                  <a:pt x="222" y="2470"/>
                  <a:pt x="133" y="2632"/>
                </a:cubicBezTo>
                <a:cubicBezTo>
                  <a:pt x="44" y="2793"/>
                  <a:pt x="0" y="2968"/>
                  <a:pt x="0" y="3158"/>
                </a:cubicBezTo>
                <a:lnTo>
                  <a:pt x="0" y="6316"/>
                </a:lnTo>
                <a:cubicBezTo>
                  <a:pt x="0" y="6505"/>
                  <a:pt x="44" y="6680"/>
                  <a:pt x="133" y="6842"/>
                </a:cubicBezTo>
                <a:cubicBezTo>
                  <a:pt x="222" y="7003"/>
                  <a:pt x="345" y="7131"/>
                  <a:pt x="503" y="7226"/>
                </a:cubicBezTo>
                <a:cubicBezTo>
                  <a:pt x="660" y="7320"/>
                  <a:pt x="831" y="7368"/>
                  <a:pt x="1016" y="7368"/>
                </a:cubicBezTo>
                <a:lnTo>
                  <a:pt x="1539" y="7368"/>
                </a:lnTo>
                <a:lnTo>
                  <a:pt x="2052" y="10000"/>
                </a:lnTo>
                <a:lnTo>
                  <a:pt x="3078" y="10000"/>
                </a:lnTo>
                <a:moveTo>
                  <a:pt x="4094" y="2979"/>
                </a:moveTo>
                <a:lnTo>
                  <a:pt x="4104" y="2979"/>
                </a:lnTo>
                <a:cubicBezTo>
                  <a:pt x="4528" y="2887"/>
                  <a:pt x="4941" y="2779"/>
                  <a:pt x="5345" y="2653"/>
                </a:cubicBezTo>
                <a:cubicBezTo>
                  <a:pt x="6521" y="2301"/>
                  <a:pt x="7472" y="1870"/>
                  <a:pt x="8197" y="1358"/>
                </a:cubicBezTo>
                <a:lnTo>
                  <a:pt x="8197" y="8116"/>
                </a:lnTo>
                <a:cubicBezTo>
                  <a:pt x="7472" y="7603"/>
                  <a:pt x="6521" y="7171"/>
                  <a:pt x="5345" y="6821"/>
                </a:cubicBezTo>
                <a:cubicBezTo>
                  <a:pt x="4941" y="6695"/>
                  <a:pt x="4524" y="6586"/>
                  <a:pt x="4094" y="6495"/>
                </a:cubicBezTo>
                <a:lnTo>
                  <a:pt x="4094" y="2979"/>
                </a:lnTo>
                <a:moveTo>
                  <a:pt x="1026" y="6316"/>
                </a:moveTo>
                <a:lnTo>
                  <a:pt x="1026" y="3158"/>
                </a:lnTo>
                <a:lnTo>
                  <a:pt x="3078" y="3158"/>
                </a:lnTo>
                <a:lnTo>
                  <a:pt x="3078" y="6316"/>
                </a:lnTo>
              </a:path>
            </a:pathLst>
          </a:custGeom>
          <a:solidFill>
            <a:srgbClr val="5B8CB8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30" name="TextBox 30"/>
          <p:cNvSpPr txBox="1"/>
          <p:nvPr/>
        </p:nvSpPr>
        <p:spPr>
          <a:xfrm>
            <a:off x="6738889" y="4636294"/>
            <a:ext cx="809423" cy="2095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500" b="1" i="0" strike="noStrike">
                <a:solidFill>
                  <a:srgbClr val="0A1F3D">
                    <a:alpha val="100000"/>
                  </a:srgbClr>
                </a:solidFill>
                <a:latin typeface="Source Han Serif CN"/>
                <a:ea typeface="Source Han Serif CN"/>
                <a:cs typeface="Source Han Serif CN"/>
              </a:rPr>
              <a:t>公告管理</a:t>
            </a:r>
            <a:endParaRPr lang="en-US" sz="1100"/>
          </a:p>
        </p:txBody>
      </p:sp>
      <p:sp>
        <p:nvSpPr>
          <p:cNvPr id="31" name="TextBox 31"/>
          <p:cNvSpPr txBox="1"/>
          <p:nvPr/>
        </p:nvSpPr>
        <p:spPr>
          <a:xfrm>
            <a:off x="6446813" y="5131594"/>
            <a:ext cx="91506" cy="1619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200" b="0" i="0" strike="noStrike">
                <a:solidFill>
                  <a:srgbClr val="5B8CB8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•</a:t>
            </a:r>
            <a:endParaRPr lang="en-US" sz="1100"/>
          </a:p>
        </p:txBody>
      </p:sp>
      <p:sp>
        <p:nvSpPr>
          <p:cNvPr id="32" name="TextBox 32"/>
          <p:cNvSpPr txBox="1"/>
          <p:nvPr/>
        </p:nvSpPr>
        <p:spPr>
          <a:xfrm>
            <a:off x="6576409" y="5074444"/>
            <a:ext cx="2932966" cy="1619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200" b="0" i="0" strike="noStrike">
                <a:solidFill>
                  <a:srgbClr val="0A1F3D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新增公告标题和内容，编辑或删除已有公告</a:t>
            </a:r>
            <a:endParaRPr lang="en-US" sz="1100"/>
          </a:p>
        </p:txBody>
      </p:sp>
      <p:sp>
        <p:nvSpPr>
          <p:cNvPr id="33" name="TextBox 33"/>
          <p:cNvSpPr txBox="1"/>
          <p:nvPr/>
        </p:nvSpPr>
        <p:spPr>
          <a:xfrm>
            <a:off x="6446813" y="5531644"/>
            <a:ext cx="91506" cy="1619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200" b="0" i="0" strike="noStrike">
                <a:solidFill>
                  <a:srgbClr val="5B8CB8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•</a:t>
            </a:r>
            <a:endParaRPr lang="en-US" sz="1100"/>
          </a:p>
        </p:txBody>
      </p:sp>
      <p:sp>
        <p:nvSpPr>
          <p:cNvPr id="34" name="TextBox 34"/>
          <p:cNvSpPr txBox="1"/>
          <p:nvPr/>
        </p:nvSpPr>
        <p:spPr>
          <a:xfrm>
            <a:off x="6576409" y="5474494"/>
            <a:ext cx="2932966" cy="1619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200" b="0" i="0" strike="noStrike">
                <a:solidFill>
                  <a:srgbClr val="0A1F3D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支持置顶功能，前台首页同步展示公告信息</a:t>
            </a:r>
            <a:endParaRPr lang="en-US" sz="1100"/>
          </a:p>
        </p:txBody>
      </p:sp>
      <p:sp>
        <p:nvSpPr>
          <p:cNvPr id="35" name="AutoShape 35"/>
          <p:cNvSpPr/>
          <p:nvPr/>
        </p:nvSpPr>
        <p:spPr>
          <a:xfrm>
            <a:off x="457086" y="6086475"/>
            <a:ext cx="11274781" cy="9525"/>
          </a:xfrm>
          <a:prstGeom prst="line">
            <a:avLst/>
          </a:prstGeom>
          <a:ln w="9525">
            <a:solidFill>
              <a:srgbClr val="D1D5DB">
                <a:alpha val="60000"/>
              </a:srgbClr>
            </a:solidFill>
            <a:prstDash val="solid"/>
            <a:headEnd type="none"/>
            <a:tailEnd type="none"/>
          </a:ln>
        </p:spPr>
      </p:sp>
      <p:sp>
        <p:nvSpPr>
          <p:cNvPr id="36" name="TextBox 36"/>
          <p:cNvSpPr txBox="1"/>
          <p:nvPr/>
        </p:nvSpPr>
        <p:spPr>
          <a:xfrm>
            <a:off x="457086" y="6257925"/>
            <a:ext cx="765827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solidFill>
                  <a:srgbClr val="0A1F3D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核心功能 · 09</a:t>
            </a:r>
            <a:endParaRPr lang="en-US" sz="1100"/>
          </a:p>
        </p:txBody>
      </p:sp>
      <p:sp>
        <p:nvSpPr>
          <p:cNvPr id="37" name="TextBox 37"/>
          <p:cNvSpPr txBox="1"/>
          <p:nvPr/>
        </p:nvSpPr>
        <p:spPr>
          <a:xfrm>
            <a:off x="9801899" y="6257925"/>
            <a:ext cx="1958534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solidFill>
                  <a:srgbClr val="0A1F3D">
                    <a:alpha val="100000"/>
                  </a:srgbClr>
                </a:solidFill>
                <a:latin typeface="Inter"/>
                <a:ea typeface="Inter"/>
                <a:cs typeface="Inter"/>
              </a:rPr>
              <a:t>校园二手图书交易平台 - 项目结项答辩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333333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3" name="AutoShap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3F5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4" name="AutoShape 4"/>
          <p:cNvSpPr/>
          <p:nvPr/>
        </p:nvSpPr>
        <p:spPr>
          <a:xfrm>
            <a:off x="457086" y="533400"/>
            <a:ext cx="190452" cy="19050"/>
          </a:xfrm>
          <a:prstGeom prst="rect">
            <a:avLst/>
          </a:prstGeom>
          <a:solidFill>
            <a:srgbClr val="5B8CB8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5" name="TextBox 5"/>
          <p:cNvSpPr txBox="1"/>
          <p:nvPr/>
        </p:nvSpPr>
        <p:spPr>
          <a:xfrm>
            <a:off x="723718" y="476250"/>
            <a:ext cx="11008147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r>
              <a:rPr lang="en-US" sz="900" b="0" i="0" strike="noStrike">
                <a:solidFill>
                  <a:srgbClr val="0A1F3D">
                    <a:alpha val="60000"/>
                  </a:srgbClr>
                </a:solidFill>
                <a:latin typeface="Inter"/>
                <a:ea typeface="Inter"/>
                <a:cs typeface="Inter"/>
              </a:rPr>
              <a:t>SYSTEM ARCHITECTURE</a:t>
            </a:r>
            <a:endParaRPr lang="en-US" sz="1100"/>
          </a:p>
        </p:txBody>
      </p:sp>
      <p:sp>
        <p:nvSpPr>
          <p:cNvPr id="6" name="TextBox 6"/>
          <p:cNvSpPr txBox="1"/>
          <p:nvPr/>
        </p:nvSpPr>
        <p:spPr>
          <a:xfrm>
            <a:off x="457086" y="741016"/>
            <a:ext cx="11274781" cy="4286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3000" b="1" i="0" strike="noStrike">
                <a:solidFill>
                  <a:srgbClr val="0A1F3D">
                    <a:alpha val="100000"/>
                  </a:srgbClr>
                </a:solidFill>
                <a:latin typeface="Source Han Serif CN"/>
                <a:ea typeface="Source Han Serif CN"/>
                <a:cs typeface="Source Han Serif CN"/>
              </a:rPr>
              <a:t>非功能设计与安全保障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457086" y="1394371"/>
            <a:ext cx="11274781" cy="695325"/>
          </a:xfrm>
          <a:prstGeom prst="rect">
            <a:avLst/>
          </a:prstGeom>
          <a:blipFill rotWithShape="1">
            <a:blip r:embed="rId1">
              <a:alphaModFix amt="100000"/>
              <a:alphaModFix amt="100000"/>
            </a:blip>
            <a:stretch>
              <a:fillRect/>
            </a:stretch>
          </a:blipFill>
          <a:ln>
            <a:headEnd type="none"/>
            <a:tailEnd type="none"/>
          </a:ln>
        </p:spPr>
      </p:sp>
      <p:sp>
        <p:nvSpPr>
          <p:cNvPr id="8" name="TextBox 8"/>
          <p:cNvSpPr txBox="1"/>
          <p:nvPr/>
        </p:nvSpPr>
        <p:spPr>
          <a:xfrm>
            <a:off x="668369" y="1535311"/>
            <a:ext cx="11520583" cy="40570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200" b="0" i="0" strike="noStrike">
                <a:solidFill>
                  <a:srgbClr val="0A1F3D">
                    <a:alpha val="90196"/>
                  </a:srgbClr>
                </a:solidFill>
                <a:latin typeface="Source Han Sans"/>
                <a:ea typeface="Source Han Sans"/>
                <a:cs typeface="Source Han Sans"/>
              </a:rPr>
              <a:t>系统在性能、安全、权限、可维护性四个维度进行了全面设计。性能上通过分页查询和条件过滤控制页面加载时间，安全上使用 BCrypt 加密和 JWT 认证杜绝明文</a:t>
            </a:r>
            <a:endParaRPr lang="en-US" sz="1100"/>
          </a:p>
          <a:p>
            <a:pPr algn="l"/>
            <a:r>
              <a:rPr sz="1200" b="0" i="0" strike="noStrike">
                <a:solidFill>
                  <a:srgbClr val="0A1F3D">
                    <a:alpha val="90196"/>
                  </a:srgbClr>
                </a:solidFill>
                <a:latin typeface="Source Han Sans"/>
                <a:ea typeface="Source Han Sans"/>
                <a:cs typeface="Source Han Sans"/>
              </a:rPr>
              <a:t>风险，权限上实现三级身份隔离和双重拦截，可维护性上采用分层结构便于后续扩展。</a:t>
            </a:r>
            <a:endParaRPr sz="1200" b="0" i="0" strike="noStrike">
              <a:solidFill>
                <a:srgbClr val="0A1F3D">
                  <a:alpha val="90196"/>
                </a:srgbClr>
              </a:solidFill>
              <a:latin typeface="Source Han Sans"/>
              <a:ea typeface="Source Han Sans"/>
              <a:cs typeface="Source Han Sans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431717" y="2419053"/>
            <a:ext cx="228543" cy="228600"/>
          </a:xfrm>
          <a:custGeom>
            <a:avLst/>
            <a:gdLst/>
            <a:ahLst/>
            <a:cxnLst/>
            <a:rect l="l" t="t" r="r" b="b"/>
            <a:pathLst>
              <a:path w="9998" h="10000">
                <a:moveTo>
                  <a:pt x="433" y="827"/>
                </a:moveTo>
                <a:lnTo>
                  <a:pt x="4999" y="0"/>
                </a:lnTo>
                <a:lnTo>
                  <a:pt x="9565" y="827"/>
                </a:lnTo>
                <a:cubicBezTo>
                  <a:pt x="9691" y="851"/>
                  <a:pt x="9794" y="906"/>
                  <a:pt x="9876" y="991"/>
                </a:cubicBezTo>
                <a:cubicBezTo>
                  <a:pt x="9957" y="1075"/>
                  <a:pt x="9998" y="1169"/>
                  <a:pt x="9998" y="1273"/>
                </a:cubicBezTo>
                <a:lnTo>
                  <a:pt x="9998" y="5809"/>
                </a:lnTo>
                <a:cubicBezTo>
                  <a:pt x="9998" y="6269"/>
                  <a:pt x="9866" y="6700"/>
                  <a:pt x="9604" y="7100"/>
                </a:cubicBezTo>
                <a:cubicBezTo>
                  <a:pt x="9340" y="7500"/>
                  <a:pt x="8975" y="7827"/>
                  <a:pt x="8509" y="8082"/>
                </a:cubicBezTo>
                <a:lnTo>
                  <a:pt x="4999" y="10000"/>
                </a:lnTo>
                <a:lnTo>
                  <a:pt x="1489" y="8082"/>
                </a:lnTo>
                <a:cubicBezTo>
                  <a:pt x="1022" y="7827"/>
                  <a:pt x="657" y="7500"/>
                  <a:pt x="394" y="7100"/>
                </a:cubicBezTo>
                <a:cubicBezTo>
                  <a:pt x="131" y="6700"/>
                  <a:pt x="0" y="6269"/>
                  <a:pt x="0" y="5809"/>
                </a:cubicBezTo>
                <a:lnTo>
                  <a:pt x="0" y="1273"/>
                </a:lnTo>
                <a:cubicBezTo>
                  <a:pt x="0" y="1169"/>
                  <a:pt x="40" y="1075"/>
                  <a:pt x="122" y="991"/>
                </a:cubicBezTo>
                <a:cubicBezTo>
                  <a:pt x="203" y="906"/>
                  <a:pt x="307" y="851"/>
                  <a:pt x="433" y="827"/>
                </a:cubicBezTo>
                <a:moveTo>
                  <a:pt x="8887" y="1636"/>
                </a:moveTo>
                <a:lnTo>
                  <a:pt x="4999" y="927"/>
                </a:lnTo>
                <a:lnTo>
                  <a:pt x="1111" y="1636"/>
                </a:lnTo>
                <a:lnTo>
                  <a:pt x="1111" y="5809"/>
                </a:lnTo>
                <a:cubicBezTo>
                  <a:pt x="1111" y="6118"/>
                  <a:pt x="1198" y="6406"/>
                  <a:pt x="1372" y="6673"/>
                </a:cubicBezTo>
                <a:cubicBezTo>
                  <a:pt x="1546" y="6939"/>
                  <a:pt x="1788" y="7157"/>
                  <a:pt x="2100" y="7327"/>
                </a:cubicBezTo>
                <a:lnTo>
                  <a:pt x="4999" y="8909"/>
                </a:lnTo>
                <a:lnTo>
                  <a:pt x="7898" y="7327"/>
                </a:lnTo>
                <a:cubicBezTo>
                  <a:pt x="8209" y="7157"/>
                  <a:pt x="8452" y="6939"/>
                  <a:pt x="8626" y="6673"/>
                </a:cubicBezTo>
                <a:cubicBezTo>
                  <a:pt x="8800" y="6406"/>
                  <a:pt x="8887" y="6118"/>
                  <a:pt x="8887" y="5809"/>
                </a:cubicBezTo>
                <a:lnTo>
                  <a:pt x="8887" y="1636"/>
                </a:lnTo>
                <a:moveTo>
                  <a:pt x="4721" y="5536"/>
                </a:moveTo>
                <a:lnTo>
                  <a:pt x="7476" y="3282"/>
                </a:lnTo>
                <a:lnTo>
                  <a:pt x="8254" y="3927"/>
                </a:lnTo>
                <a:lnTo>
                  <a:pt x="4721" y="6818"/>
                </a:lnTo>
                <a:lnTo>
                  <a:pt x="2366" y="4891"/>
                </a:lnTo>
                <a:lnTo>
                  <a:pt x="3155" y="4245"/>
                </a:lnTo>
              </a:path>
            </a:pathLst>
          </a:custGeom>
          <a:solidFill>
            <a:srgbClr val="5B8CB8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10" name="TextBox 10"/>
          <p:cNvSpPr txBox="1"/>
          <p:nvPr/>
        </p:nvSpPr>
        <p:spPr>
          <a:xfrm>
            <a:off x="749163" y="2409528"/>
            <a:ext cx="1656936" cy="2476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800" b="1" i="0" strike="noStrike">
                <a:solidFill>
                  <a:srgbClr val="0A1F3D">
                    <a:alpha val="100000"/>
                  </a:srgbClr>
                </a:solidFill>
                <a:latin typeface="Source Han Serif CN"/>
                <a:ea typeface="Source Han Serif CN"/>
                <a:cs typeface="Source Han Serif CN"/>
              </a:rPr>
              <a:t>性能与安全保障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57086" y="2910335"/>
            <a:ext cx="5456461" cy="895350"/>
          </a:xfrm>
          <a:prstGeom prst="rect">
            <a:avLst/>
          </a:prstGeom>
          <a:blipFill rotWithShape="1">
            <a:blip r:embed="rId2">
              <a:alphaModFix amt="100000"/>
              <a:alphaModFix amt="100000"/>
            </a:blip>
            <a:stretch>
              <a:fillRect/>
            </a:stretch>
          </a:blipFill>
          <a:ln>
            <a:headEnd type="none"/>
            <a:tailEnd type="none"/>
          </a:ln>
        </p:spPr>
      </p:sp>
      <p:sp>
        <p:nvSpPr>
          <p:cNvPr id="12" name="AutoShape 12"/>
          <p:cNvSpPr/>
          <p:nvPr/>
        </p:nvSpPr>
        <p:spPr>
          <a:xfrm>
            <a:off x="628195" y="3108424"/>
            <a:ext cx="190452" cy="190500"/>
          </a:xfrm>
          <a:custGeom>
            <a:avLst/>
            <a:gdLst/>
            <a:ahLst/>
            <a:cxnLst/>
            <a:rect l="l" t="t" r="r" b="b"/>
            <a:pathLst>
              <a:path w="9998" h="10000">
                <a:moveTo>
                  <a:pt x="4631" y="9669"/>
                </a:moveTo>
                <a:lnTo>
                  <a:pt x="4631" y="5886"/>
                </a:lnTo>
                <a:lnTo>
                  <a:pt x="361" y="9947"/>
                </a:lnTo>
                <a:cubicBezTo>
                  <a:pt x="305" y="9999"/>
                  <a:pt x="247" y="10017"/>
                  <a:pt x="185" y="10000"/>
                </a:cubicBezTo>
                <a:cubicBezTo>
                  <a:pt x="123" y="9982"/>
                  <a:pt x="74" y="9934"/>
                  <a:pt x="37" y="9854"/>
                </a:cubicBezTo>
                <a:cubicBezTo>
                  <a:pt x="12" y="9801"/>
                  <a:pt x="0" y="9739"/>
                  <a:pt x="0" y="9669"/>
                </a:cubicBezTo>
                <a:lnTo>
                  <a:pt x="0" y="331"/>
                </a:lnTo>
                <a:cubicBezTo>
                  <a:pt x="0" y="233"/>
                  <a:pt x="23" y="154"/>
                  <a:pt x="69" y="93"/>
                </a:cubicBezTo>
                <a:cubicBezTo>
                  <a:pt x="115" y="31"/>
                  <a:pt x="170" y="0"/>
                  <a:pt x="232" y="0"/>
                </a:cubicBezTo>
                <a:cubicBezTo>
                  <a:pt x="281" y="0"/>
                  <a:pt x="324" y="17"/>
                  <a:pt x="361" y="53"/>
                </a:cubicBezTo>
                <a:lnTo>
                  <a:pt x="4631" y="4114"/>
                </a:lnTo>
                <a:lnTo>
                  <a:pt x="4631" y="331"/>
                </a:lnTo>
                <a:cubicBezTo>
                  <a:pt x="4631" y="233"/>
                  <a:pt x="4654" y="154"/>
                  <a:pt x="4700" y="93"/>
                </a:cubicBezTo>
                <a:cubicBezTo>
                  <a:pt x="4746" y="31"/>
                  <a:pt x="4800" y="0"/>
                  <a:pt x="4862" y="0"/>
                </a:cubicBezTo>
                <a:cubicBezTo>
                  <a:pt x="4911" y="0"/>
                  <a:pt x="4954" y="17"/>
                  <a:pt x="4992" y="53"/>
                </a:cubicBezTo>
                <a:lnTo>
                  <a:pt x="9901" y="4722"/>
                </a:lnTo>
                <a:cubicBezTo>
                  <a:pt x="9950" y="4775"/>
                  <a:pt x="9982" y="4846"/>
                  <a:pt x="9998" y="4934"/>
                </a:cubicBezTo>
                <a:cubicBezTo>
                  <a:pt x="10013" y="5022"/>
                  <a:pt x="10002" y="5105"/>
                  <a:pt x="9966" y="5185"/>
                </a:cubicBezTo>
                <a:cubicBezTo>
                  <a:pt x="9947" y="5220"/>
                  <a:pt x="9925" y="5251"/>
                  <a:pt x="9901" y="5278"/>
                </a:cubicBezTo>
                <a:lnTo>
                  <a:pt x="4992" y="9947"/>
                </a:lnTo>
                <a:cubicBezTo>
                  <a:pt x="4936" y="9999"/>
                  <a:pt x="4878" y="10017"/>
                  <a:pt x="4816" y="10000"/>
                </a:cubicBezTo>
                <a:cubicBezTo>
                  <a:pt x="4754" y="9982"/>
                  <a:pt x="4704" y="9934"/>
                  <a:pt x="4668" y="9854"/>
                </a:cubicBezTo>
                <a:cubicBezTo>
                  <a:pt x="4643" y="9801"/>
                  <a:pt x="4631" y="9739"/>
                  <a:pt x="4631" y="9669"/>
                </a:cubicBezTo>
                <a:moveTo>
                  <a:pt x="926" y="7817"/>
                </a:moveTo>
                <a:lnTo>
                  <a:pt x="3890" y="5000"/>
                </a:lnTo>
                <a:lnTo>
                  <a:pt x="926" y="2183"/>
                </a:lnTo>
                <a:lnTo>
                  <a:pt x="926" y="7817"/>
                </a:lnTo>
                <a:moveTo>
                  <a:pt x="8521" y="5000"/>
                </a:moveTo>
                <a:lnTo>
                  <a:pt x="5557" y="2183"/>
                </a:lnTo>
                <a:lnTo>
                  <a:pt x="5557" y="7817"/>
                </a:lnTo>
              </a:path>
            </a:pathLst>
          </a:custGeom>
          <a:solidFill>
            <a:srgbClr val="5B8CB8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13" name="TextBox 13"/>
          <p:cNvSpPr txBox="1"/>
          <p:nvPr/>
        </p:nvSpPr>
        <p:spPr>
          <a:xfrm>
            <a:off x="919380" y="3041749"/>
            <a:ext cx="4799995" cy="1619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200" b="1" i="0" strike="noStrike">
                <a:solidFill>
                  <a:srgbClr val="0A1F3D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性能优化</a:t>
            </a:r>
            <a:endParaRPr lang="en-US" sz="1100"/>
          </a:p>
        </p:txBody>
      </p:sp>
      <p:sp>
        <p:nvSpPr>
          <p:cNvPr id="14" name="TextBox 14"/>
          <p:cNvSpPr txBox="1"/>
          <p:nvPr/>
        </p:nvSpPr>
        <p:spPr>
          <a:xfrm>
            <a:off x="919380" y="3298775"/>
            <a:ext cx="4992233" cy="365671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000" b="0" i="0" strike="noStrike">
                <a:solidFill>
                  <a:srgbClr val="0A1F3D">
                    <a:alpha val="85098"/>
                  </a:srgbClr>
                </a:solidFill>
                <a:latin typeface="Source Han Sans"/>
                <a:ea typeface="Source Han Sans"/>
                <a:cs typeface="Source Han Sans"/>
              </a:rPr>
              <a:t>首页列表支持分页查询，后端接口按条件查询避免一次性返回过多数据，核心页面</a:t>
            </a:r>
            <a:endParaRPr lang="en-US" sz="1100"/>
          </a:p>
          <a:p>
            <a:pPr algn="l"/>
            <a:r>
              <a:rPr sz="1000" b="0" i="0" strike="noStrike">
                <a:solidFill>
                  <a:srgbClr val="0A1F3D">
                    <a:alpha val="85098"/>
                  </a:srgbClr>
                </a:solidFill>
                <a:latin typeface="Source Han Sans"/>
                <a:ea typeface="Source Han Sans"/>
                <a:cs typeface="Source Han Sans"/>
              </a:rPr>
              <a:t>加载时间控制在 5 秒内。</a:t>
            </a:r>
            <a:endParaRPr sz="1000" b="0" i="0" strike="noStrike">
              <a:solidFill>
                <a:srgbClr val="0A1F3D">
                  <a:alpha val="85098"/>
                </a:srgbClr>
              </a:solidFill>
              <a:latin typeface="Source Han Sans"/>
              <a:ea typeface="Source Han Sans"/>
              <a:cs typeface="Source Han Sans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457086" y="3961507"/>
            <a:ext cx="5456461" cy="895350"/>
          </a:xfrm>
          <a:prstGeom prst="rect">
            <a:avLst/>
          </a:prstGeom>
          <a:blipFill rotWithShape="1">
            <a:blip r:embed="rId2">
              <a:alphaModFix amt="100000"/>
              <a:alphaModFix amt="100000"/>
            </a:blip>
            <a:stretch>
              <a:fillRect/>
            </a:stretch>
          </a:blipFill>
          <a:ln>
            <a:headEnd type="none"/>
            <a:tailEnd type="none"/>
          </a:ln>
        </p:spPr>
      </p:sp>
      <p:sp>
        <p:nvSpPr>
          <p:cNvPr id="16" name="AutoShape 16"/>
          <p:cNvSpPr/>
          <p:nvPr/>
        </p:nvSpPr>
        <p:spPr>
          <a:xfrm>
            <a:off x="628195" y="4159597"/>
            <a:ext cx="190452" cy="190500"/>
          </a:xfrm>
          <a:custGeom>
            <a:avLst/>
            <a:gdLst/>
            <a:ahLst/>
            <a:cxnLst/>
            <a:rect l="l" t="t" r="r" b="b"/>
            <a:pathLst>
              <a:path w="9998" h="10000">
                <a:moveTo>
                  <a:pt x="8332" y="2857"/>
                </a:moveTo>
                <a:lnTo>
                  <a:pt x="8332" y="3333"/>
                </a:lnTo>
                <a:lnTo>
                  <a:pt x="9443" y="3333"/>
                </a:lnTo>
                <a:cubicBezTo>
                  <a:pt x="9598" y="3333"/>
                  <a:pt x="9729" y="3379"/>
                  <a:pt x="9837" y="3471"/>
                </a:cubicBezTo>
                <a:cubicBezTo>
                  <a:pt x="9944" y="3563"/>
                  <a:pt x="9998" y="3676"/>
                  <a:pt x="9998" y="3810"/>
                </a:cubicBezTo>
                <a:lnTo>
                  <a:pt x="9998" y="9524"/>
                </a:lnTo>
                <a:cubicBezTo>
                  <a:pt x="9998" y="9657"/>
                  <a:pt x="9944" y="9770"/>
                  <a:pt x="9837" y="9862"/>
                </a:cubicBezTo>
                <a:cubicBezTo>
                  <a:pt x="9729" y="9954"/>
                  <a:pt x="9598" y="10000"/>
                  <a:pt x="9443" y="10000"/>
                </a:cubicBezTo>
                <a:lnTo>
                  <a:pt x="555" y="10000"/>
                </a:lnTo>
                <a:cubicBezTo>
                  <a:pt x="399" y="10000"/>
                  <a:pt x="268" y="9954"/>
                  <a:pt x="161" y="9862"/>
                </a:cubicBezTo>
                <a:cubicBezTo>
                  <a:pt x="53" y="9770"/>
                  <a:pt x="0" y="9657"/>
                  <a:pt x="0" y="9524"/>
                </a:cubicBezTo>
                <a:lnTo>
                  <a:pt x="0" y="3810"/>
                </a:lnTo>
                <a:cubicBezTo>
                  <a:pt x="0" y="3676"/>
                  <a:pt x="53" y="3563"/>
                  <a:pt x="161" y="3471"/>
                </a:cubicBezTo>
                <a:cubicBezTo>
                  <a:pt x="268" y="3379"/>
                  <a:pt x="399" y="3333"/>
                  <a:pt x="555" y="3333"/>
                </a:cubicBezTo>
                <a:lnTo>
                  <a:pt x="1666" y="3333"/>
                </a:lnTo>
                <a:lnTo>
                  <a:pt x="1666" y="2857"/>
                </a:lnTo>
                <a:cubicBezTo>
                  <a:pt x="1666" y="2343"/>
                  <a:pt x="1818" y="1863"/>
                  <a:pt x="2122" y="1419"/>
                </a:cubicBezTo>
                <a:cubicBezTo>
                  <a:pt x="2418" y="987"/>
                  <a:pt x="2818" y="644"/>
                  <a:pt x="3322" y="390"/>
                </a:cubicBezTo>
                <a:cubicBezTo>
                  <a:pt x="3840" y="130"/>
                  <a:pt x="4399" y="0"/>
                  <a:pt x="4999" y="0"/>
                </a:cubicBezTo>
                <a:cubicBezTo>
                  <a:pt x="5599" y="0"/>
                  <a:pt x="6158" y="130"/>
                  <a:pt x="6676" y="390"/>
                </a:cubicBezTo>
                <a:cubicBezTo>
                  <a:pt x="7180" y="644"/>
                  <a:pt x="7580" y="987"/>
                  <a:pt x="7876" y="1419"/>
                </a:cubicBezTo>
                <a:cubicBezTo>
                  <a:pt x="8180" y="1863"/>
                  <a:pt x="8332" y="2343"/>
                  <a:pt x="8332" y="2857"/>
                </a:cubicBezTo>
                <a:moveTo>
                  <a:pt x="8887" y="4286"/>
                </a:moveTo>
                <a:lnTo>
                  <a:pt x="1111" y="4286"/>
                </a:lnTo>
                <a:lnTo>
                  <a:pt x="1111" y="9048"/>
                </a:lnTo>
                <a:lnTo>
                  <a:pt x="8887" y="9048"/>
                </a:lnTo>
                <a:lnTo>
                  <a:pt x="8887" y="4286"/>
                </a:lnTo>
                <a:moveTo>
                  <a:pt x="4444" y="7143"/>
                </a:moveTo>
                <a:lnTo>
                  <a:pt x="4444" y="6190"/>
                </a:lnTo>
                <a:lnTo>
                  <a:pt x="5554" y="6190"/>
                </a:lnTo>
                <a:lnTo>
                  <a:pt x="5554" y="7143"/>
                </a:lnTo>
                <a:lnTo>
                  <a:pt x="4444" y="7143"/>
                </a:lnTo>
                <a:moveTo>
                  <a:pt x="2222" y="7143"/>
                </a:moveTo>
                <a:lnTo>
                  <a:pt x="2222" y="6190"/>
                </a:lnTo>
                <a:lnTo>
                  <a:pt x="3333" y="6190"/>
                </a:lnTo>
                <a:lnTo>
                  <a:pt x="3333" y="7143"/>
                </a:lnTo>
                <a:lnTo>
                  <a:pt x="2222" y="7143"/>
                </a:lnTo>
                <a:moveTo>
                  <a:pt x="6665" y="7143"/>
                </a:moveTo>
                <a:lnTo>
                  <a:pt x="6665" y="6190"/>
                </a:lnTo>
                <a:lnTo>
                  <a:pt x="7776" y="6190"/>
                </a:lnTo>
                <a:lnTo>
                  <a:pt x="7776" y="7143"/>
                </a:lnTo>
                <a:lnTo>
                  <a:pt x="6665" y="7143"/>
                </a:lnTo>
                <a:moveTo>
                  <a:pt x="2777" y="3333"/>
                </a:moveTo>
                <a:lnTo>
                  <a:pt x="7221" y="3333"/>
                </a:lnTo>
                <a:lnTo>
                  <a:pt x="7221" y="2857"/>
                </a:lnTo>
                <a:cubicBezTo>
                  <a:pt x="7221" y="2514"/>
                  <a:pt x="7121" y="2197"/>
                  <a:pt x="6921" y="1905"/>
                </a:cubicBezTo>
                <a:cubicBezTo>
                  <a:pt x="6721" y="1613"/>
                  <a:pt x="6450" y="1381"/>
                  <a:pt x="6110" y="1210"/>
                </a:cubicBezTo>
                <a:cubicBezTo>
                  <a:pt x="5769" y="1038"/>
                  <a:pt x="5399" y="952"/>
                  <a:pt x="4999" y="952"/>
                </a:cubicBezTo>
                <a:cubicBezTo>
                  <a:pt x="4599" y="952"/>
                  <a:pt x="4228" y="1038"/>
                  <a:pt x="3888" y="1210"/>
                </a:cubicBezTo>
                <a:cubicBezTo>
                  <a:pt x="3547" y="1381"/>
                  <a:pt x="3277" y="1613"/>
                  <a:pt x="3077" y="1905"/>
                </a:cubicBezTo>
                <a:cubicBezTo>
                  <a:pt x="2877" y="2197"/>
                  <a:pt x="2777" y="2514"/>
                  <a:pt x="2777" y="2857"/>
                </a:cubicBezTo>
              </a:path>
            </a:pathLst>
          </a:custGeom>
          <a:solidFill>
            <a:srgbClr val="5B8CB8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17" name="TextBox 17"/>
          <p:cNvSpPr txBox="1"/>
          <p:nvPr/>
        </p:nvSpPr>
        <p:spPr>
          <a:xfrm>
            <a:off x="919380" y="4092922"/>
            <a:ext cx="4799995" cy="1619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200" b="1" i="0" strike="noStrike">
                <a:solidFill>
                  <a:srgbClr val="0A1F3D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数据安全</a:t>
            </a:r>
            <a:endParaRPr lang="en-US" sz="1100"/>
          </a:p>
        </p:txBody>
      </p:sp>
      <p:sp>
        <p:nvSpPr>
          <p:cNvPr id="18" name="TextBox 18"/>
          <p:cNvSpPr txBox="1"/>
          <p:nvPr/>
        </p:nvSpPr>
        <p:spPr>
          <a:xfrm>
            <a:off x="919380" y="4349948"/>
            <a:ext cx="4992233" cy="365671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000" b="0" i="0" strike="noStrike">
                <a:solidFill>
                  <a:srgbClr val="0A1F3D">
                    <a:alpha val="85098"/>
                  </a:srgbClr>
                </a:solidFill>
                <a:latin typeface="Source Han Sans"/>
                <a:ea typeface="Source Han Sans"/>
                <a:cs typeface="Source Han Sans"/>
              </a:rPr>
              <a:t>后端使用 BCrypt 对密码进行加密存储，登录时通过 matches 验证，杜绝明文密码</a:t>
            </a:r>
            <a:endParaRPr lang="en-US" sz="1100"/>
          </a:p>
          <a:p>
            <a:pPr algn="l"/>
            <a:r>
              <a:rPr sz="1000" b="0" i="0" strike="noStrike">
                <a:solidFill>
                  <a:srgbClr val="0A1F3D">
                    <a:alpha val="85098"/>
                  </a:srgbClr>
                </a:solidFill>
                <a:latin typeface="Source Han Sans"/>
                <a:ea typeface="Source Han Sans"/>
                <a:cs typeface="Source Han Sans"/>
              </a:rPr>
              <a:t>泄露风险。</a:t>
            </a:r>
            <a:endParaRPr sz="1000" b="0" i="0" strike="noStrike">
              <a:solidFill>
                <a:srgbClr val="0A1F3D">
                  <a:alpha val="85098"/>
                </a:srgbClr>
              </a:solidFill>
              <a:latin typeface="Source Han Sans"/>
              <a:ea typeface="Source Han Sans"/>
              <a:cs typeface="Source Han Sans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457086" y="5012680"/>
            <a:ext cx="5456461" cy="895350"/>
          </a:xfrm>
          <a:prstGeom prst="rect">
            <a:avLst/>
          </a:prstGeom>
          <a:blipFill rotWithShape="1">
            <a:blip r:embed="rId2">
              <a:alphaModFix amt="100000"/>
              <a:alphaModFix amt="100000"/>
            </a:blip>
            <a:stretch>
              <a:fillRect/>
            </a:stretch>
          </a:blipFill>
          <a:ln>
            <a:headEnd type="none"/>
            <a:tailEnd type="none"/>
          </a:ln>
        </p:spPr>
      </p:sp>
      <p:sp>
        <p:nvSpPr>
          <p:cNvPr id="20" name="AutoShape 20"/>
          <p:cNvSpPr/>
          <p:nvPr/>
        </p:nvSpPr>
        <p:spPr>
          <a:xfrm>
            <a:off x="628195" y="5210771"/>
            <a:ext cx="190452" cy="190500"/>
          </a:xfrm>
          <a:custGeom>
            <a:avLst/>
            <a:gdLst/>
            <a:ahLst/>
            <a:cxnLst/>
            <a:rect l="l" t="t" r="r" b="b"/>
            <a:pathLst>
              <a:path w="9998" h="10000">
                <a:moveTo>
                  <a:pt x="9498" y="10000"/>
                </a:moveTo>
                <a:lnTo>
                  <a:pt x="500" y="10000"/>
                </a:lnTo>
                <a:cubicBezTo>
                  <a:pt x="360" y="10000"/>
                  <a:pt x="241" y="9946"/>
                  <a:pt x="145" y="9839"/>
                </a:cubicBezTo>
                <a:cubicBezTo>
                  <a:pt x="48" y="9731"/>
                  <a:pt x="0" y="9600"/>
                  <a:pt x="0" y="9444"/>
                </a:cubicBezTo>
                <a:lnTo>
                  <a:pt x="0" y="556"/>
                </a:lnTo>
                <a:cubicBezTo>
                  <a:pt x="0" y="400"/>
                  <a:pt x="48" y="268"/>
                  <a:pt x="145" y="161"/>
                </a:cubicBezTo>
                <a:cubicBezTo>
                  <a:pt x="241" y="53"/>
                  <a:pt x="360" y="0"/>
                  <a:pt x="500" y="0"/>
                </a:cubicBezTo>
                <a:lnTo>
                  <a:pt x="9498" y="0"/>
                </a:lnTo>
                <a:cubicBezTo>
                  <a:pt x="9638" y="0"/>
                  <a:pt x="9756" y="53"/>
                  <a:pt x="9853" y="161"/>
                </a:cubicBezTo>
                <a:cubicBezTo>
                  <a:pt x="9949" y="268"/>
                  <a:pt x="9998" y="400"/>
                  <a:pt x="9998" y="556"/>
                </a:cubicBezTo>
                <a:lnTo>
                  <a:pt x="9998" y="9444"/>
                </a:lnTo>
                <a:cubicBezTo>
                  <a:pt x="9998" y="9600"/>
                  <a:pt x="9949" y="9731"/>
                  <a:pt x="9853" y="9839"/>
                </a:cubicBezTo>
                <a:cubicBezTo>
                  <a:pt x="9756" y="9946"/>
                  <a:pt x="9638" y="10000"/>
                  <a:pt x="9498" y="10000"/>
                </a:cubicBezTo>
                <a:moveTo>
                  <a:pt x="5999" y="3333"/>
                </a:moveTo>
                <a:lnTo>
                  <a:pt x="8998" y="6667"/>
                </a:lnTo>
                <a:lnTo>
                  <a:pt x="8998" y="1111"/>
                </a:lnTo>
                <a:lnTo>
                  <a:pt x="1000" y="1111"/>
                </a:lnTo>
                <a:lnTo>
                  <a:pt x="1000" y="8889"/>
                </a:lnTo>
                <a:lnTo>
                  <a:pt x="5999" y="3333"/>
                </a:lnTo>
                <a:moveTo>
                  <a:pt x="8998" y="8889"/>
                </a:moveTo>
                <a:lnTo>
                  <a:pt x="8998" y="8233"/>
                </a:lnTo>
                <a:lnTo>
                  <a:pt x="5999" y="4900"/>
                </a:lnTo>
                <a:lnTo>
                  <a:pt x="2410" y="8889"/>
                </a:lnTo>
                <a:lnTo>
                  <a:pt x="8998" y="8889"/>
                </a:lnTo>
                <a:moveTo>
                  <a:pt x="2999" y="4444"/>
                </a:moveTo>
                <a:cubicBezTo>
                  <a:pt x="2819" y="4444"/>
                  <a:pt x="2652" y="4394"/>
                  <a:pt x="2500" y="4294"/>
                </a:cubicBezTo>
                <a:cubicBezTo>
                  <a:pt x="2346" y="4194"/>
                  <a:pt x="2225" y="4059"/>
                  <a:pt x="2135" y="3889"/>
                </a:cubicBezTo>
                <a:cubicBezTo>
                  <a:pt x="2045" y="3718"/>
                  <a:pt x="2000" y="3533"/>
                  <a:pt x="2000" y="3333"/>
                </a:cubicBezTo>
                <a:cubicBezTo>
                  <a:pt x="2000" y="3133"/>
                  <a:pt x="2045" y="2948"/>
                  <a:pt x="2135" y="2778"/>
                </a:cubicBezTo>
                <a:cubicBezTo>
                  <a:pt x="2225" y="2607"/>
                  <a:pt x="2346" y="2472"/>
                  <a:pt x="2500" y="2372"/>
                </a:cubicBezTo>
                <a:cubicBezTo>
                  <a:pt x="2652" y="2272"/>
                  <a:pt x="2819" y="2222"/>
                  <a:pt x="2999" y="2222"/>
                </a:cubicBezTo>
                <a:cubicBezTo>
                  <a:pt x="3179" y="2222"/>
                  <a:pt x="3345" y="2272"/>
                  <a:pt x="3499" y="2372"/>
                </a:cubicBezTo>
                <a:cubicBezTo>
                  <a:pt x="3652" y="2472"/>
                  <a:pt x="3774" y="2607"/>
                  <a:pt x="3864" y="2778"/>
                </a:cubicBezTo>
                <a:cubicBezTo>
                  <a:pt x="3954" y="2948"/>
                  <a:pt x="3999" y="3133"/>
                  <a:pt x="3999" y="3333"/>
                </a:cubicBezTo>
                <a:cubicBezTo>
                  <a:pt x="3999" y="3533"/>
                  <a:pt x="3954" y="3718"/>
                  <a:pt x="3864" y="3889"/>
                </a:cubicBezTo>
                <a:cubicBezTo>
                  <a:pt x="3774" y="4059"/>
                  <a:pt x="3652" y="4194"/>
                  <a:pt x="3499" y="4294"/>
                </a:cubicBezTo>
                <a:cubicBezTo>
                  <a:pt x="3345" y="4394"/>
                  <a:pt x="3179" y="4444"/>
                  <a:pt x="2999" y="4444"/>
                </a:cubicBezTo>
              </a:path>
            </a:pathLst>
          </a:custGeom>
          <a:solidFill>
            <a:srgbClr val="5B8CB8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21" name="TextBox 21"/>
          <p:cNvSpPr txBox="1"/>
          <p:nvPr/>
        </p:nvSpPr>
        <p:spPr>
          <a:xfrm>
            <a:off x="919380" y="5144096"/>
            <a:ext cx="4799995" cy="1619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200" b="1" i="0" strike="noStrike">
                <a:solidFill>
                  <a:srgbClr val="0A1F3D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资源管理</a:t>
            </a:r>
            <a:endParaRPr lang="en-US" sz="1100"/>
          </a:p>
        </p:txBody>
      </p:sp>
      <p:sp>
        <p:nvSpPr>
          <p:cNvPr id="22" name="TextBox 22"/>
          <p:cNvSpPr txBox="1"/>
          <p:nvPr/>
        </p:nvSpPr>
        <p:spPr>
          <a:xfrm>
            <a:off x="919380" y="5401122"/>
            <a:ext cx="4992233" cy="365671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000" b="0" i="0" strike="noStrike">
                <a:solidFill>
                  <a:srgbClr val="0A1F3D">
                    <a:alpha val="85098"/>
                  </a:srgbClr>
                </a:solidFill>
                <a:latin typeface="Source Han Sans"/>
                <a:ea typeface="Source Han Sans"/>
                <a:cs typeface="Source Han Sans"/>
              </a:rPr>
              <a:t>图片本地存储配合关联清理机制，删除图书时自动清理封面和附加图片，避免冗余</a:t>
            </a:r>
            <a:endParaRPr lang="en-US" sz="1100"/>
          </a:p>
          <a:p>
            <a:pPr algn="l"/>
            <a:r>
              <a:rPr sz="1000" b="0" i="0" strike="noStrike">
                <a:solidFill>
                  <a:srgbClr val="0A1F3D">
                    <a:alpha val="85098"/>
                  </a:srgbClr>
                </a:solidFill>
                <a:latin typeface="Source Han Sans"/>
                <a:ea typeface="Source Han Sans"/>
                <a:cs typeface="Source Han Sans"/>
              </a:rPr>
              <a:t>文件堆积。</a:t>
            </a:r>
            <a:endParaRPr sz="1000" b="0" i="0" strike="noStrike">
              <a:solidFill>
                <a:srgbClr val="0A1F3D">
                  <a:alpha val="85098"/>
                </a:srgbClr>
              </a:solidFill>
              <a:latin typeface="Source Han Sans"/>
              <a:ea typeface="Source Han Sans"/>
              <a:cs typeface="Source Han Sans"/>
            </a:endParaRPr>
          </a:p>
        </p:txBody>
      </p:sp>
      <p:sp>
        <p:nvSpPr>
          <p:cNvPr id="23" name="AutoShape 23"/>
          <p:cNvSpPr/>
          <p:nvPr/>
        </p:nvSpPr>
        <p:spPr>
          <a:xfrm>
            <a:off x="6251823" y="2419053"/>
            <a:ext cx="228543" cy="228600"/>
          </a:xfrm>
          <a:custGeom>
            <a:avLst/>
            <a:gdLst/>
            <a:ahLst/>
            <a:cxnLst/>
            <a:rect l="l" t="t" r="r" b="b"/>
            <a:pathLst>
              <a:path w="9998" h="10000">
                <a:moveTo>
                  <a:pt x="4347" y="6047"/>
                </a:moveTo>
                <a:lnTo>
                  <a:pt x="4347" y="6977"/>
                </a:lnTo>
                <a:cubicBezTo>
                  <a:pt x="3760" y="6977"/>
                  <a:pt x="3213" y="7104"/>
                  <a:pt x="2706" y="7358"/>
                </a:cubicBezTo>
                <a:cubicBezTo>
                  <a:pt x="2213" y="7606"/>
                  <a:pt x="1822" y="7941"/>
                  <a:pt x="1532" y="8363"/>
                </a:cubicBezTo>
                <a:cubicBezTo>
                  <a:pt x="1235" y="8797"/>
                  <a:pt x="1087" y="9268"/>
                  <a:pt x="1087" y="9777"/>
                </a:cubicBezTo>
                <a:lnTo>
                  <a:pt x="0" y="9777"/>
                </a:lnTo>
                <a:cubicBezTo>
                  <a:pt x="0" y="9101"/>
                  <a:pt x="199" y="8474"/>
                  <a:pt x="598" y="7898"/>
                </a:cubicBezTo>
                <a:cubicBezTo>
                  <a:pt x="982" y="7333"/>
                  <a:pt x="1500" y="6886"/>
                  <a:pt x="2152" y="6558"/>
                </a:cubicBezTo>
                <a:cubicBezTo>
                  <a:pt x="2825" y="6217"/>
                  <a:pt x="3557" y="6047"/>
                  <a:pt x="4347" y="6047"/>
                </a:cubicBezTo>
                <a:moveTo>
                  <a:pt x="4347" y="5581"/>
                </a:moveTo>
                <a:cubicBezTo>
                  <a:pt x="3760" y="5581"/>
                  <a:pt x="3213" y="5457"/>
                  <a:pt x="2706" y="5209"/>
                </a:cubicBezTo>
                <a:cubicBezTo>
                  <a:pt x="2213" y="4961"/>
                  <a:pt x="1822" y="4626"/>
                  <a:pt x="1532" y="4205"/>
                </a:cubicBezTo>
                <a:cubicBezTo>
                  <a:pt x="1235" y="3770"/>
                  <a:pt x="1087" y="3300"/>
                  <a:pt x="1087" y="2795"/>
                </a:cubicBezTo>
                <a:cubicBezTo>
                  <a:pt x="1087" y="2289"/>
                  <a:pt x="1235" y="1820"/>
                  <a:pt x="1532" y="1386"/>
                </a:cubicBezTo>
                <a:cubicBezTo>
                  <a:pt x="1822" y="964"/>
                  <a:pt x="2213" y="629"/>
                  <a:pt x="2706" y="381"/>
                </a:cubicBezTo>
                <a:cubicBezTo>
                  <a:pt x="3213" y="127"/>
                  <a:pt x="3762" y="0"/>
                  <a:pt x="4352" y="0"/>
                </a:cubicBezTo>
                <a:cubicBezTo>
                  <a:pt x="4942" y="0"/>
                  <a:pt x="5491" y="127"/>
                  <a:pt x="5999" y="381"/>
                </a:cubicBezTo>
                <a:cubicBezTo>
                  <a:pt x="6484" y="629"/>
                  <a:pt x="6872" y="964"/>
                  <a:pt x="7162" y="1386"/>
                </a:cubicBezTo>
                <a:cubicBezTo>
                  <a:pt x="7458" y="1820"/>
                  <a:pt x="7607" y="2289"/>
                  <a:pt x="7607" y="2795"/>
                </a:cubicBezTo>
                <a:cubicBezTo>
                  <a:pt x="7607" y="3300"/>
                  <a:pt x="7458" y="3770"/>
                  <a:pt x="7162" y="4205"/>
                </a:cubicBezTo>
                <a:cubicBezTo>
                  <a:pt x="6872" y="4626"/>
                  <a:pt x="6484" y="4961"/>
                  <a:pt x="5999" y="5209"/>
                </a:cubicBezTo>
                <a:cubicBezTo>
                  <a:pt x="5491" y="5457"/>
                  <a:pt x="4941" y="5581"/>
                  <a:pt x="4347" y="5581"/>
                </a:cubicBezTo>
                <a:moveTo>
                  <a:pt x="4347" y="4651"/>
                </a:moveTo>
                <a:cubicBezTo>
                  <a:pt x="4738" y="4651"/>
                  <a:pt x="5100" y="4569"/>
                  <a:pt x="5434" y="4405"/>
                </a:cubicBezTo>
                <a:cubicBezTo>
                  <a:pt x="5767" y="4240"/>
                  <a:pt x="6031" y="4015"/>
                  <a:pt x="6227" y="3730"/>
                </a:cubicBezTo>
                <a:cubicBezTo>
                  <a:pt x="6422" y="3444"/>
                  <a:pt x="6520" y="3133"/>
                  <a:pt x="6520" y="2795"/>
                </a:cubicBezTo>
                <a:cubicBezTo>
                  <a:pt x="6520" y="2457"/>
                  <a:pt x="6422" y="2145"/>
                  <a:pt x="6227" y="1860"/>
                </a:cubicBezTo>
                <a:cubicBezTo>
                  <a:pt x="6031" y="1575"/>
                  <a:pt x="5767" y="1349"/>
                  <a:pt x="5434" y="1181"/>
                </a:cubicBezTo>
                <a:cubicBezTo>
                  <a:pt x="5100" y="1013"/>
                  <a:pt x="4738" y="930"/>
                  <a:pt x="4347" y="930"/>
                </a:cubicBezTo>
                <a:cubicBezTo>
                  <a:pt x="3955" y="930"/>
                  <a:pt x="3593" y="1013"/>
                  <a:pt x="3260" y="1181"/>
                </a:cubicBezTo>
                <a:cubicBezTo>
                  <a:pt x="2926" y="1349"/>
                  <a:pt x="2662" y="1575"/>
                  <a:pt x="2467" y="1860"/>
                </a:cubicBezTo>
                <a:cubicBezTo>
                  <a:pt x="2271" y="2145"/>
                  <a:pt x="2173" y="2457"/>
                  <a:pt x="2173" y="2795"/>
                </a:cubicBezTo>
                <a:cubicBezTo>
                  <a:pt x="2173" y="3133"/>
                  <a:pt x="2271" y="3444"/>
                  <a:pt x="2467" y="3730"/>
                </a:cubicBezTo>
                <a:cubicBezTo>
                  <a:pt x="2662" y="4015"/>
                  <a:pt x="2926" y="4240"/>
                  <a:pt x="3260" y="4405"/>
                </a:cubicBezTo>
                <a:cubicBezTo>
                  <a:pt x="3593" y="4569"/>
                  <a:pt x="3955" y="4651"/>
                  <a:pt x="4347" y="4651"/>
                </a:cubicBezTo>
                <a:moveTo>
                  <a:pt x="5216" y="8558"/>
                </a:moveTo>
                <a:lnTo>
                  <a:pt x="5760" y="8288"/>
                </a:lnTo>
                <a:cubicBezTo>
                  <a:pt x="5723" y="8164"/>
                  <a:pt x="5705" y="8038"/>
                  <a:pt x="5705" y="7912"/>
                </a:cubicBezTo>
                <a:cubicBezTo>
                  <a:pt x="5705" y="7784"/>
                  <a:pt x="5723" y="7659"/>
                  <a:pt x="5760" y="7535"/>
                </a:cubicBezTo>
                <a:lnTo>
                  <a:pt x="5216" y="7265"/>
                </a:lnTo>
                <a:lnTo>
                  <a:pt x="5760" y="6465"/>
                </a:lnTo>
                <a:lnTo>
                  <a:pt x="6303" y="6726"/>
                </a:lnTo>
                <a:cubicBezTo>
                  <a:pt x="6520" y="6552"/>
                  <a:pt x="6774" y="6427"/>
                  <a:pt x="7064" y="6353"/>
                </a:cubicBezTo>
                <a:lnTo>
                  <a:pt x="7064" y="5814"/>
                </a:lnTo>
                <a:lnTo>
                  <a:pt x="8151" y="5814"/>
                </a:lnTo>
                <a:lnTo>
                  <a:pt x="8151" y="6353"/>
                </a:lnTo>
                <a:cubicBezTo>
                  <a:pt x="8440" y="6427"/>
                  <a:pt x="8693" y="6552"/>
                  <a:pt x="8911" y="6726"/>
                </a:cubicBezTo>
                <a:lnTo>
                  <a:pt x="9455" y="6465"/>
                </a:lnTo>
                <a:lnTo>
                  <a:pt x="9998" y="7265"/>
                </a:lnTo>
                <a:lnTo>
                  <a:pt x="9455" y="7535"/>
                </a:lnTo>
                <a:cubicBezTo>
                  <a:pt x="9491" y="7659"/>
                  <a:pt x="9509" y="7784"/>
                  <a:pt x="9509" y="7912"/>
                </a:cubicBezTo>
                <a:cubicBezTo>
                  <a:pt x="9509" y="8038"/>
                  <a:pt x="9491" y="8164"/>
                  <a:pt x="9455" y="8288"/>
                </a:cubicBezTo>
                <a:lnTo>
                  <a:pt x="9998" y="8558"/>
                </a:lnTo>
                <a:lnTo>
                  <a:pt x="9455" y="9358"/>
                </a:lnTo>
                <a:lnTo>
                  <a:pt x="8911" y="9098"/>
                </a:lnTo>
                <a:cubicBezTo>
                  <a:pt x="8693" y="9271"/>
                  <a:pt x="8440" y="9395"/>
                  <a:pt x="8151" y="9470"/>
                </a:cubicBezTo>
                <a:lnTo>
                  <a:pt x="8151" y="10000"/>
                </a:lnTo>
                <a:lnTo>
                  <a:pt x="7064" y="10000"/>
                </a:lnTo>
                <a:lnTo>
                  <a:pt x="7064" y="9470"/>
                </a:lnTo>
                <a:cubicBezTo>
                  <a:pt x="6774" y="9395"/>
                  <a:pt x="6520" y="9271"/>
                  <a:pt x="6303" y="9098"/>
                </a:cubicBezTo>
                <a:lnTo>
                  <a:pt x="5760" y="9358"/>
                </a:lnTo>
                <a:lnTo>
                  <a:pt x="5216" y="8558"/>
                </a:lnTo>
                <a:moveTo>
                  <a:pt x="7607" y="8614"/>
                </a:moveTo>
                <a:lnTo>
                  <a:pt x="7607" y="8605"/>
                </a:lnTo>
                <a:cubicBezTo>
                  <a:pt x="7831" y="8605"/>
                  <a:pt x="8023" y="8538"/>
                  <a:pt x="8183" y="8405"/>
                </a:cubicBezTo>
                <a:cubicBezTo>
                  <a:pt x="8342" y="8271"/>
                  <a:pt x="8422" y="8107"/>
                  <a:pt x="8422" y="7912"/>
                </a:cubicBezTo>
                <a:cubicBezTo>
                  <a:pt x="8422" y="7716"/>
                  <a:pt x="8342" y="7552"/>
                  <a:pt x="8183" y="7419"/>
                </a:cubicBezTo>
                <a:cubicBezTo>
                  <a:pt x="8023" y="7285"/>
                  <a:pt x="7831" y="7217"/>
                  <a:pt x="7607" y="7214"/>
                </a:cubicBezTo>
                <a:cubicBezTo>
                  <a:pt x="7382" y="7210"/>
                  <a:pt x="7190" y="7277"/>
                  <a:pt x="7031" y="7414"/>
                </a:cubicBezTo>
                <a:cubicBezTo>
                  <a:pt x="6871" y="7550"/>
                  <a:pt x="6792" y="7716"/>
                  <a:pt x="6792" y="7912"/>
                </a:cubicBezTo>
                <a:cubicBezTo>
                  <a:pt x="6792" y="8107"/>
                  <a:pt x="6871" y="8273"/>
                  <a:pt x="7031" y="8409"/>
                </a:cubicBezTo>
                <a:cubicBezTo>
                  <a:pt x="7190" y="8545"/>
                  <a:pt x="7382" y="8614"/>
                  <a:pt x="7607" y="8614"/>
                </a:cubicBezTo>
              </a:path>
            </a:pathLst>
          </a:custGeom>
          <a:solidFill>
            <a:srgbClr val="5B8CB8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24" name="TextBox 24"/>
          <p:cNvSpPr txBox="1"/>
          <p:nvPr/>
        </p:nvSpPr>
        <p:spPr>
          <a:xfrm>
            <a:off x="6569268" y="2409528"/>
            <a:ext cx="1656936" cy="2476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800" b="1" i="0" strike="noStrike">
                <a:solidFill>
                  <a:srgbClr val="0A1F3D">
                    <a:alpha val="100000"/>
                  </a:srgbClr>
                </a:solidFill>
                <a:latin typeface="Source Han Serif CN"/>
                <a:ea typeface="Source Han Serif CN"/>
                <a:cs typeface="Source Han Serif CN"/>
              </a:rPr>
              <a:t>权限与可维护性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6277191" y="2910335"/>
            <a:ext cx="5456461" cy="895350"/>
          </a:xfrm>
          <a:prstGeom prst="rect">
            <a:avLst/>
          </a:prstGeom>
          <a:blipFill rotWithShape="1">
            <a:blip r:embed="rId2">
              <a:alphaModFix amt="100000"/>
              <a:alphaModFix amt="100000"/>
            </a:blip>
            <a:stretch>
              <a:fillRect/>
            </a:stretch>
          </a:blipFill>
          <a:ln>
            <a:headEnd type="none"/>
            <a:tailEnd type="none"/>
          </a:ln>
        </p:spPr>
      </p:sp>
      <p:sp>
        <p:nvSpPr>
          <p:cNvPr id="26" name="AutoShape 26"/>
          <p:cNvSpPr/>
          <p:nvPr/>
        </p:nvSpPr>
        <p:spPr>
          <a:xfrm>
            <a:off x="6448301" y="3108424"/>
            <a:ext cx="190452" cy="190500"/>
          </a:xfrm>
          <a:custGeom>
            <a:avLst/>
            <a:gdLst/>
            <a:ahLst/>
            <a:cxnLst/>
            <a:rect l="l" t="t" r="r" b="b"/>
            <a:pathLst>
              <a:path w="9998" h="10000">
                <a:moveTo>
                  <a:pt x="4237" y="4662"/>
                </a:moveTo>
                <a:lnTo>
                  <a:pt x="8614" y="0"/>
                </a:lnTo>
                <a:lnTo>
                  <a:pt x="9406" y="842"/>
                </a:lnTo>
                <a:lnTo>
                  <a:pt x="8614" y="1684"/>
                </a:lnTo>
                <a:lnTo>
                  <a:pt x="9998" y="3155"/>
                </a:lnTo>
                <a:lnTo>
                  <a:pt x="9205" y="3986"/>
                </a:lnTo>
                <a:lnTo>
                  <a:pt x="7832" y="2527"/>
                </a:lnTo>
                <a:lnTo>
                  <a:pt x="7039" y="3357"/>
                </a:lnTo>
                <a:lnTo>
                  <a:pt x="8223" y="4614"/>
                </a:lnTo>
                <a:lnTo>
                  <a:pt x="7430" y="5457"/>
                </a:lnTo>
                <a:lnTo>
                  <a:pt x="6247" y="4199"/>
                </a:lnTo>
                <a:lnTo>
                  <a:pt x="5030" y="5504"/>
                </a:lnTo>
                <a:cubicBezTo>
                  <a:pt x="5260" y="5884"/>
                  <a:pt x="5404" y="6299"/>
                  <a:pt x="5460" y="6750"/>
                </a:cubicBezTo>
                <a:cubicBezTo>
                  <a:pt x="5515" y="7200"/>
                  <a:pt x="5476" y="7643"/>
                  <a:pt x="5342" y="8078"/>
                </a:cubicBezTo>
                <a:cubicBezTo>
                  <a:pt x="5208" y="8513"/>
                  <a:pt x="4984" y="8897"/>
                  <a:pt x="4672" y="9229"/>
                </a:cubicBezTo>
                <a:cubicBezTo>
                  <a:pt x="4315" y="9608"/>
                  <a:pt x="3896" y="9865"/>
                  <a:pt x="3416" y="10000"/>
                </a:cubicBezTo>
                <a:cubicBezTo>
                  <a:pt x="2936" y="10134"/>
                  <a:pt x="2456" y="10134"/>
                  <a:pt x="1976" y="10000"/>
                </a:cubicBezTo>
                <a:cubicBezTo>
                  <a:pt x="1496" y="9865"/>
                  <a:pt x="1077" y="9608"/>
                  <a:pt x="720" y="9229"/>
                </a:cubicBezTo>
                <a:cubicBezTo>
                  <a:pt x="362" y="8849"/>
                  <a:pt x="122" y="8406"/>
                  <a:pt x="0" y="7900"/>
                </a:cubicBezTo>
                <a:cubicBezTo>
                  <a:pt x="-122" y="7394"/>
                  <a:pt x="-122" y="6886"/>
                  <a:pt x="0" y="6376"/>
                </a:cubicBezTo>
                <a:cubicBezTo>
                  <a:pt x="122" y="5866"/>
                  <a:pt x="362" y="5421"/>
                  <a:pt x="720" y="5042"/>
                </a:cubicBezTo>
                <a:cubicBezTo>
                  <a:pt x="1032" y="4709"/>
                  <a:pt x="1393" y="4470"/>
                  <a:pt x="1803" y="4324"/>
                </a:cubicBezTo>
                <a:cubicBezTo>
                  <a:pt x="2212" y="4177"/>
                  <a:pt x="2631" y="4133"/>
                  <a:pt x="3059" y="4193"/>
                </a:cubicBezTo>
                <a:cubicBezTo>
                  <a:pt x="3487" y="4252"/>
                  <a:pt x="3879" y="4408"/>
                  <a:pt x="4237" y="4662"/>
                </a:cubicBezTo>
                <a:moveTo>
                  <a:pt x="3880" y="8399"/>
                </a:moveTo>
                <a:cubicBezTo>
                  <a:pt x="4096" y="8169"/>
                  <a:pt x="4241" y="7902"/>
                  <a:pt x="4315" y="7598"/>
                </a:cubicBezTo>
                <a:cubicBezTo>
                  <a:pt x="4389" y="7293"/>
                  <a:pt x="4389" y="6987"/>
                  <a:pt x="4315" y="6679"/>
                </a:cubicBezTo>
                <a:cubicBezTo>
                  <a:pt x="4241" y="6370"/>
                  <a:pt x="4096" y="6103"/>
                  <a:pt x="3880" y="5878"/>
                </a:cubicBezTo>
                <a:cubicBezTo>
                  <a:pt x="3664" y="5652"/>
                  <a:pt x="3412" y="5498"/>
                  <a:pt x="3126" y="5415"/>
                </a:cubicBezTo>
                <a:cubicBezTo>
                  <a:pt x="2839" y="5332"/>
                  <a:pt x="2552" y="5332"/>
                  <a:pt x="2266" y="5415"/>
                </a:cubicBezTo>
                <a:cubicBezTo>
                  <a:pt x="1980" y="5498"/>
                  <a:pt x="1729" y="5652"/>
                  <a:pt x="1513" y="5878"/>
                </a:cubicBezTo>
                <a:cubicBezTo>
                  <a:pt x="1297" y="6103"/>
                  <a:pt x="1151" y="6370"/>
                  <a:pt x="1077" y="6679"/>
                </a:cubicBezTo>
                <a:cubicBezTo>
                  <a:pt x="1003" y="6987"/>
                  <a:pt x="1003" y="7293"/>
                  <a:pt x="1077" y="7598"/>
                </a:cubicBezTo>
                <a:cubicBezTo>
                  <a:pt x="1151" y="7902"/>
                  <a:pt x="1297" y="8167"/>
                  <a:pt x="1513" y="8393"/>
                </a:cubicBezTo>
                <a:cubicBezTo>
                  <a:pt x="1729" y="8618"/>
                  <a:pt x="1980" y="8772"/>
                  <a:pt x="2266" y="8855"/>
                </a:cubicBezTo>
                <a:cubicBezTo>
                  <a:pt x="2552" y="8938"/>
                  <a:pt x="2839" y="8938"/>
                  <a:pt x="3126" y="8855"/>
                </a:cubicBezTo>
                <a:cubicBezTo>
                  <a:pt x="3412" y="8772"/>
                  <a:pt x="3664" y="8620"/>
                  <a:pt x="3880" y="8399"/>
                </a:cubicBezTo>
              </a:path>
            </a:pathLst>
          </a:custGeom>
          <a:solidFill>
            <a:srgbClr val="5B8CB8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27" name="TextBox 27"/>
          <p:cNvSpPr txBox="1"/>
          <p:nvPr/>
        </p:nvSpPr>
        <p:spPr>
          <a:xfrm>
            <a:off x="6739485" y="3041749"/>
            <a:ext cx="4800144" cy="1619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200" b="1" i="0" strike="noStrike">
                <a:solidFill>
                  <a:srgbClr val="0A1F3D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身份认证</a:t>
            </a:r>
            <a:endParaRPr lang="en-US" sz="1100"/>
          </a:p>
        </p:txBody>
      </p:sp>
      <p:sp>
        <p:nvSpPr>
          <p:cNvPr id="28" name="TextBox 28"/>
          <p:cNvSpPr txBox="1"/>
          <p:nvPr/>
        </p:nvSpPr>
        <p:spPr>
          <a:xfrm>
            <a:off x="6739485" y="3298775"/>
            <a:ext cx="4992381" cy="365671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000" b="0" i="0" strike="noStrike">
                <a:solidFill>
                  <a:srgbClr val="0A1F3D">
                    <a:alpha val="85098"/>
                  </a:srgbClr>
                </a:solidFill>
                <a:latin typeface="Source Han Sans"/>
                <a:ea typeface="Source Han Sans"/>
                <a:cs typeface="Source Han Sans"/>
              </a:rPr>
              <a:t>登录成功后签发 JWT Token，前端路由守卫和后端拦截器共同校验，区分未登录/</a:t>
            </a:r>
            <a:endParaRPr lang="en-US" sz="1100"/>
          </a:p>
          <a:p>
            <a:pPr algn="l"/>
            <a:r>
              <a:rPr sz="1000" b="0" i="0" strike="noStrike">
                <a:solidFill>
                  <a:srgbClr val="0A1F3D">
                    <a:alpha val="85098"/>
                  </a:srgbClr>
                </a:solidFill>
                <a:latin typeface="Source Han Sans"/>
                <a:ea typeface="Source Han Sans"/>
                <a:cs typeface="Source Han Sans"/>
              </a:rPr>
              <a:t>普通用户/管理员三级身份。</a:t>
            </a:r>
            <a:endParaRPr sz="1000" b="0" i="0" strike="noStrike">
              <a:solidFill>
                <a:srgbClr val="0A1F3D">
                  <a:alpha val="85098"/>
                </a:srgbClr>
              </a:solidFill>
              <a:latin typeface="Source Han Sans"/>
              <a:ea typeface="Source Han Sans"/>
              <a:cs typeface="Source Han Sans"/>
            </a:endParaRPr>
          </a:p>
        </p:txBody>
      </p:sp>
      <p:sp>
        <p:nvSpPr>
          <p:cNvPr id="29" name="AutoShape 29"/>
          <p:cNvSpPr/>
          <p:nvPr/>
        </p:nvSpPr>
        <p:spPr>
          <a:xfrm>
            <a:off x="6277191" y="3961507"/>
            <a:ext cx="5456461" cy="895350"/>
          </a:xfrm>
          <a:prstGeom prst="rect">
            <a:avLst/>
          </a:prstGeom>
          <a:blipFill rotWithShape="1">
            <a:blip r:embed="rId2">
              <a:alphaModFix amt="100000"/>
              <a:alphaModFix amt="100000"/>
            </a:blip>
            <a:stretch>
              <a:fillRect/>
            </a:stretch>
          </a:blipFill>
          <a:ln>
            <a:headEnd type="none"/>
            <a:tailEnd type="none"/>
          </a:ln>
        </p:spPr>
      </p:sp>
      <p:sp>
        <p:nvSpPr>
          <p:cNvPr id="30" name="AutoShape 30"/>
          <p:cNvSpPr/>
          <p:nvPr/>
        </p:nvSpPr>
        <p:spPr>
          <a:xfrm>
            <a:off x="6448301" y="4159597"/>
            <a:ext cx="190452" cy="190500"/>
          </a:xfrm>
          <a:custGeom>
            <a:avLst/>
            <a:gdLst/>
            <a:ahLst/>
            <a:cxnLst/>
            <a:rect l="l" t="t" r="r" b="b"/>
            <a:pathLst>
              <a:path w="9998" h="10000">
                <a:moveTo>
                  <a:pt x="4444" y="6190"/>
                </a:moveTo>
                <a:lnTo>
                  <a:pt x="4444" y="7143"/>
                </a:lnTo>
                <a:cubicBezTo>
                  <a:pt x="3844" y="7143"/>
                  <a:pt x="3284" y="7273"/>
                  <a:pt x="2766" y="7533"/>
                </a:cubicBezTo>
                <a:cubicBezTo>
                  <a:pt x="2262" y="7787"/>
                  <a:pt x="1862" y="8130"/>
                  <a:pt x="1566" y="8562"/>
                </a:cubicBezTo>
                <a:cubicBezTo>
                  <a:pt x="1262" y="9006"/>
                  <a:pt x="1111" y="9486"/>
                  <a:pt x="1111" y="10000"/>
                </a:cubicBezTo>
                <a:lnTo>
                  <a:pt x="0" y="10000"/>
                </a:lnTo>
                <a:cubicBezTo>
                  <a:pt x="0" y="9308"/>
                  <a:pt x="203" y="8666"/>
                  <a:pt x="611" y="8076"/>
                </a:cubicBezTo>
                <a:cubicBezTo>
                  <a:pt x="1003" y="7504"/>
                  <a:pt x="1533" y="7050"/>
                  <a:pt x="2200" y="6714"/>
                </a:cubicBezTo>
                <a:cubicBezTo>
                  <a:pt x="2888" y="6364"/>
                  <a:pt x="3636" y="6190"/>
                  <a:pt x="4444" y="6190"/>
                </a:cubicBezTo>
                <a:moveTo>
                  <a:pt x="4444" y="5714"/>
                </a:moveTo>
                <a:cubicBezTo>
                  <a:pt x="3836" y="5714"/>
                  <a:pt x="3277" y="5584"/>
                  <a:pt x="2766" y="5324"/>
                </a:cubicBezTo>
                <a:cubicBezTo>
                  <a:pt x="2262" y="5070"/>
                  <a:pt x="1862" y="4727"/>
                  <a:pt x="1566" y="4295"/>
                </a:cubicBezTo>
                <a:cubicBezTo>
                  <a:pt x="1262" y="3857"/>
                  <a:pt x="1111" y="3377"/>
                  <a:pt x="1111" y="2857"/>
                </a:cubicBezTo>
                <a:cubicBezTo>
                  <a:pt x="1111" y="2336"/>
                  <a:pt x="1262" y="1857"/>
                  <a:pt x="1566" y="1419"/>
                </a:cubicBezTo>
                <a:cubicBezTo>
                  <a:pt x="1862" y="987"/>
                  <a:pt x="2262" y="644"/>
                  <a:pt x="2766" y="390"/>
                </a:cubicBezTo>
                <a:cubicBezTo>
                  <a:pt x="3277" y="130"/>
                  <a:pt x="3836" y="0"/>
                  <a:pt x="4444" y="0"/>
                </a:cubicBezTo>
                <a:cubicBezTo>
                  <a:pt x="5050" y="0"/>
                  <a:pt x="5609" y="130"/>
                  <a:pt x="6121" y="390"/>
                </a:cubicBezTo>
                <a:cubicBezTo>
                  <a:pt x="6624" y="644"/>
                  <a:pt x="7024" y="987"/>
                  <a:pt x="7321" y="1419"/>
                </a:cubicBezTo>
                <a:cubicBezTo>
                  <a:pt x="7624" y="1857"/>
                  <a:pt x="7776" y="2336"/>
                  <a:pt x="7776" y="2857"/>
                </a:cubicBezTo>
                <a:cubicBezTo>
                  <a:pt x="7776" y="3377"/>
                  <a:pt x="7624" y="3857"/>
                  <a:pt x="7321" y="4295"/>
                </a:cubicBezTo>
                <a:cubicBezTo>
                  <a:pt x="7024" y="4727"/>
                  <a:pt x="6624" y="5070"/>
                  <a:pt x="6121" y="5324"/>
                </a:cubicBezTo>
                <a:cubicBezTo>
                  <a:pt x="5609" y="5584"/>
                  <a:pt x="5050" y="5714"/>
                  <a:pt x="4444" y="5714"/>
                </a:cubicBezTo>
                <a:moveTo>
                  <a:pt x="4444" y="4762"/>
                </a:moveTo>
                <a:cubicBezTo>
                  <a:pt x="4843" y="4762"/>
                  <a:pt x="5213" y="4676"/>
                  <a:pt x="5554" y="4505"/>
                </a:cubicBezTo>
                <a:cubicBezTo>
                  <a:pt x="5894" y="4333"/>
                  <a:pt x="6165" y="4102"/>
                  <a:pt x="6365" y="3810"/>
                </a:cubicBezTo>
                <a:cubicBezTo>
                  <a:pt x="6565" y="3517"/>
                  <a:pt x="6665" y="3199"/>
                  <a:pt x="6665" y="2857"/>
                </a:cubicBezTo>
                <a:cubicBezTo>
                  <a:pt x="6665" y="2514"/>
                  <a:pt x="6565" y="2197"/>
                  <a:pt x="6365" y="1905"/>
                </a:cubicBezTo>
                <a:cubicBezTo>
                  <a:pt x="6165" y="1613"/>
                  <a:pt x="5894" y="1381"/>
                  <a:pt x="5554" y="1210"/>
                </a:cubicBezTo>
                <a:cubicBezTo>
                  <a:pt x="5213" y="1038"/>
                  <a:pt x="4843" y="952"/>
                  <a:pt x="4444" y="952"/>
                </a:cubicBezTo>
                <a:cubicBezTo>
                  <a:pt x="4044" y="952"/>
                  <a:pt x="3673" y="1038"/>
                  <a:pt x="3333" y="1210"/>
                </a:cubicBezTo>
                <a:cubicBezTo>
                  <a:pt x="2992" y="1381"/>
                  <a:pt x="2722" y="1613"/>
                  <a:pt x="2522" y="1905"/>
                </a:cubicBezTo>
                <a:cubicBezTo>
                  <a:pt x="2322" y="2197"/>
                  <a:pt x="2222" y="2514"/>
                  <a:pt x="2222" y="2857"/>
                </a:cubicBezTo>
                <a:cubicBezTo>
                  <a:pt x="2222" y="3199"/>
                  <a:pt x="2322" y="3517"/>
                  <a:pt x="2522" y="3810"/>
                </a:cubicBezTo>
                <a:cubicBezTo>
                  <a:pt x="2722" y="4102"/>
                  <a:pt x="2992" y="4333"/>
                  <a:pt x="3333" y="4505"/>
                </a:cubicBezTo>
                <a:cubicBezTo>
                  <a:pt x="3673" y="4676"/>
                  <a:pt x="4044" y="4762"/>
                  <a:pt x="4444" y="4762"/>
                </a:cubicBezTo>
                <a:moveTo>
                  <a:pt x="9443" y="7143"/>
                </a:moveTo>
                <a:lnTo>
                  <a:pt x="9443" y="7619"/>
                </a:lnTo>
                <a:lnTo>
                  <a:pt x="9998" y="7619"/>
                </a:lnTo>
                <a:lnTo>
                  <a:pt x="9998" y="10000"/>
                </a:lnTo>
                <a:lnTo>
                  <a:pt x="5554" y="10000"/>
                </a:lnTo>
                <a:lnTo>
                  <a:pt x="5554" y="7619"/>
                </a:lnTo>
                <a:lnTo>
                  <a:pt x="6110" y="7619"/>
                </a:lnTo>
                <a:lnTo>
                  <a:pt x="6110" y="7143"/>
                </a:lnTo>
                <a:cubicBezTo>
                  <a:pt x="6110" y="6882"/>
                  <a:pt x="6184" y="6642"/>
                  <a:pt x="6332" y="6424"/>
                </a:cubicBezTo>
                <a:cubicBezTo>
                  <a:pt x="6480" y="6204"/>
                  <a:pt x="6682" y="6031"/>
                  <a:pt x="6938" y="5905"/>
                </a:cubicBezTo>
                <a:cubicBezTo>
                  <a:pt x="7193" y="5777"/>
                  <a:pt x="7472" y="5714"/>
                  <a:pt x="7776" y="5714"/>
                </a:cubicBezTo>
                <a:cubicBezTo>
                  <a:pt x="8080" y="5714"/>
                  <a:pt x="8359" y="5777"/>
                  <a:pt x="8615" y="5905"/>
                </a:cubicBezTo>
                <a:cubicBezTo>
                  <a:pt x="8870" y="6031"/>
                  <a:pt x="9072" y="6204"/>
                  <a:pt x="9220" y="6424"/>
                </a:cubicBezTo>
                <a:cubicBezTo>
                  <a:pt x="9368" y="6642"/>
                  <a:pt x="9443" y="6882"/>
                  <a:pt x="9443" y="7143"/>
                </a:cubicBezTo>
                <a:moveTo>
                  <a:pt x="7221" y="7619"/>
                </a:moveTo>
                <a:lnTo>
                  <a:pt x="8332" y="7619"/>
                </a:lnTo>
                <a:lnTo>
                  <a:pt x="8332" y="7143"/>
                </a:lnTo>
                <a:cubicBezTo>
                  <a:pt x="8332" y="7009"/>
                  <a:pt x="8278" y="6897"/>
                  <a:pt x="8171" y="6805"/>
                </a:cubicBezTo>
                <a:cubicBezTo>
                  <a:pt x="8063" y="6713"/>
                  <a:pt x="7932" y="6667"/>
                  <a:pt x="7776" y="6667"/>
                </a:cubicBezTo>
                <a:cubicBezTo>
                  <a:pt x="7620" y="6667"/>
                  <a:pt x="7489" y="6713"/>
                  <a:pt x="7382" y="6805"/>
                </a:cubicBezTo>
                <a:cubicBezTo>
                  <a:pt x="7274" y="6897"/>
                  <a:pt x="7221" y="7009"/>
                  <a:pt x="7221" y="7143"/>
                </a:cubicBezTo>
              </a:path>
            </a:pathLst>
          </a:custGeom>
          <a:solidFill>
            <a:srgbClr val="5B8CB8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31" name="TextBox 31"/>
          <p:cNvSpPr txBox="1"/>
          <p:nvPr/>
        </p:nvSpPr>
        <p:spPr>
          <a:xfrm>
            <a:off x="6739485" y="4092922"/>
            <a:ext cx="4800144" cy="1619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200" b="1" i="0" strike="noStrike">
                <a:solidFill>
                  <a:srgbClr val="0A1F3D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权限控制</a:t>
            </a:r>
            <a:endParaRPr lang="en-US" sz="1100"/>
          </a:p>
        </p:txBody>
      </p:sp>
      <p:sp>
        <p:nvSpPr>
          <p:cNvPr id="32" name="TextBox 32"/>
          <p:cNvSpPr txBox="1"/>
          <p:nvPr/>
        </p:nvSpPr>
        <p:spPr>
          <a:xfrm>
            <a:off x="6739485" y="4349948"/>
            <a:ext cx="4992381" cy="365671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000" b="0" i="0" strike="noStrike">
                <a:solidFill>
                  <a:srgbClr val="0A1F3D">
                    <a:alpha val="85098"/>
                  </a:srgbClr>
                </a:solidFill>
                <a:latin typeface="Source Han Sans"/>
                <a:ea typeface="Source Han Sans"/>
                <a:cs typeface="Source Han Sans"/>
              </a:rPr>
              <a:t>管理员后台通过 requiresAdmin 标记和 Token 角色信息校验实现隔离，普通用户</a:t>
            </a:r>
            <a:endParaRPr lang="en-US" sz="1100"/>
          </a:p>
          <a:p>
            <a:pPr algn="l"/>
            <a:r>
              <a:rPr sz="1000" b="0" i="0" strike="noStrike">
                <a:solidFill>
                  <a:srgbClr val="0A1F3D">
                    <a:alpha val="85098"/>
                  </a:srgbClr>
                </a:solidFill>
                <a:latin typeface="Source Han Sans"/>
                <a:ea typeface="Source Han Sans"/>
                <a:cs typeface="Source Han Sans"/>
              </a:rPr>
              <a:t>访问/admin 自动提示并返回首页。</a:t>
            </a:r>
            <a:endParaRPr sz="1000" b="0" i="0" strike="noStrike">
              <a:solidFill>
                <a:srgbClr val="0A1F3D">
                  <a:alpha val="85098"/>
                </a:srgbClr>
              </a:solidFill>
              <a:latin typeface="Source Han Sans"/>
              <a:ea typeface="Source Han Sans"/>
              <a:cs typeface="Source Han Sans"/>
            </a:endParaRPr>
          </a:p>
        </p:txBody>
      </p:sp>
      <p:sp>
        <p:nvSpPr>
          <p:cNvPr id="33" name="AutoShape 33"/>
          <p:cNvSpPr/>
          <p:nvPr/>
        </p:nvSpPr>
        <p:spPr>
          <a:xfrm>
            <a:off x="6277191" y="5012680"/>
            <a:ext cx="5456461" cy="895350"/>
          </a:xfrm>
          <a:prstGeom prst="rect">
            <a:avLst/>
          </a:prstGeom>
          <a:blipFill rotWithShape="1">
            <a:blip r:embed="rId2">
              <a:alphaModFix amt="100000"/>
              <a:alphaModFix amt="100000"/>
            </a:blip>
            <a:stretch>
              <a:fillRect/>
            </a:stretch>
          </a:blipFill>
          <a:ln>
            <a:headEnd type="none"/>
            <a:tailEnd type="none"/>
          </a:ln>
        </p:spPr>
      </p:sp>
      <p:sp>
        <p:nvSpPr>
          <p:cNvPr id="34" name="AutoShape 34"/>
          <p:cNvSpPr/>
          <p:nvPr/>
        </p:nvSpPr>
        <p:spPr>
          <a:xfrm>
            <a:off x="6448301" y="5210771"/>
            <a:ext cx="190452" cy="190500"/>
          </a:xfrm>
          <a:custGeom>
            <a:avLst/>
            <a:gdLst/>
            <a:ahLst/>
            <a:cxnLst/>
            <a:rect l="l" t="t" r="r" b="b"/>
            <a:pathLst>
              <a:path w="9998" h="10000">
                <a:moveTo>
                  <a:pt x="7640" y="1856"/>
                </a:moveTo>
                <a:lnTo>
                  <a:pt x="9998" y="5000"/>
                </a:lnTo>
                <a:lnTo>
                  <a:pt x="7640" y="8144"/>
                </a:lnTo>
                <a:lnTo>
                  <a:pt x="7049" y="7356"/>
                </a:lnTo>
                <a:lnTo>
                  <a:pt x="8823" y="5000"/>
                </a:lnTo>
                <a:lnTo>
                  <a:pt x="7049" y="2644"/>
                </a:lnTo>
                <a:lnTo>
                  <a:pt x="7640" y="1856"/>
                </a:lnTo>
                <a:moveTo>
                  <a:pt x="2949" y="2644"/>
                </a:moveTo>
                <a:lnTo>
                  <a:pt x="1175" y="5000"/>
                </a:lnTo>
                <a:lnTo>
                  <a:pt x="2949" y="7356"/>
                </a:lnTo>
                <a:lnTo>
                  <a:pt x="2358" y="8144"/>
                </a:lnTo>
                <a:lnTo>
                  <a:pt x="0" y="5000"/>
                </a:lnTo>
                <a:lnTo>
                  <a:pt x="2358" y="1856"/>
                </a:lnTo>
                <a:lnTo>
                  <a:pt x="2949" y="2644"/>
                </a:lnTo>
                <a:moveTo>
                  <a:pt x="6807" y="0"/>
                </a:moveTo>
                <a:lnTo>
                  <a:pt x="4074" y="10000"/>
                </a:lnTo>
                <a:lnTo>
                  <a:pt x="3191" y="10000"/>
                </a:lnTo>
                <a:lnTo>
                  <a:pt x="5924" y="0"/>
                </a:lnTo>
              </a:path>
            </a:pathLst>
          </a:custGeom>
          <a:solidFill>
            <a:srgbClr val="5B8CB8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35" name="TextBox 35"/>
          <p:cNvSpPr txBox="1"/>
          <p:nvPr/>
        </p:nvSpPr>
        <p:spPr>
          <a:xfrm>
            <a:off x="6739485" y="5144096"/>
            <a:ext cx="4800144" cy="1619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200" b="1" i="0" strike="noStrike">
                <a:solidFill>
                  <a:srgbClr val="0A1F3D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可维护性</a:t>
            </a:r>
            <a:endParaRPr lang="en-US" sz="1100"/>
          </a:p>
        </p:txBody>
      </p:sp>
      <p:sp>
        <p:nvSpPr>
          <p:cNvPr id="36" name="TextBox 36"/>
          <p:cNvSpPr txBox="1"/>
          <p:nvPr/>
        </p:nvSpPr>
        <p:spPr>
          <a:xfrm>
            <a:off x="6739485" y="5401122"/>
            <a:ext cx="4800144" cy="365671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000" b="0" i="0" strike="noStrike">
                <a:solidFill>
                  <a:srgbClr val="0A1F3D">
                    <a:alpha val="85098"/>
                  </a:srgbClr>
                </a:solidFill>
                <a:latin typeface="Source Han Sans"/>
                <a:ea typeface="Source Han Sans"/>
                <a:cs typeface="Source Han Sans"/>
              </a:rPr>
              <a:t>后端采用 Controller-Service-Mapper 分层结构，前端按</a:t>
            </a:r>
            <a:endParaRPr lang="en-US" sz="1100"/>
          </a:p>
          <a:p>
            <a:pPr algn="l"/>
            <a:r>
              <a:rPr sz="1000" b="0" i="0" strike="noStrike">
                <a:solidFill>
                  <a:srgbClr val="0A1F3D">
                    <a:alpha val="85098"/>
                  </a:srgbClr>
                </a:solidFill>
                <a:latin typeface="Source Han Sans"/>
                <a:ea typeface="Source Han Sans"/>
                <a:cs typeface="Source Han Sans"/>
              </a:rPr>
              <a:t>views/api/utils/router/stores 组织便于后续扩展模块。</a:t>
            </a:r>
            <a:endParaRPr sz="1000" b="0" i="0" strike="noStrike">
              <a:solidFill>
                <a:srgbClr val="0A1F3D">
                  <a:alpha val="85098"/>
                </a:srgbClr>
              </a:solidFill>
              <a:latin typeface="Source Han Sans"/>
              <a:ea typeface="Source Han Sans"/>
              <a:cs typeface="Source Han Sans"/>
            </a:endParaRPr>
          </a:p>
        </p:txBody>
      </p:sp>
      <p:sp>
        <p:nvSpPr>
          <p:cNvPr id="37" name="AutoShape 37"/>
          <p:cNvSpPr/>
          <p:nvPr/>
        </p:nvSpPr>
        <p:spPr>
          <a:xfrm>
            <a:off x="457086" y="6116984"/>
            <a:ext cx="11274781" cy="9525"/>
          </a:xfrm>
          <a:prstGeom prst="line">
            <a:avLst/>
          </a:prstGeom>
          <a:ln w="9525">
            <a:solidFill>
              <a:srgbClr val="0A1F3D">
                <a:alpha val="10196"/>
              </a:srgbClr>
            </a:solidFill>
            <a:prstDash val="solid"/>
            <a:headEnd type="none"/>
            <a:tailEnd type="none"/>
          </a:ln>
        </p:spPr>
      </p:sp>
      <p:sp>
        <p:nvSpPr>
          <p:cNvPr id="38" name="TextBox 38"/>
          <p:cNvSpPr txBox="1"/>
          <p:nvPr/>
        </p:nvSpPr>
        <p:spPr>
          <a:xfrm>
            <a:off x="457086" y="6248400"/>
            <a:ext cx="885753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solidFill>
                  <a:srgbClr val="0A1F3D">
                    <a:alpha val="60000"/>
                  </a:srgbClr>
                </a:solidFill>
                <a:latin typeface="Inter"/>
                <a:ea typeface="Inter"/>
                <a:cs typeface="Inter"/>
              </a:rPr>
              <a:t>非功能设计 · 10</a:t>
            </a:r>
            <a:endParaRPr lang="en-US" sz="1100"/>
          </a:p>
        </p:txBody>
      </p:sp>
      <p:sp>
        <p:nvSpPr>
          <p:cNvPr id="39" name="TextBox 39"/>
          <p:cNvSpPr txBox="1"/>
          <p:nvPr/>
        </p:nvSpPr>
        <p:spPr>
          <a:xfrm>
            <a:off x="10532016" y="6248400"/>
            <a:ext cx="1228418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solidFill>
                  <a:srgbClr val="0A1F3D">
                    <a:alpha val="60000"/>
                  </a:srgbClr>
                </a:solidFill>
                <a:latin typeface="Inter"/>
                <a:ea typeface="Inter"/>
                <a:cs typeface="Inter"/>
              </a:rPr>
              <a:t>校园二手图书交易平台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333333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3" name="AutoShap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3F5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4" name="TextBox 4"/>
          <p:cNvSpPr txBox="1"/>
          <p:nvPr/>
        </p:nvSpPr>
        <p:spPr>
          <a:xfrm>
            <a:off x="457086" y="476250"/>
            <a:ext cx="11274781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solidFill>
                  <a:srgbClr val="0A1F3D">
                    <a:alpha val="60000"/>
                  </a:srgbClr>
                </a:solidFill>
                <a:latin typeface="Inter"/>
                <a:ea typeface="Inter"/>
                <a:cs typeface="Inter"/>
              </a:rPr>
              <a:t>Quality Assurance</a:t>
            </a:r>
            <a:endParaRPr lang="en-US" sz="1100"/>
          </a:p>
        </p:txBody>
      </p:sp>
      <p:sp>
        <p:nvSpPr>
          <p:cNvPr id="5" name="TextBox 5"/>
          <p:cNvSpPr txBox="1"/>
          <p:nvPr/>
        </p:nvSpPr>
        <p:spPr>
          <a:xfrm>
            <a:off x="457086" y="714375"/>
            <a:ext cx="11274781" cy="4286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3000" b="1" i="0" strike="noStrike">
                <a:solidFill>
                  <a:srgbClr val="0A1F3D">
                    <a:alpha val="100000"/>
                  </a:srgbClr>
                </a:solidFill>
                <a:latin typeface="Source Han Serif CN"/>
                <a:ea typeface="Source Han Serif CN"/>
                <a:cs typeface="Source Han Serif CN"/>
              </a:rPr>
              <a:t>系统测试方案与结果</a:t>
            </a:r>
            <a:endParaRPr lang="en-US" sz="1100"/>
          </a:p>
        </p:txBody>
      </p:sp>
      <p:sp>
        <p:nvSpPr>
          <p:cNvPr id="6" name="TextBox 6"/>
          <p:cNvSpPr txBox="1"/>
          <p:nvPr/>
        </p:nvSpPr>
        <p:spPr>
          <a:xfrm>
            <a:off x="457086" y="1352550"/>
            <a:ext cx="11274781" cy="40570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200" b="0" i="0" strike="noStrike">
                <a:solidFill>
                  <a:srgbClr val="0A1F3D">
                    <a:alpha val="85098"/>
                  </a:srgbClr>
                </a:solidFill>
                <a:latin typeface="Source Han Sans"/>
                <a:ea typeface="Source Han Sans"/>
                <a:cs typeface="Source Han Sans"/>
              </a:rPr>
              <a:t>测试覆盖普通用户核心流程、管理员后台流程和异常场景三大维度，共设计 </a:t>
            </a:r>
            <a:r>
              <a:rPr sz="1200" b="1" i="0" strike="noStrike">
                <a:solidFill>
                  <a:srgbClr val="5B8CB8">
                    <a:alpha val="85098"/>
                  </a:srgbClr>
                </a:solidFill>
                <a:latin typeface="Source Han Sans"/>
                <a:ea typeface="Source Han Sans"/>
                <a:cs typeface="Source Han Sans"/>
              </a:rPr>
              <a:t>20 项</a:t>
            </a:r>
            <a:r>
              <a:rPr sz="1200" b="0" i="0" strike="noStrike">
                <a:solidFill>
                  <a:srgbClr val="0A1F3D">
                    <a:alpha val="85098"/>
                  </a:srgbClr>
                </a:solidFill>
                <a:latin typeface="Source Han Sans"/>
                <a:ea typeface="Source Han Sans"/>
                <a:cs typeface="Source Han Sans"/>
              </a:rPr>
              <a:t> 测试用例。所有测试用例均通过验证，系统功</a:t>
            </a:r>
            <a:endParaRPr lang="en-US" sz="1100"/>
          </a:p>
          <a:p>
            <a:pPr algn="l"/>
            <a:r>
              <a:rPr sz="1200" b="0" i="0" strike="noStrike">
                <a:solidFill>
                  <a:srgbClr val="0A1F3D">
                    <a:alpha val="85098"/>
                  </a:srgbClr>
                </a:solidFill>
                <a:latin typeface="Source Han Sans"/>
                <a:ea typeface="Source Han Sans"/>
                <a:cs typeface="Source Han Sans"/>
              </a:rPr>
              <a:t>能完整稳定，满足结项验收标准。</a:t>
            </a:r>
            <a:endParaRPr sz="1200" b="0" i="0" strike="noStrike">
              <a:solidFill>
                <a:srgbClr val="0A1F3D">
                  <a:alpha val="85098"/>
                </a:srgbClr>
              </a:solidFill>
              <a:latin typeface="Source Han Sans"/>
              <a:ea typeface="Source Han Sans"/>
              <a:cs typeface="Source Han Sans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457086" y="2030611"/>
            <a:ext cx="11274781" cy="4019550"/>
          </a:xfrm>
          <a:prstGeom prst="rect">
            <a:avLst/>
          </a:prstGeom>
          <a:blipFill rotWithShape="1">
            <a:blip r:embed="rId1">
              <a:alphaModFix amt="100000"/>
              <a:alphaModFix amt="100000"/>
            </a:blip>
            <a:stretch>
              <a:fillRect/>
            </a:stretch>
          </a:blipFill>
          <a:ln>
            <a:headEnd type="none"/>
            <a:tailEnd type="none"/>
          </a:ln>
        </p:spPr>
      </p:sp>
      <p:sp>
        <p:nvSpPr>
          <p:cNvPr id="8" name="TextBox 8"/>
          <p:cNvSpPr txBox="1"/>
          <p:nvPr/>
        </p:nvSpPr>
        <p:spPr>
          <a:xfrm>
            <a:off x="457086" y="6234112"/>
            <a:ext cx="1956899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solidFill>
                  <a:srgbClr val="0A1F3D">
                    <a:alpha val="60000"/>
                  </a:srgbClr>
                </a:solidFill>
                <a:latin typeface="Inter"/>
                <a:ea typeface="Inter"/>
                <a:cs typeface="Inter"/>
              </a:rPr>
              <a:t>DATA SOURCE: SYSTEM TEST LOG</a:t>
            </a:r>
            <a:endParaRPr lang="en-US" sz="1100"/>
          </a:p>
        </p:txBody>
      </p:sp>
      <p:sp>
        <p:nvSpPr>
          <p:cNvPr id="9" name="TextBox 9"/>
          <p:cNvSpPr txBox="1"/>
          <p:nvPr/>
        </p:nvSpPr>
        <p:spPr>
          <a:xfrm>
            <a:off x="8902012" y="6219825"/>
            <a:ext cx="2867944" cy="1524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000" b="0" i="0" strike="noStrike">
                <a:solidFill>
                  <a:srgbClr val="0A1F3D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20 项测试用例覆盖全部核心功能，通过率 100%</a:t>
            </a:r>
            <a:endParaRPr lang="en-US" sz="1100"/>
          </a:p>
        </p:txBody>
      </p:sp>
      <p:graphicFrame>
        <p:nvGraphicFramePr>
          <p:cNvPr id="10" name="Table 10"/>
          <p:cNvGraphicFramePr>
            <a:graphicFrameLocks noGrp="1"/>
          </p:cNvGraphicFramePr>
          <p:nvPr/>
        </p:nvGraphicFramePr>
        <p:xfrm>
          <a:off x="466608" y="2040136"/>
          <a:ext cx="11255736" cy="4467225"/>
        </p:xfrm>
        <a:graphic>
          <a:graphicData uri="http://schemas.openxmlformats.org/drawingml/2006/table">
            <a:tbl>
              <a:tblPr/>
              <a:tblGrid>
                <a:gridCol w="762000"/>
                <a:gridCol w="1524000"/>
                <a:gridCol w="7823200"/>
                <a:gridCol w="1130300"/>
              </a:tblGrid>
              <a:tr h="393700">
                <a:tc>
                  <a:txBody>
                    <a:bodyPr rot="0" wrap="square"/>
                    <a:p>
                      <a:pPr algn="l">
                        <a:defRPr sz="900" b="1" i="0" strike="noStrike">
                          <a:solidFill>
                            <a:srgbClr val="F1F3F5">
                              <a:alpha val="100000"/>
                            </a:srgbClr>
                          </a:solidFill>
                          <a:latin typeface="Inter, sans-serif"/>
                          <a:ea typeface="Inter, sans-serif"/>
                          <a:cs typeface="Inter, sans-serif"/>
                        </a:defRPr>
                      </a:pPr>
                      <a:r>
                        <a:rPr sz="900" b="1" i="0" strike="noStrike">
                          <a:solidFill>
                            <a:srgbClr val="F1F3F5">
                              <a:alpha val="100000"/>
                            </a:srgbClr>
                          </a:solidFill>
                          <a:latin typeface="Inter, sans-serif"/>
                          <a:ea typeface="Inter, sans-serif"/>
                          <a:cs typeface="Inter, sans-serif"/>
                        </a:rPr>
                        <a:t>编号</a:t>
                      </a:r>
                      <a:endParaRPr sz="900" b="1" i="0" strike="noStrike">
                        <a:solidFill>
                          <a:srgbClr val="F1F3F5">
                            <a:alpha val="100000"/>
                          </a:srgbClr>
                        </a:solidFill>
                        <a:latin typeface="Inter, sans-serif"/>
                        <a:ea typeface="Inter, sans-serif"/>
                        <a:cs typeface="Inter, sans-serif"/>
                      </a:endParaRPr>
                    </a:p>
                  </a:txBody>
                  <a:tcPr marL="152400" marR="152400" marT="114300" marB="114300" vert="horz" anchor="ctr" anchorCtr="0">
                    <a:lnL w="12700">
                      <a:solidFill>
                        <a:srgbClr val="D1D5DB">
                          <a:alpha val="100000"/>
                        </a:srgbClr>
                      </a:solidFill>
                    </a:lnL>
                    <a:lnR w="12700">
                      <a:solidFill>
                        <a:srgbClr val="D1D5DB">
                          <a:alpha val="100000"/>
                        </a:srgbClr>
                      </a:solidFill>
                    </a:lnR>
                    <a:lnT w="12700">
                      <a:solidFill>
                        <a:srgbClr val="D1D5DB">
                          <a:alpha val="100000"/>
                        </a:srgbClr>
                      </a:solidFill>
                    </a:lnT>
                    <a:lnB w="12700">
                      <a:solidFill>
                        <a:srgbClr val="D1D5DB">
                          <a:alpha val="100000"/>
                        </a:srgbClr>
                      </a:solidFill>
                    </a:lnB>
                    <a:solidFill>
                      <a:srgbClr val="0A1F3D">
                        <a:alpha val="100000"/>
                      </a:srgbClr>
                    </a:solidFill>
                  </a:tcPr>
                </a:tc>
                <a:tc>
                  <a:txBody>
                    <a:bodyPr rot="0" wrap="square"/>
                    <a:p>
                      <a:pPr algn="l">
                        <a:defRPr sz="900" b="1" i="0" strike="noStrike">
                          <a:solidFill>
                            <a:srgbClr val="F1F3F5">
                              <a:alpha val="100000"/>
                            </a:srgbClr>
                          </a:solidFill>
                          <a:latin typeface="Inter, sans-serif"/>
                          <a:ea typeface="Inter, sans-serif"/>
                          <a:cs typeface="Inter, sans-serif"/>
                        </a:defRPr>
                      </a:pPr>
                      <a:r>
                        <a:rPr sz="900" b="1" i="0" strike="noStrike">
                          <a:solidFill>
                            <a:srgbClr val="F1F3F5">
                              <a:alpha val="100000"/>
                            </a:srgbClr>
                          </a:solidFill>
                          <a:latin typeface="Inter, sans-serif"/>
                          <a:ea typeface="Inter, sans-serif"/>
                          <a:cs typeface="Inter, sans-serif"/>
                        </a:rPr>
                        <a:t>测试模块</a:t>
                      </a:r>
                      <a:endParaRPr sz="900" b="1" i="0" strike="noStrike">
                        <a:solidFill>
                          <a:srgbClr val="F1F3F5">
                            <a:alpha val="100000"/>
                          </a:srgbClr>
                        </a:solidFill>
                        <a:latin typeface="Inter, sans-serif"/>
                        <a:ea typeface="Inter, sans-serif"/>
                        <a:cs typeface="Inter, sans-serif"/>
                      </a:endParaRPr>
                    </a:p>
                  </a:txBody>
                  <a:tcPr marL="152400" marR="152400" marT="114300" marB="114300" vert="horz" anchor="ctr" anchorCtr="0">
                    <a:lnL w="12700">
                      <a:solidFill>
                        <a:srgbClr val="D1D5DB">
                          <a:alpha val="100000"/>
                        </a:srgbClr>
                      </a:solidFill>
                    </a:lnL>
                    <a:lnR w="12700">
                      <a:solidFill>
                        <a:srgbClr val="D1D5DB">
                          <a:alpha val="100000"/>
                        </a:srgbClr>
                      </a:solidFill>
                    </a:lnR>
                    <a:lnT w="12700">
                      <a:solidFill>
                        <a:srgbClr val="D1D5DB">
                          <a:alpha val="100000"/>
                        </a:srgbClr>
                      </a:solidFill>
                    </a:lnT>
                    <a:lnB w="12700">
                      <a:solidFill>
                        <a:srgbClr val="D1D5DB">
                          <a:alpha val="100000"/>
                        </a:srgbClr>
                      </a:solidFill>
                    </a:lnB>
                    <a:solidFill>
                      <a:srgbClr val="0A1F3D">
                        <a:alpha val="100000"/>
                      </a:srgbClr>
                    </a:solidFill>
                  </a:tcPr>
                </a:tc>
                <a:tc>
                  <a:txBody>
                    <a:bodyPr rot="0" wrap="square"/>
                    <a:p>
                      <a:pPr algn="l">
                        <a:defRPr sz="900" b="1" i="0" strike="noStrike">
                          <a:solidFill>
                            <a:srgbClr val="F1F3F5">
                              <a:alpha val="100000"/>
                            </a:srgbClr>
                          </a:solidFill>
                          <a:latin typeface="Inter, sans-serif"/>
                          <a:ea typeface="Inter, sans-serif"/>
                          <a:cs typeface="Inter, sans-serif"/>
                        </a:defRPr>
                      </a:pPr>
                      <a:r>
                        <a:rPr sz="900" b="1" i="0" strike="noStrike">
                          <a:solidFill>
                            <a:srgbClr val="F1F3F5">
                              <a:alpha val="100000"/>
                            </a:srgbClr>
                          </a:solidFill>
                          <a:latin typeface="Inter, sans-serif"/>
                          <a:ea typeface="Inter, sans-serif"/>
                          <a:cs typeface="Inter, sans-serif"/>
                        </a:rPr>
                        <a:t>测试内容</a:t>
                      </a:r>
                      <a:endParaRPr sz="900" b="1" i="0" strike="noStrike">
                        <a:solidFill>
                          <a:srgbClr val="F1F3F5">
                            <a:alpha val="100000"/>
                          </a:srgbClr>
                        </a:solidFill>
                        <a:latin typeface="Inter, sans-serif"/>
                        <a:ea typeface="Inter, sans-serif"/>
                        <a:cs typeface="Inter, sans-serif"/>
                      </a:endParaRPr>
                    </a:p>
                  </a:txBody>
                  <a:tcPr marL="152400" marR="152400" marT="114300" marB="114300" vert="horz" anchor="ctr" anchorCtr="0">
                    <a:lnL w="12700">
                      <a:solidFill>
                        <a:srgbClr val="D1D5DB">
                          <a:alpha val="100000"/>
                        </a:srgbClr>
                      </a:solidFill>
                    </a:lnL>
                    <a:lnR w="12700">
                      <a:solidFill>
                        <a:srgbClr val="D1D5DB">
                          <a:alpha val="100000"/>
                        </a:srgbClr>
                      </a:solidFill>
                    </a:lnR>
                    <a:lnT w="12700">
                      <a:solidFill>
                        <a:srgbClr val="D1D5DB">
                          <a:alpha val="100000"/>
                        </a:srgbClr>
                      </a:solidFill>
                    </a:lnT>
                    <a:lnB w="12700">
                      <a:solidFill>
                        <a:srgbClr val="D1D5DB">
                          <a:alpha val="100000"/>
                        </a:srgbClr>
                      </a:solidFill>
                    </a:lnB>
                    <a:solidFill>
                      <a:srgbClr val="0A1F3D">
                        <a:alpha val="100000"/>
                      </a:srgbClr>
                    </a:solidFill>
                  </a:tcPr>
                </a:tc>
                <a:tc>
                  <a:txBody>
                    <a:bodyPr rot="0" wrap="square"/>
                    <a:p>
                      <a:pPr algn="l">
                        <a:defRPr sz="900" b="1" i="0" strike="noStrike">
                          <a:solidFill>
                            <a:srgbClr val="F1F3F5">
                              <a:alpha val="100000"/>
                            </a:srgbClr>
                          </a:solidFill>
                          <a:latin typeface="Inter, sans-serif"/>
                          <a:ea typeface="Inter, sans-serif"/>
                          <a:cs typeface="Inter, sans-serif"/>
                        </a:defRPr>
                      </a:pPr>
                      <a:r>
                        <a:rPr sz="900" b="1" i="0" strike="noStrike">
                          <a:solidFill>
                            <a:srgbClr val="F1F3F5">
                              <a:alpha val="100000"/>
                            </a:srgbClr>
                          </a:solidFill>
                          <a:latin typeface="Inter, sans-serif"/>
                          <a:ea typeface="Inter, sans-serif"/>
                          <a:cs typeface="Inter, sans-serif"/>
                        </a:rPr>
                        <a:t>实际结果</a:t>
                      </a:r>
                      <a:endParaRPr sz="900" b="1" i="0" strike="noStrike">
                        <a:solidFill>
                          <a:srgbClr val="F1F3F5">
                            <a:alpha val="100000"/>
                          </a:srgbClr>
                        </a:solidFill>
                        <a:latin typeface="Inter, sans-serif"/>
                        <a:ea typeface="Inter, sans-serif"/>
                        <a:cs typeface="Inter, sans-serif"/>
                      </a:endParaRPr>
                    </a:p>
                  </a:txBody>
                  <a:tcPr marL="152400" marR="152400" marT="114300" marB="114300" vert="horz" anchor="ctr" anchorCtr="0">
                    <a:lnL w="12700">
                      <a:solidFill>
                        <a:srgbClr val="D1D5DB">
                          <a:alpha val="100000"/>
                        </a:srgbClr>
                      </a:solidFill>
                    </a:lnL>
                    <a:lnR w="12700">
                      <a:solidFill>
                        <a:srgbClr val="D1D5DB">
                          <a:alpha val="100000"/>
                        </a:srgbClr>
                      </a:solidFill>
                    </a:lnR>
                    <a:lnT w="12700">
                      <a:solidFill>
                        <a:srgbClr val="D1D5DB">
                          <a:alpha val="100000"/>
                        </a:srgbClr>
                      </a:solidFill>
                    </a:lnT>
                    <a:lnB w="12700">
                      <a:solidFill>
                        <a:srgbClr val="D1D5DB">
                          <a:alpha val="100000"/>
                        </a:srgbClr>
                      </a:solidFill>
                    </a:lnB>
                    <a:solidFill>
                      <a:srgbClr val="0A1F3D">
                        <a:alpha val="100000"/>
                      </a:srgbClr>
                    </a:solidFill>
                  </a:tcPr>
                </a:tc>
              </a:tr>
              <a:tr h="660400">
                <a:tc>
                  <a:txBody>
                    <a:bodyPr rot="0" wrap="square"/>
                    <a:p>
                      <a:pPr algn="ctr">
                        <a:defRPr sz="1100" b="0" i="0" strike="noStrike">
                          <a:solidFill>
                            <a:srgbClr val="0A1F3D">
                              <a:alpha val="100000"/>
                            </a:srgbClr>
                          </a:solidFill>
                          <a:latin typeface="Inter, sans-serif"/>
                          <a:ea typeface="Inter, sans-serif"/>
                          <a:cs typeface="Inter, sans-serif"/>
                        </a:defRPr>
                      </a:pPr>
                      <a:r>
                        <a:rPr sz="1100" b="0" i="0" strike="noStrike">
                          <a:solidFill>
                            <a:srgbClr val="0A1F3D">
                              <a:alpha val="100000"/>
                            </a:srgbClr>
                          </a:solidFill>
                          <a:latin typeface="Inter, sans-serif"/>
                          <a:ea typeface="Inter, sans-serif"/>
                          <a:cs typeface="Inter, sans-serif"/>
                        </a:rPr>
                        <a:t>T01- T03</a:t>
                      </a:r>
                      <a:endParaRPr sz="1100" b="0" i="0" strike="noStrike">
                        <a:solidFill>
                          <a:srgbClr val="0A1F3D">
                            <a:alpha val="100000"/>
                          </a:srgbClr>
                        </a:solidFill>
                        <a:latin typeface="Inter, sans-serif"/>
                        <a:ea typeface="Inter, sans-serif"/>
                        <a:cs typeface="Inter, sans-serif"/>
                      </a:endParaRPr>
                    </a:p>
                  </a:txBody>
                  <a:tcPr marL="152400" marR="152400" marT="133350" marB="133350" vert="horz" anchor="ctr" anchorCtr="1">
                    <a:lnL w="12700">
                      <a:solidFill>
                        <a:srgbClr val="D1D5DB">
                          <a:alpha val="100000"/>
                        </a:srgbClr>
                      </a:solidFill>
                    </a:lnL>
                    <a:lnR w="12700">
                      <a:solidFill>
                        <a:srgbClr val="D1D5DB">
                          <a:alpha val="100000"/>
                        </a:srgbClr>
                      </a:solidFill>
                    </a:lnR>
                    <a:lnT w="12700">
                      <a:solidFill>
                        <a:srgbClr val="D1D5DB">
                          <a:alpha val="100000"/>
                        </a:srgbClr>
                      </a:solidFill>
                    </a:lnT>
                    <a:lnB w="12700">
                      <a:solidFill>
                        <a:srgbClr val="D1D5DB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 rot="0" wrap="square"/>
                    <a:p>
                      <a:pPr algn="l">
                        <a:defRPr sz="1100" b="1" i="0" strike="noStrike"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Source Han Sans&quot;, AlibabaPuHuiTi, sans-serif"/>
                          <a:ea typeface="&quot;Source Han Sans&quot;, AlibabaPuHuiTi, sans-serif"/>
                          <a:cs typeface="&quot;Source Han Sans&quot;, AlibabaPuHuiTi, sans-serif"/>
                        </a:defRPr>
                      </a:pPr>
                      <a:r>
                        <a:rPr sz="1100" b="1" i="0" strike="noStrike"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Source Han Sans&quot;, AlibabaPuHuiTi, sans-serif"/>
                          <a:ea typeface="&quot;Source Han Sans&quot;, AlibabaPuHuiTi, sans-serif"/>
                          <a:cs typeface="&quot;Source Han Sans&quot;, AlibabaPuHuiTi, sans-serif"/>
                        </a:rPr>
                        <a:t>用户认证</a:t>
                      </a:r>
                      <a:endParaRPr sz="1100" b="1" i="0" strike="noStrike">
                        <a:solidFill>
                          <a:srgbClr val="0A1F3D">
                            <a:alpha val="100000"/>
                          </a:srgbClr>
                        </a:solidFill>
                        <a:latin typeface="&quot;Source Han Sans&quot;, AlibabaPuHuiTi, sans-serif"/>
                        <a:ea typeface="&quot;Source Han Sans&quot;, AlibabaPuHuiTi, sans-serif"/>
                        <a:cs typeface="&quot;Source Han Sans&quot;, AlibabaPuHuiTi, sans-serif"/>
                      </a:endParaRPr>
                    </a:p>
                  </a:txBody>
                  <a:tcPr marL="152400" marR="152400" marT="133350" marB="133350" vert="horz" anchor="ctr" anchorCtr="0">
                    <a:lnL w="12700">
                      <a:solidFill>
                        <a:srgbClr val="D1D5DB">
                          <a:alpha val="100000"/>
                        </a:srgbClr>
                      </a:solidFill>
                    </a:lnL>
                    <a:lnR w="12700">
                      <a:solidFill>
                        <a:srgbClr val="D1D5DB">
                          <a:alpha val="100000"/>
                        </a:srgbClr>
                      </a:solidFill>
                    </a:lnR>
                    <a:lnT w="12700">
                      <a:solidFill>
                        <a:srgbClr val="D1D5DB">
                          <a:alpha val="100000"/>
                        </a:srgbClr>
                      </a:solidFill>
                    </a:lnT>
                    <a:lnB w="12700">
                      <a:solidFill>
                        <a:srgbClr val="D1D5DB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 rot="0" wrap="square"/>
                    <a:p>
                      <a:pPr algn="l">
                        <a:defRPr sz="1100" b="0" i="0" strike="noStrike"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Source Han Sans&quot;, AlibabaPuHuiTi, sans-serif"/>
                          <a:ea typeface="&quot;Source Han Sans&quot;, AlibabaPuHuiTi, sans-serif"/>
                          <a:cs typeface="&quot;Source Han Sans&quot;, AlibabaPuHuiTi, sans-serif"/>
                        </a:defRPr>
                      </a:pPr>
                      <a:r>
                        <a:rPr sz="1100" b="0" i="0" strike="noStrike"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Source Han Sans&quot;, AlibabaPuHuiTi, sans-serif"/>
                          <a:ea typeface="&quot;Source Han Sans&quot;, AlibabaPuHuiTi, sans-serif"/>
                          <a:cs typeface="&quot;Source Han Sans&quot;, AlibabaPuHuiTi, sans-serif"/>
                        </a:rPr>
                        <a:t>注册、登录、登录异常（错误密码）</a:t>
                      </a:r>
                      <a:endParaRPr sz="1100" b="0" i="0" strike="noStrike">
                        <a:solidFill>
                          <a:srgbClr val="0A1F3D">
                            <a:alpha val="100000"/>
                          </a:srgbClr>
                        </a:solidFill>
                        <a:latin typeface="&quot;Source Han Sans&quot;, AlibabaPuHuiTi, sans-serif"/>
                        <a:ea typeface="&quot;Source Han Sans&quot;, AlibabaPuHuiTi, sans-serif"/>
                        <a:cs typeface="&quot;Source Han Sans&quot;, AlibabaPuHuiTi, sans-serif"/>
                      </a:endParaRPr>
                    </a:p>
                  </a:txBody>
                  <a:tcPr marL="152400" marR="152400" marT="133350" marB="133350" vert="horz" anchor="ctr" anchorCtr="0">
                    <a:lnL w="12700">
                      <a:solidFill>
                        <a:srgbClr val="D1D5DB">
                          <a:alpha val="100000"/>
                        </a:srgbClr>
                      </a:solidFill>
                    </a:lnL>
                    <a:lnR w="12700">
                      <a:solidFill>
                        <a:srgbClr val="D1D5DB">
                          <a:alpha val="100000"/>
                        </a:srgbClr>
                      </a:solidFill>
                    </a:lnR>
                    <a:lnT w="12700">
                      <a:solidFill>
                        <a:srgbClr val="D1D5DB">
                          <a:alpha val="100000"/>
                        </a:srgbClr>
                      </a:solidFill>
                    </a:lnT>
                    <a:lnB w="12700">
                      <a:solidFill>
                        <a:srgbClr val="D1D5DB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 rot="0" wrap="square"/>
                    <a:p>
                      <a:pPr algn="ctr">
                        <a:defRPr sz="1100" b="1" i="0" strike="noStrike">
                          <a:solidFill>
                            <a:srgbClr val="5B8CB8">
                              <a:alpha val="100000"/>
                            </a:srgbClr>
                          </a:solidFill>
                          <a:latin typeface="&quot;Source Han Sans&quot;, AlibabaPuHuiTi, sans-serif"/>
                          <a:ea typeface="&quot;Source Han Sans&quot;, AlibabaPuHuiTi, sans-serif"/>
                          <a:cs typeface="&quot;Source Han Sans&quot;, AlibabaPuHuiTi, sans-serif"/>
                        </a:defRPr>
                      </a:pPr>
                      <a:r>
                        <a:rPr sz="1100" b="1" i="0" strike="noStrike">
                          <a:solidFill>
                            <a:srgbClr val="5B8CB8">
                              <a:alpha val="100000"/>
                            </a:srgbClr>
                          </a:solidFill>
                          <a:latin typeface="&quot;Source Han Sans&quot;, AlibabaPuHuiTi, sans-serif"/>
                          <a:ea typeface="&quot;Source Han Sans&quot;, AlibabaPuHuiTi, sans-serif"/>
                          <a:cs typeface="&quot;Source Han Sans&quot;, AlibabaPuHuiTi, sans-serif"/>
                        </a:rPr>
                        <a:t>全部通过</a:t>
                      </a:r>
                      <a:endParaRPr sz="1100" b="1" i="0" strike="noStrike">
                        <a:solidFill>
                          <a:srgbClr val="5B8CB8">
                            <a:alpha val="100000"/>
                          </a:srgbClr>
                        </a:solidFill>
                        <a:latin typeface="&quot;Source Han Sans&quot;, AlibabaPuHuiTi, sans-serif"/>
                        <a:ea typeface="&quot;Source Han Sans&quot;, AlibabaPuHuiTi, sans-serif"/>
                        <a:cs typeface="&quot;Source Han Sans&quot;, AlibabaPuHuiTi, sans-serif"/>
                      </a:endParaRPr>
                    </a:p>
                  </a:txBody>
                  <a:tcPr marL="152400" marR="152400" marT="133350" marB="133350" vert="horz" anchor="ctr" anchorCtr="1">
                    <a:lnL w="12700">
                      <a:solidFill>
                        <a:srgbClr val="D1D5DB">
                          <a:alpha val="100000"/>
                        </a:srgbClr>
                      </a:solidFill>
                    </a:lnL>
                    <a:lnR w="12700">
                      <a:solidFill>
                        <a:srgbClr val="D1D5DB">
                          <a:alpha val="100000"/>
                        </a:srgbClr>
                      </a:solidFill>
                    </a:lnR>
                    <a:lnT w="12700">
                      <a:solidFill>
                        <a:srgbClr val="D1D5DB">
                          <a:alpha val="100000"/>
                        </a:srgbClr>
                      </a:solidFill>
                    </a:lnT>
                    <a:lnB w="12700">
                      <a:solidFill>
                        <a:srgbClr val="D1D5DB">
                          <a:alpha val="100000"/>
                        </a:srgbClr>
                      </a:solidFill>
                    </a:lnB>
                  </a:tcPr>
                </a:tc>
              </a:tr>
              <a:tr h="673100">
                <a:tc>
                  <a:txBody>
                    <a:bodyPr rot="0" wrap="square"/>
                    <a:p>
                      <a:pPr algn="ctr">
                        <a:defRPr sz="1100" b="0" i="0" strike="noStrike">
                          <a:solidFill>
                            <a:srgbClr val="0A1F3D">
                              <a:alpha val="100000"/>
                            </a:srgbClr>
                          </a:solidFill>
                          <a:latin typeface="Inter, sans-serif"/>
                          <a:ea typeface="Inter, sans-serif"/>
                          <a:cs typeface="Inter, sans-serif"/>
                        </a:defRPr>
                      </a:pPr>
                      <a:r>
                        <a:rPr sz="1100" b="0" i="0" strike="noStrike">
                          <a:solidFill>
                            <a:srgbClr val="0A1F3D">
                              <a:alpha val="100000"/>
                            </a:srgbClr>
                          </a:solidFill>
                          <a:latin typeface="Inter, sans-serif"/>
                          <a:ea typeface="Inter, sans-serif"/>
                          <a:cs typeface="Inter, sans-serif"/>
                        </a:rPr>
                        <a:t>T04- T05</a:t>
                      </a:r>
                      <a:endParaRPr sz="1100" b="0" i="0" strike="noStrike">
                        <a:solidFill>
                          <a:srgbClr val="0A1F3D">
                            <a:alpha val="100000"/>
                          </a:srgbClr>
                        </a:solidFill>
                        <a:latin typeface="Inter, sans-serif"/>
                        <a:ea typeface="Inter, sans-serif"/>
                        <a:cs typeface="Inter, sans-serif"/>
                      </a:endParaRPr>
                    </a:p>
                  </a:txBody>
                  <a:tcPr marL="152400" marR="152400" marT="133350" marB="133350" vert="horz" anchor="ctr" anchorCtr="1">
                    <a:lnL w="12700">
                      <a:solidFill>
                        <a:srgbClr val="D1D5DB">
                          <a:alpha val="100000"/>
                        </a:srgbClr>
                      </a:solidFill>
                    </a:lnL>
                    <a:lnR w="12700">
                      <a:solidFill>
                        <a:srgbClr val="D1D5DB">
                          <a:alpha val="100000"/>
                        </a:srgbClr>
                      </a:solidFill>
                    </a:lnR>
                    <a:lnT w="12700">
                      <a:solidFill>
                        <a:srgbClr val="D1D5DB">
                          <a:alpha val="100000"/>
                        </a:srgbClr>
                      </a:solidFill>
                    </a:lnT>
                    <a:lnB w="12700">
                      <a:solidFill>
                        <a:srgbClr val="D1D5DB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 rot="0" wrap="square"/>
                    <a:p>
                      <a:pPr algn="l">
                        <a:defRPr sz="1100" b="1" i="0" strike="noStrike"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Source Han Sans&quot;, AlibabaPuHuiTi, sans-serif"/>
                          <a:ea typeface="&quot;Source Han Sans&quot;, AlibabaPuHuiTi, sans-serif"/>
                          <a:cs typeface="&quot;Source Han Sans&quot;, AlibabaPuHuiTi, sans-serif"/>
                        </a:defRPr>
                      </a:pPr>
                      <a:r>
                        <a:rPr sz="1100" b="1" i="0" strike="noStrike"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Source Han Sans&quot;, AlibabaPuHuiTi, sans-serif"/>
                          <a:ea typeface="&quot;Source Han Sans&quot;, AlibabaPuHuiTi, sans-serif"/>
                          <a:cs typeface="&quot;Source Han Sans&quot;, AlibabaPuHuiTi, sans-serif"/>
                        </a:rPr>
                        <a:t>权限控制</a:t>
                      </a:r>
                      <a:endParaRPr sz="1100" b="1" i="0" strike="noStrike">
                        <a:solidFill>
                          <a:srgbClr val="0A1F3D">
                            <a:alpha val="100000"/>
                          </a:srgbClr>
                        </a:solidFill>
                        <a:latin typeface="&quot;Source Han Sans&quot;, AlibabaPuHuiTi, sans-serif"/>
                        <a:ea typeface="&quot;Source Han Sans&quot;, AlibabaPuHuiTi, sans-serif"/>
                        <a:cs typeface="&quot;Source Han Sans&quot;, AlibabaPuHuiTi, sans-serif"/>
                      </a:endParaRPr>
                    </a:p>
                  </a:txBody>
                  <a:tcPr marL="152400" marR="152400" marT="133350" marB="133350" vert="horz" anchor="ctr" anchorCtr="0">
                    <a:lnL w="12700">
                      <a:solidFill>
                        <a:srgbClr val="D1D5DB">
                          <a:alpha val="100000"/>
                        </a:srgbClr>
                      </a:solidFill>
                    </a:lnL>
                    <a:lnR w="12700">
                      <a:solidFill>
                        <a:srgbClr val="D1D5DB">
                          <a:alpha val="100000"/>
                        </a:srgbClr>
                      </a:solidFill>
                    </a:lnR>
                    <a:lnT w="12700">
                      <a:solidFill>
                        <a:srgbClr val="D1D5DB">
                          <a:alpha val="100000"/>
                        </a:srgbClr>
                      </a:solidFill>
                    </a:lnT>
                    <a:lnB w="12700">
                      <a:solidFill>
                        <a:srgbClr val="D1D5DB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 rot="0" wrap="square"/>
                    <a:p>
                      <a:pPr algn="l">
                        <a:defRPr sz="1100" b="0" i="0" strike="noStrike"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Source Han Sans&quot;, AlibabaPuHuiTi, sans-serif"/>
                          <a:ea typeface="&quot;Source Han Sans&quot;, AlibabaPuHuiTi, sans-serif"/>
                          <a:cs typeface="&quot;Source Han Sans&quot;, AlibabaPuHuiTi, sans-serif"/>
                        </a:defRPr>
                      </a:pPr>
                      <a:r>
                        <a:rPr sz="1100" b="0" i="0" strike="noStrike"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Source Han Sans&quot;, AlibabaPuHuiTi, sans-serif"/>
                          <a:ea typeface="&quot;Source Han Sans&quot;, AlibabaPuHuiTi, sans-serif"/>
                          <a:cs typeface="&quot;Source Han Sans&quot;, AlibabaPuHuiTi, sans-serif"/>
                        </a:rPr>
                        <a:t>未登录访问保护页面、普通用户访问后台</a:t>
                      </a:r>
                      <a:endParaRPr sz="1100" b="0" i="0" strike="noStrike">
                        <a:solidFill>
                          <a:srgbClr val="0A1F3D">
                            <a:alpha val="100000"/>
                          </a:srgbClr>
                        </a:solidFill>
                        <a:latin typeface="&quot;Source Han Sans&quot;, AlibabaPuHuiTi, sans-serif"/>
                        <a:ea typeface="&quot;Source Han Sans&quot;, AlibabaPuHuiTi, sans-serif"/>
                        <a:cs typeface="&quot;Source Han Sans&quot;, AlibabaPuHuiTi, sans-serif"/>
                      </a:endParaRPr>
                    </a:p>
                  </a:txBody>
                  <a:tcPr marL="152400" marR="152400" marT="133350" marB="133350" vert="horz" anchor="ctr" anchorCtr="0">
                    <a:lnL w="12700">
                      <a:solidFill>
                        <a:srgbClr val="D1D5DB">
                          <a:alpha val="100000"/>
                        </a:srgbClr>
                      </a:solidFill>
                    </a:lnL>
                    <a:lnR w="12700">
                      <a:solidFill>
                        <a:srgbClr val="D1D5DB">
                          <a:alpha val="100000"/>
                        </a:srgbClr>
                      </a:solidFill>
                    </a:lnR>
                    <a:lnT w="12700">
                      <a:solidFill>
                        <a:srgbClr val="D1D5DB">
                          <a:alpha val="100000"/>
                        </a:srgbClr>
                      </a:solidFill>
                    </a:lnT>
                    <a:lnB w="12700">
                      <a:solidFill>
                        <a:srgbClr val="D1D5DB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 rot="0" wrap="square"/>
                    <a:p>
                      <a:pPr algn="ctr">
                        <a:defRPr sz="1100" b="1" i="0" strike="noStrike">
                          <a:solidFill>
                            <a:srgbClr val="5B8CB8">
                              <a:alpha val="100000"/>
                            </a:srgbClr>
                          </a:solidFill>
                          <a:latin typeface="&quot;Source Han Sans&quot;, AlibabaPuHuiTi, sans-serif"/>
                          <a:ea typeface="&quot;Source Han Sans&quot;, AlibabaPuHuiTi, sans-serif"/>
                          <a:cs typeface="&quot;Source Han Sans&quot;, AlibabaPuHuiTi, sans-serif"/>
                        </a:defRPr>
                      </a:pPr>
                      <a:r>
                        <a:rPr sz="1100" b="1" i="0" strike="noStrike">
                          <a:solidFill>
                            <a:srgbClr val="5B8CB8">
                              <a:alpha val="100000"/>
                            </a:srgbClr>
                          </a:solidFill>
                          <a:latin typeface="&quot;Source Han Sans&quot;, AlibabaPuHuiTi, sans-serif"/>
                          <a:ea typeface="&quot;Source Han Sans&quot;, AlibabaPuHuiTi, sans-serif"/>
                          <a:cs typeface="&quot;Source Han Sans&quot;, AlibabaPuHuiTi, sans-serif"/>
                        </a:rPr>
                        <a:t>全部通过</a:t>
                      </a:r>
                      <a:endParaRPr sz="1100" b="1" i="0" strike="noStrike">
                        <a:solidFill>
                          <a:srgbClr val="5B8CB8">
                            <a:alpha val="100000"/>
                          </a:srgbClr>
                        </a:solidFill>
                        <a:latin typeface="&quot;Source Han Sans&quot;, AlibabaPuHuiTi, sans-serif"/>
                        <a:ea typeface="&quot;Source Han Sans&quot;, AlibabaPuHuiTi, sans-serif"/>
                        <a:cs typeface="&quot;Source Han Sans&quot;, AlibabaPuHuiTi, sans-serif"/>
                      </a:endParaRPr>
                    </a:p>
                  </a:txBody>
                  <a:tcPr marL="152400" marR="152400" marT="133350" marB="133350" vert="horz" anchor="ctr" anchorCtr="1">
                    <a:lnL w="12700">
                      <a:solidFill>
                        <a:srgbClr val="D1D5DB">
                          <a:alpha val="100000"/>
                        </a:srgbClr>
                      </a:solidFill>
                    </a:lnL>
                    <a:lnR w="12700">
                      <a:solidFill>
                        <a:srgbClr val="D1D5DB">
                          <a:alpha val="100000"/>
                        </a:srgbClr>
                      </a:solidFill>
                    </a:lnR>
                    <a:lnT w="12700">
                      <a:solidFill>
                        <a:srgbClr val="D1D5DB">
                          <a:alpha val="100000"/>
                        </a:srgbClr>
                      </a:solidFill>
                    </a:lnT>
                    <a:lnB w="12700">
                      <a:solidFill>
                        <a:srgbClr val="D1D5DB">
                          <a:alpha val="100000"/>
                        </a:srgbClr>
                      </a:solidFill>
                    </a:lnB>
                  </a:tcPr>
                </a:tc>
              </a:tr>
              <a:tr h="673100">
                <a:tc>
                  <a:txBody>
                    <a:bodyPr rot="0" wrap="square"/>
                    <a:p>
                      <a:pPr algn="ctr">
                        <a:defRPr sz="1100" b="0" i="0" strike="noStrike">
                          <a:solidFill>
                            <a:srgbClr val="0A1F3D">
                              <a:alpha val="100000"/>
                            </a:srgbClr>
                          </a:solidFill>
                          <a:latin typeface="Inter, sans-serif"/>
                          <a:ea typeface="Inter, sans-serif"/>
                          <a:cs typeface="Inter, sans-serif"/>
                        </a:defRPr>
                      </a:pPr>
                      <a:r>
                        <a:rPr sz="1100" b="0" i="0" strike="noStrike">
                          <a:solidFill>
                            <a:srgbClr val="0A1F3D">
                              <a:alpha val="100000"/>
                            </a:srgbClr>
                          </a:solidFill>
                          <a:latin typeface="Inter, sans-serif"/>
                          <a:ea typeface="Inter, sans-serif"/>
                          <a:cs typeface="Inter, sans-serif"/>
                        </a:rPr>
                        <a:t>T06- T09</a:t>
                      </a:r>
                      <a:endParaRPr sz="1100" b="0" i="0" strike="noStrike">
                        <a:solidFill>
                          <a:srgbClr val="0A1F3D">
                            <a:alpha val="100000"/>
                          </a:srgbClr>
                        </a:solidFill>
                        <a:latin typeface="Inter, sans-serif"/>
                        <a:ea typeface="Inter, sans-serif"/>
                        <a:cs typeface="Inter, sans-serif"/>
                      </a:endParaRPr>
                    </a:p>
                  </a:txBody>
                  <a:tcPr marL="152400" marR="152400" marT="133350" marB="133350" vert="horz" anchor="ctr" anchorCtr="1">
                    <a:lnL w="12700">
                      <a:solidFill>
                        <a:srgbClr val="D1D5DB">
                          <a:alpha val="100000"/>
                        </a:srgbClr>
                      </a:solidFill>
                    </a:lnL>
                    <a:lnR w="12700">
                      <a:solidFill>
                        <a:srgbClr val="D1D5DB">
                          <a:alpha val="100000"/>
                        </a:srgbClr>
                      </a:solidFill>
                    </a:lnR>
                    <a:lnT w="12700">
                      <a:solidFill>
                        <a:srgbClr val="D1D5DB">
                          <a:alpha val="100000"/>
                        </a:srgbClr>
                      </a:solidFill>
                    </a:lnT>
                    <a:lnB w="12700">
                      <a:solidFill>
                        <a:srgbClr val="D1D5DB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 rot="0" wrap="square"/>
                    <a:p>
                      <a:pPr algn="l">
                        <a:defRPr sz="1100" b="1" i="0" strike="noStrike"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Source Han Sans&quot;, AlibabaPuHuiTi, sans-serif"/>
                          <a:ea typeface="&quot;Source Han Sans&quot;, AlibabaPuHuiTi, sans-serif"/>
                          <a:cs typeface="&quot;Source Han Sans&quot;, AlibabaPuHuiTi, sans-serif"/>
                        </a:defRPr>
                      </a:pPr>
                      <a:r>
                        <a:rPr sz="1100" b="1" i="0" strike="noStrike"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Source Han Sans&quot;, AlibabaPuHuiTi, sans-serif"/>
                          <a:ea typeface="&quot;Source Han Sans&quot;, AlibabaPuHuiTi, sans-serif"/>
                          <a:cs typeface="&quot;Source Han Sans&quot;, AlibabaPuHuiTi, sans-serif"/>
                        </a:rPr>
                        <a:t>图书功能</a:t>
                      </a:r>
                      <a:endParaRPr sz="1100" b="1" i="0" strike="noStrike">
                        <a:solidFill>
                          <a:srgbClr val="0A1F3D">
                            <a:alpha val="100000"/>
                          </a:srgbClr>
                        </a:solidFill>
                        <a:latin typeface="&quot;Source Han Sans&quot;, AlibabaPuHuiTi, sans-serif"/>
                        <a:ea typeface="&quot;Source Han Sans&quot;, AlibabaPuHuiTi, sans-serif"/>
                        <a:cs typeface="&quot;Source Han Sans&quot;, AlibabaPuHuiTi, sans-serif"/>
                      </a:endParaRPr>
                    </a:p>
                  </a:txBody>
                  <a:tcPr marL="152400" marR="152400" marT="133350" marB="133350" vert="horz" anchor="ctr" anchorCtr="0">
                    <a:lnL w="12700">
                      <a:solidFill>
                        <a:srgbClr val="D1D5DB">
                          <a:alpha val="100000"/>
                        </a:srgbClr>
                      </a:solidFill>
                    </a:lnL>
                    <a:lnR w="12700">
                      <a:solidFill>
                        <a:srgbClr val="D1D5DB">
                          <a:alpha val="100000"/>
                        </a:srgbClr>
                      </a:solidFill>
                    </a:lnR>
                    <a:lnT w="12700">
                      <a:solidFill>
                        <a:srgbClr val="D1D5DB">
                          <a:alpha val="100000"/>
                        </a:srgbClr>
                      </a:solidFill>
                    </a:lnT>
                    <a:lnB w="12700">
                      <a:solidFill>
                        <a:srgbClr val="D1D5DB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 rot="0" wrap="square"/>
                    <a:p>
                      <a:pPr algn="l">
                        <a:defRPr sz="1100" b="0" i="0" strike="noStrike"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Source Han Sans&quot;, AlibabaPuHuiTi, sans-serif"/>
                          <a:ea typeface="&quot;Source Han Sans&quot;, AlibabaPuHuiTi, sans-serif"/>
                          <a:cs typeface="&quot;Source Han Sans&quot;, AlibabaPuHuiTi, sans-serif"/>
                        </a:defRPr>
                      </a:pPr>
                      <a:r>
                        <a:rPr sz="1100" b="0" i="0" strike="noStrike"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Source Han Sans&quot;, AlibabaPuHuiTi, sans-serif"/>
                          <a:ea typeface="&quot;Source Han Sans&quot;, AlibabaPuHuiTi, sans-serif"/>
                          <a:cs typeface="&quot;Source Han Sans&quot;, AlibabaPuHuiTi, sans-serif"/>
                        </a:rPr>
                        <a:t>发布、详情、搜索、分类筛选</a:t>
                      </a:r>
                      <a:endParaRPr sz="1100" b="0" i="0" strike="noStrike">
                        <a:solidFill>
                          <a:srgbClr val="0A1F3D">
                            <a:alpha val="100000"/>
                          </a:srgbClr>
                        </a:solidFill>
                        <a:latin typeface="&quot;Source Han Sans&quot;, AlibabaPuHuiTi, sans-serif"/>
                        <a:ea typeface="&quot;Source Han Sans&quot;, AlibabaPuHuiTi, sans-serif"/>
                        <a:cs typeface="&quot;Source Han Sans&quot;, AlibabaPuHuiTi, sans-serif"/>
                      </a:endParaRPr>
                    </a:p>
                  </a:txBody>
                  <a:tcPr marL="152400" marR="152400" marT="133350" marB="133350" vert="horz" anchor="ctr" anchorCtr="0">
                    <a:lnL w="12700">
                      <a:solidFill>
                        <a:srgbClr val="D1D5DB">
                          <a:alpha val="100000"/>
                        </a:srgbClr>
                      </a:solidFill>
                    </a:lnL>
                    <a:lnR w="12700">
                      <a:solidFill>
                        <a:srgbClr val="D1D5DB">
                          <a:alpha val="100000"/>
                        </a:srgbClr>
                      </a:solidFill>
                    </a:lnR>
                    <a:lnT w="12700">
                      <a:solidFill>
                        <a:srgbClr val="D1D5DB">
                          <a:alpha val="100000"/>
                        </a:srgbClr>
                      </a:solidFill>
                    </a:lnT>
                    <a:lnB w="12700">
                      <a:solidFill>
                        <a:srgbClr val="D1D5DB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 rot="0" wrap="square"/>
                    <a:p>
                      <a:pPr algn="ctr">
                        <a:defRPr sz="1100" b="1" i="0" strike="noStrike">
                          <a:solidFill>
                            <a:srgbClr val="5B8CB8">
                              <a:alpha val="100000"/>
                            </a:srgbClr>
                          </a:solidFill>
                          <a:latin typeface="&quot;Source Han Sans&quot;, AlibabaPuHuiTi, sans-serif"/>
                          <a:ea typeface="&quot;Source Han Sans&quot;, AlibabaPuHuiTi, sans-serif"/>
                          <a:cs typeface="&quot;Source Han Sans&quot;, AlibabaPuHuiTi, sans-serif"/>
                        </a:defRPr>
                      </a:pPr>
                      <a:r>
                        <a:rPr sz="1100" b="1" i="0" strike="noStrike">
                          <a:solidFill>
                            <a:srgbClr val="5B8CB8">
                              <a:alpha val="100000"/>
                            </a:srgbClr>
                          </a:solidFill>
                          <a:latin typeface="&quot;Source Han Sans&quot;, AlibabaPuHuiTi, sans-serif"/>
                          <a:ea typeface="&quot;Source Han Sans&quot;, AlibabaPuHuiTi, sans-serif"/>
                          <a:cs typeface="&quot;Source Han Sans&quot;, AlibabaPuHuiTi, sans-serif"/>
                        </a:rPr>
                        <a:t>全部通过</a:t>
                      </a:r>
                      <a:endParaRPr sz="1100" b="1" i="0" strike="noStrike">
                        <a:solidFill>
                          <a:srgbClr val="5B8CB8">
                            <a:alpha val="100000"/>
                          </a:srgbClr>
                        </a:solidFill>
                        <a:latin typeface="&quot;Source Han Sans&quot;, AlibabaPuHuiTi, sans-serif"/>
                        <a:ea typeface="&quot;Source Han Sans&quot;, AlibabaPuHuiTi, sans-serif"/>
                        <a:cs typeface="&quot;Source Han Sans&quot;, AlibabaPuHuiTi, sans-serif"/>
                      </a:endParaRPr>
                    </a:p>
                  </a:txBody>
                  <a:tcPr marL="152400" marR="152400" marT="133350" marB="133350" vert="horz" anchor="ctr" anchorCtr="1">
                    <a:lnL w="12700">
                      <a:solidFill>
                        <a:srgbClr val="D1D5DB">
                          <a:alpha val="100000"/>
                        </a:srgbClr>
                      </a:solidFill>
                    </a:lnL>
                    <a:lnR w="12700">
                      <a:solidFill>
                        <a:srgbClr val="D1D5DB">
                          <a:alpha val="100000"/>
                        </a:srgbClr>
                      </a:solidFill>
                    </a:lnR>
                    <a:lnT w="12700">
                      <a:solidFill>
                        <a:srgbClr val="D1D5DB">
                          <a:alpha val="100000"/>
                        </a:srgbClr>
                      </a:solidFill>
                    </a:lnT>
                    <a:lnB w="12700">
                      <a:solidFill>
                        <a:srgbClr val="D1D5DB">
                          <a:alpha val="100000"/>
                        </a:srgbClr>
                      </a:solidFill>
                    </a:lnB>
                  </a:tcPr>
                </a:tc>
              </a:tr>
              <a:tr h="673100">
                <a:tc>
                  <a:txBody>
                    <a:bodyPr rot="0" wrap="square"/>
                    <a:p>
                      <a:pPr algn="ctr">
                        <a:defRPr sz="1100" b="0" i="0" strike="noStrike">
                          <a:solidFill>
                            <a:srgbClr val="0A1F3D">
                              <a:alpha val="100000"/>
                            </a:srgbClr>
                          </a:solidFill>
                          <a:latin typeface="Inter, sans-serif"/>
                          <a:ea typeface="Inter, sans-serif"/>
                          <a:cs typeface="Inter, sans-serif"/>
                        </a:defRPr>
                      </a:pPr>
                      <a:r>
                        <a:rPr sz="1100" b="0" i="0" strike="noStrike">
                          <a:solidFill>
                            <a:srgbClr val="0A1F3D">
                              <a:alpha val="100000"/>
                            </a:srgbClr>
                          </a:solidFill>
                          <a:latin typeface="Inter, sans-serif"/>
                          <a:ea typeface="Inter, sans-serif"/>
                          <a:cs typeface="Inter, sans-serif"/>
                        </a:rPr>
                        <a:t>T10- T11</a:t>
                      </a:r>
                      <a:endParaRPr sz="1100" b="0" i="0" strike="noStrike">
                        <a:solidFill>
                          <a:srgbClr val="0A1F3D">
                            <a:alpha val="100000"/>
                          </a:srgbClr>
                        </a:solidFill>
                        <a:latin typeface="Inter, sans-serif"/>
                        <a:ea typeface="Inter, sans-serif"/>
                        <a:cs typeface="Inter, sans-serif"/>
                      </a:endParaRPr>
                    </a:p>
                  </a:txBody>
                  <a:tcPr marL="152400" marR="152400" marT="133350" marB="133350" vert="horz" anchor="ctr" anchorCtr="1">
                    <a:lnL w="12700">
                      <a:solidFill>
                        <a:srgbClr val="D1D5DB">
                          <a:alpha val="100000"/>
                        </a:srgbClr>
                      </a:solidFill>
                    </a:lnL>
                    <a:lnR w="12700">
                      <a:solidFill>
                        <a:srgbClr val="D1D5DB">
                          <a:alpha val="100000"/>
                        </a:srgbClr>
                      </a:solidFill>
                    </a:lnR>
                    <a:lnT w="12700">
                      <a:solidFill>
                        <a:srgbClr val="D1D5DB">
                          <a:alpha val="100000"/>
                        </a:srgbClr>
                      </a:solidFill>
                    </a:lnT>
                    <a:lnB w="12700">
                      <a:solidFill>
                        <a:srgbClr val="D1D5DB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 rot="0" wrap="square"/>
                    <a:p>
                      <a:pPr algn="l">
                        <a:defRPr sz="1100" b="1" i="0" strike="noStrike"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Source Han Sans&quot;, AlibabaPuHuiTi, sans-serif"/>
                          <a:ea typeface="&quot;Source Han Sans&quot;, AlibabaPuHuiTi, sans-serif"/>
                          <a:cs typeface="&quot;Source Han Sans&quot;, AlibabaPuHuiTi, sans-serif"/>
                        </a:defRPr>
                      </a:pPr>
                      <a:r>
                        <a:rPr sz="1100" b="1" i="0" strike="noStrike"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Source Han Sans&quot;, AlibabaPuHuiTi, sans-serif"/>
                          <a:ea typeface="&quot;Source Han Sans&quot;, AlibabaPuHuiTi, sans-serif"/>
                          <a:cs typeface="&quot;Source Han Sans&quot;, AlibabaPuHuiTi, sans-serif"/>
                        </a:rPr>
                        <a:t>收藏购物车</a:t>
                      </a:r>
                      <a:endParaRPr sz="1100" b="1" i="0" strike="noStrike">
                        <a:solidFill>
                          <a:srgbClr val="0A1F3D">
                            <a:alpha val="100000"/>
                          </a:srgbClr>
                        </a:solidFill>
                        <a:latin typeface="&quot;Source Han Sans&quot;, AlibabaPuHuiTi, sans-serif"/>
                        <a:ea typeface="&quot;Source Han Sans&quot;, AlibabaPuHuiTi, sans-serif"/>
                        <a:cs typeface="&quot;Source Han Sans&quot;, AlibabaPuHuiTi, sans-serif"/>
                      </a:endParaRPr>
                    </a:p>
                  </a:txBody>
                  <a:tcPr marL="152400" marR="152400" marT="133350" marB="133350" vert="horz" anchor="ctr" anchorCtr="0">
                    <a:lnL w="12700">
                      <a:solidFill>
                        <a:srgbClr val="D1D5DB">
                          <a:alpha val="100000"/>
                        </a:srgbClr>
                      </a:solidFill>
                    </a:lnL>
                    <a:lnR w="12700">
                      <a:solidFill>
                        <a:srgbClr val="D1D5DB">
                          <a:alpha val="100000"/>
                        </a:srgbClr>
                      </a:solidFill>
                    </a:lnR>
                    <a:lnT w="12700">
                      <a:solidFill>
                        <a:srgbClr val="D1D5DB">
                          <a:alpha val="100000"/>
                        </a:srgbClr>
                      </a:solidFill>
                    </a:lnT>
                    <a:lnB w="12700">
                      <a:solidFill>
                        <a:srgbClr val="D1D5DB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 rot="0" wrap="square"/>
                    <a:p>
                      <a:pPr algn="l">
                        <a:defRPr sz="1100" b="0" i="0" strike="noStrike"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Source Han Sans&quot;, AlibabaPuHuiTi, sans-serif"/>
                          <a:ea typeface="&quot;Source Han Sans&quot;, AlibabaPuHuiTi, sans-serif"/>
                          <a:cs typeface="&quot;Source Han Sans&quot;, AlibabaPuHuiTi, sans-serif"/>
                        </a:defRPr>
                      </a:pPr>
                      <a:r>
                        <a:rPr sz="1100" b="0" i="0" strike="noStrike"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Source Han Sans&quot;, AlibabaPuHuiTi, sans-serif"/>
                          <a:ea typeface="&quot;Source Han Sans&quot;, AlibabaPuHuiTi, sans-serif"/>
                          <a:cs typeface="&quot;Source Han Sans&quot;, AlibabaPuHuiTi, sans-serif"/>
                        </a:rPr>
                        <a:t>收藏/取消、加入购物车、修改数量、删除</a:t>
                      </a:r>
                      <a:endParaRPr sz="1100" b="0" i="0" strike="noStrike">
                        <a:solidFill>
                          <a:srgbClr val="0A1F3D">
                            <a:alpha val="100000"/>
                          </a:srgbClr>
                        </a:solidFill>
                        <a:latin typeface="&quot;Source Han Sans&quot;, AlibabaPuHuiTi, sans-serif"/>
                        <a:ea typeface="&quot;Source Han Sans&quot;, AlibabaPuHuiTi, sans-serif"/>
                        <a:cs typeface="&quot;Source Han Sans&quot;, AlibabaPuHuiTi, sans-serif"/>
                      </a:endParaRPr>
                    </a:p>
                  </a:txBody>
                  <a:tcPr marL="152400" marR="152400" marT="133350" marB="133350" vert="horz" anchor="ctr" anchorCtr="0">
                    <a:lnL w="12700">
                      <a:solidFill>
                        <a:srgbClr val="D1D5DB">
                          <a:alpha val="100000"/>
                        </a:srgbClr>
                      </a:solidFill>
                    </a:lnL>
                    <a:lnR w="12700">
                      <a:solidFill>
                        <a:srgbClr val="D1D5DB">
                          <a:alpha val="100000"/>
                        </a:srgbClr>
                      </a:solidFill>
                    </a:lnR>
                    <a:lnT w="12700">
                      <a:solidFill>
                        <a:srgbClr val="D1D5DB">
                          <a:alpha val="100000"/>
                        </a:srgbClr>
                      </a:solidFill>
                    </a:lnT>
                    <a:lnB w="12700">
                      <a:solidFill>
                        <a:srgbClr val="D1D5DB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 rot="0" wrap="square"/>
                    <a:p>
                      <a:pPr algn="ctr">
                        <a:defRPr sz="1100" b="1" i="0" strike="noStrike">
                          <a:solidFill>
                            <a:srgbClr val="5B8CB8">
                              <a:alpha val="100000"/>
                            </a:srgbClr>
                          </a:solidFill>
                          <a:latin typeface="&quot;Source Han Sans&quot;, AlibabaPuHuiTi, sans-serif"/>
                          <a:ea typeface="&quot;Source Han Sans&quot;, AlibabaPuHuiTi, sans-serif"/>
                          <a:cs typeface="&quot;Source Han Sans&quot;, AlibabaPuHuiTi, sans-serif"/>
                        </a:defRPr>
                      </a:pPr>
                      <a:r>
                        <a:rPr sz="1100" b="1" i="0" strike="noStrike">
                          <a:solidFill>
                            <a:srgbClr val="5B8CB8">
                              <a:alpha val="100000"/>
                            </a:srgbClr>
                          </a:solidFill>
                          <a:latin typeface="&quot;Source Han Sans&quot;, AlibabaPuHuiTi, sans-serif"/>
                          <a:ea typeface="&quot;Source Han Sans&quot;, AlibabaPuHuiTi, sans-serif"/>
                          <a:cs typeface="&quot;Source Han Sans&quot;, AlibabaPuHuiTi, sans-serif"/>
                        </a:rPr>
                        <a:t>全部通过</a:t>
                      </a:r>
                      <a:endParaRPr sz="1100" b="1" i="0" strike="noStrike">
                        <a:solidFill>
                          <a:srgbClr val="5B8CB8">
                            <a:alpha val="100000"/>
                          </a:srgbClr>
                        </a:solidFill>
                        <a:latin typeface="&quot;Source Han Sans&quot;, AlibabaPuHuiTi, sans-serif"/>
                        <a:ea typeface="&quot;Source Han Sans&quot;, AlibabaPuHuiTi, sans-serif"/>
                        <a:cs typeface="&quot;Source Han Sans&quot;, AlibabaPuHuiTi, sans-serif"/>
                      </a:endParaRPr>
                    </a:p>
                  </a:txBody>
                  <a:tcPr marL="152400" marR="152400" marT="133350" marB="133350" vert="horz" anchor="ctr" anchorCtr="1">
                    <a:lnL w="12700">
                      <a:solidFill>
                        <a:srgbClr val="D1D5DB">
                          <a:alpha val="100000"/>
                        </a:srgbClr>
                      </a:solidFill>
                    </a:lnL>
                    <a:lnR w="12700">
                      <a:solidFill>
                        <a:srgbClr val="D1D5DB">
                          <a:alpha val="100000"/>
                        </a:srgbClr>
                      </a:solidFill>
                    </a:lnR>
                    <a:lnT w="12700">
                      <a:solidFill>
                        <a:srgbClr val="D1D5DB">
                          <a:alpha val="100000"/>
                        </a:srgbClr>
                      </a:solidFill>
                    </a:lnT>
                    <a:lnB w="12700">
                      <a:solidFill>
                        <a:srgbClr val="D1D5DB">
                          <a:alpha val="100000"/>
                        </a:srgbClr>
                      </a:solidFill>
                    </a:lnB>
                  </a:tcPr>
                </a:tc>
              </a:tr>
              <a:tr h="673100">
                <a:tc>
                  <a:txBody>
                    <a:bodyPr rot="0" wrap="square"/>
                    <a:p>
                      <a:pPr algn="ctr">
                        <a:defRPr sz="1100" b="0" i="0" strike="noStrike">
                          <a:solidFill>
                            <a:srgbClr val="0A1F3D">
                              <a:alpha val="100000"/>
                            </a:srgbClr>
                          </a:solidFill>
                          <a:latin typeface="Inter, sans-serif"/>
                          <a:ea typeface="Inter, sans-serif"/>
                          <a:cs typeface="Inter, sans-serif"/>
                        </a:defRPr>
                      </a:pPr>
                      <a:r>
                        <a:rPr sz="1100" b="0" i="0" strike="noStrike">
                          <a:solidFill>
                            <a:srgbClr val="0A1F3D">
                              <a:alpha val="100000"/>
                            </a:srgbClr>
                          </a:solidFill>
                          <a:latin typeface="Inter, sans-serif"/>
                          <a:ea typeface="Inter, sans-serif"/>
                          <a:cs typeface="Inter, sans-serif"/>
                        </a:rPr>
                        <a:t>T12- T17</a:t>
                      </a:r>
                      <a:endParaRPr sz="1100" b="0" i="0" strike="noStrike">
                        <a:solidFill>
                          <a:srgbClr val="0A1F3D">
                            <a:alpha val="100000"/>
                          </a:srgbClr>
                        </a:solidFill>
                        <a:latin typeface="Inter, sans-serif"/>
                        <a:ea typeface="Inter, sans-serif"/>
                        <a:cs typeface="Inter, sans-serif"/>
                      </a:endParaRPr>
                    </a:p>
                  </a:txBody>
                  <a:tcPr marL="152400" marR="152400" marT="133350" marB="133350" vert="horz" anchor="ctr" anchorCtr="1">
                    <a:lnL w="12700">
                      <a:solidFill>
                        <a:srgbClr val="D1D5DB">
                          <a:alpha val="100000"/>
                        </a:srgbClr>
                      </a:solidFill>
                    </a:lnL>
                    <a:lnR w="12700">
                      <a:solidFill>
                        <a:srgbClr val="D1D5DB">
                          <a:alpha val="100000"/>
                        </a:srgbClr>
                      </a:solidFill>
                    </a:lnR>
                    <a:lnT w="12700">
                      <a:solidFill>
                        <a:srgbClr val="D1D5DB">
                          <a:alpha val="100000"/>
                        </a:srgbClr>
                      </a:solidFill>
                    </a:lnT>
                    <a:lnB w="12700">
                      <a:solidFill>
                        <a:srgbClr val="D1D5DB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 rot="0" wrap="square"/>
                    <a:p>
                      <a:pPr algn="l">
                        <a:defRPr sz="1100" b="1" i="0" strike="noStrike"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Source Han Sans&quot;, AlibabaPuHuiTi, sans-serif"/>
                          <a:ea typeface="&quot;Source Han Sans&quot;, AlibabaPuHuiTi, sans-serif"/>
                          <a:cs typeface="&quot;Source Han Sans&quot;, AlibabaPuHuiTi, sans-serif"/>
                        </a:defRPr>
                      </a:pPr>
                      <a:r>
                        <a:rPr sz="1100" b="1" i="0" strike="noStrike"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Source Han Sans&quot;, AlibabaPuHuiTi, sans-serif"/>
                          <a:ea typeface="&quot;Source Han Sans&quot;, AlibabaPuHuiTi, sans-serif"/>
                          <a:cs typeface="&quot;Source Han Sans&quot;, AlibabaPuHuiTi, sans-serif"/>
                        </a:rPr>
                        <a:t>订单流程</a:t>
                      </a:r>
                      <a:endParaRPr sz="1100" b="1" i="0" strike="noStrike">
                        <a:solidFill>
                          <a:srgbClr val="0A1F3D">
                            <a:alpha val="100000"/>
                          </a:srgbClr>
                        </a:solidFill>
                        <a:latin typeface="&quot;Source Han Sans&quot;, AlibabaPuHuiTi, sans-serif"/>
                        <a:ea typeface="&quot;Source Han Sans&quot;, AlibabaPuHuiTi, sans-serif"/>
                        <a:cs typeface="&quot;Source Han Sans&quot;, AlibabaPuHuiTi, sans-serif"/>
                      </a:endParaRPr>
                    </a:p>
                  </a:txBody>
                  <a:tcPr marL="152400" marR="152400" marT="133350" marB="133350" vert="horz" anchor="ctr" anchorCtr="0">
                    <a:lnL w="12700">
                      <a:solidFill>
                        <a:srgbClr val="D1D5DB">
                          <a:alpha val="100000"/>
                        </a:srgbClr>
                      </a:solidFill>
                    </a:lnL>
                    <a:lnR w="12700">
                      <a:solidFill>
                        <a:srgbClr val="D1D5DB">
                          <a:alpha val="100000"/>
                        </a:srgbClr>
                      </a:solidFill>
                    </a:lnR>
                    <a:lnT w="12700">
                      <a:solidFill>
                        <a:srgbClr val="D1D5DB">
                          <a:alpha val="100000"/>
                        </a:srgbClr>
                      </a:solidFill>
                    </a:lnT>
                    <a:lnB w="12700">
                      <a:solidFill>
                        <a:srgbClr val="D1D5DB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 rot="0" wrap="square"/>
                    <a:p>
                      <a:pPr algn="l">
                        <a:defRPr sz="1100" b="0" i="0" strike="noStrike"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Source Han Sans&quot;, AlibabaPuHuiTi, sans-serif"/>
                          <a:ea typeface="&quot;Source Han Sans&quot;, AlibabaPuHuiTi, sans-serif"/>
                          <a:cs typeface="&quot;Source Han Sans&quot;, AlibabaPuHuiTi, sans-serif"/>
                        </a:defRPr>
                      </a:pPr>
                      <a:r>
                        <a:rPr sz="1100" b="0" i="0" strike="noStrike"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Source Han Sans&quot;, AlibabaPuHuiTi, sans-serif"/>
                          <a:ea typeface="&quot;Source Han Sans&quot;, AlibabaPuHuiTi, sans-serif"/>
                          <a:cs typeface="&quot;Source Han Sans&quot;, AlibabaPuHuiTi, sans-serif"/>
                        </a:rPr>
                        <a:t>创建、付款、发货、确认收货、取消、禁止自购</a:t>
                      </a:r>
                      <a:endParaRPr sz="1100" b="0" i="0" strike="noStrike">
                        <a:solidFill>
                          <a:srgbClr val="0A1F3D">
                            <a:alpha val="100000"/>
                          </a:srgbClr>
                        </a:solidFill>
                        <a:latin typeface="&quot;Source Han Sans&quot;, AlibabaPuHuiTi, sans-serif"/>
                        <a:ea typeface="&quot;Source Han Sans&quot;, AlibabaPuHuiTi, sans-serif"/>
                        <a:cs typeface="&quot;Source Han Sans&quot;, AlibabaPuHuiTi, sans-serif"/>
                      </a:endParaRPr>
                    </a:p>
                  </a:txBody>
                  <a:tcPr marL="152400" marR="152400" marT="133350" marB="133350" vert="horz" anchor="ctr" anchorCtr="0">
                    <a:lnL w="12700">
                      <a:solidFill>
                        <a:srgbClr val="D1D5DB">
                          <a:alpha val="100000"/>
                        </a:srgbClr>
                      </a:solidFill>
                    </a:lnL>
                    <a:lnR w="12700">
                      <a:solidFill>
                        <a:srgbClr val="D1D5DB">
                          <a:alpha val="100000"/>
                        </a:srgbClr>
                      </a:solidFill>
                    </a:lnR>
                    <a:lnT w="12700">
                      <a:solidFill>
                        <a:srgbClr val="D1D5DB">
                          <a:alpha val="100000"/>
                        </a:srgbClr>
                      </a:solidFill>
                    </a:lnT>
                    <a:lnB w="12700">
                      <a:solidFill>
                        <a:srgbClr val="D1D5DB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 rot="0" wrap="square"/>
                    <a:p>
                      <a:pPr algn="ctr">
                        <a:defRPr sz="1100" b="1" i="0" strike="noStrike">
                          <a:solidFill>
                            <a:srgbClr val="5B8CB8">
                              <a:alpha val="100000"/>
                            </a:srgbClr>
                          </a:solidFill>
                          <a:latin typeface="&quot;Source Han Sans&quot;, AlibabaPuHuiTi, sans-serif"/>
                          <a:ea typeface="&quot;Source Han Sans&quot;, AlibabaPuHuiTi, sans-serif"/>
                          <a:cs typeface="&quot;Source Han Sans&quot;, AlibabaPuHuiTi, sans-serif"/>
                        </a:defRPr>
                      </a:pPr>
                      <a:r>
                        <a:rPr sz="1100" b="1" i="0" strike="noStrike">
                          <a:solidFill>
                            <a:srgbClr val="5B8CB8">
                              <a:alpha val="100000"/>
                            </a:srgbClr>
                          </a:solidFill>
                          <a:latin typeface="&quot;Source Han Sans&quot;, AlibabaPuHuiTi, sans-serif"/>
                          <a:ea typeface="&quot;Source Han Sans&quot;, AlibabaPuHuiTi, sans-serif"/>
                          <a:cs typeface="&quot;Source Han Sans&quot;, AlibabaPuHuiTi, sans-serif"/>
                        </a:rPr>
                        <a:t>全部通过</a:t>
                      </a:r>
                      <a:endParaRPr sz="1100" b="1" i="0" strike="noStrike">
                        <a:solidFill>
                          <a:srgbClr val="5B8CB8">
                            <a:alpha val="100000"/>
                          </a:srgbClr>
                        </a:solidFill>
                        <a:latin typeface="&quot;Source Han Sans&quot;, AlibabaPuHuiTi, sans-serif"/>
                        <a:ea typeface="&quot;Source Han Sans&quot;, AlibabaPuHuiTi, sans-serif"/>
                        <a:cs typeface="&quot;Source Han Sans&quot;, AlibabaPuHuiTi, sans-serif"/>
                      </a:endParaRPr>
                    </a:p>
                  </a:txBody>
                  <a:tcPr marL="152400" marR="152400" marT="133350" marB="133350" vert="horz" anchor="ctr" anchorCtr="1">
                    <a:lnL w="12700">
                      <a:solidFill>
                        <a:srgbClr val="D1D5DB">
                          <a:alpha val="100000"/>
                        </a:srgbClr>
                      </a:solidFill>
                    </a:lnL>
                    <a:lnR w="12700">
                      <a:solidFill>
                        <a:srgbClr val="D1D5DB">
                          <a:alpha val="100000"/>
                        </a:srgbClr>
                      </a:solidFill>
                    </a:lnR>
                    <a:lnT w="12700">
                      <a:solidFill>
                        <a:srgbClr val="D1D5DB">
                          <a:alpha val="100000"/>
                        </a:srgbClr>
                      </a:solidFill>
                    </a:lnT>
                    <a:lnB w="12700">
                      <a:solidFill>
                        <a:srgbClr val="D1D5DB">
                          <a:alpha val="100000"/>
                        </a:srgbClr>
                      </a:solidFill>
                    </a:lnB>
                  </a:tcPr>
                </a:tc>
              </a:tr>
              <a:tr h="673100">
                <a:tc>
                  <a:txBody>
                    <a:bodyPr rot="0" wrap="square"/>
                    <a:p>
                      <a:pPr algn="ctr">
                        <a:defRPr sz="1100" b="0" i="0" strike="noStrike">
                          <a:solidFill>
                            <a:srgbClr val="0A1F3D">
                              <a:alpha val="100000"/>
                            </a:srgbClr>
                          </a:solidFill>
                          <a:latin typeface="Inter, sans-serif"/>
                          <a:ea typeface="Inter, sans-serif"/>
                          <a:cs typeface="Inter, sans-serif"/>
                        </a:defRPr>
                      </a:pPr>
                      <a:r>
                        <a:rPr sz="1100" b="0" i="0" strike="noStrike">
                          <a:solidFill>
                            <a:srgbClr val="0A1F3D">
                              <a:alpha val="100000"/>
                            </a:srgbClr>
                          </a:solidFill>
                          <a:latin typeface="Inter, sans-serif"/>
                          <a:ea typeface="Inter, sans-serif"/>
                          <a:cs typeface="Inter, sans-serif"/>
                        </a:rPr>
                        <a:t>T18- T20</a:t>
                      </a:r>
                      <a:endParaRPr sz="1100" b="0" i="0" strike="noStrike">
                        <a:solidFill>
                          <a:srgbClr val="0A1F3D">
                            <a:alpha val="100000"/>
                          </a:srgbClr>
                        </a:solidFill>
                        <a:latin typeface="Inter, sans-serif"/>
                        <a:ea typeface="Inter, sans-serif"/>
                        <a:cs typeface="Inter, sans-serif"/>
                      </a:endParaRPr>
                    </a:p>
                  </a:txBody>
                  <a:tcPr marL="152400" marR="152400" marT="133350" marB="133350" vert="horz" anchor="ctr" anchorCtr="1">
                    <a:lnL w="12700">
                      <a:solidFill>
                        <a:srgbClr val="D1D5DB">
                          <a:alpha val="100000"/>
                        </a:srgbClr>
                      </a:solidFill>
                    </a:lnL>
                    <a:lnR w="12700">
                      <a:solidFill>
                        <a:srgbClr val="D1D5DB">
                          <a:alpha val="100000"/>
                        </a:srgbClr>
                      </a:solidFill>
                    </a:lnR>
                    <a:lnT w="12700">
                      <a:solidFill>
                        <a:srgbClr val="D1D5DB">
                          <a:alpha val="100000"/>
                        </a:srgbClr>
                      </a:solidFill>
                    </a:lnT>
                    <a:lnB w="12700">
                      <a:solidFill>
                        <a:srgbClr val="D1D5DB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 rot="0" wrap="square"/>
                    <a:p>
                      <a:pPr algn="l">
                        <a:defRPr sz="1100" b="1" i="0" strike="noStrike"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Source Han Sans&quot;, AlibabaPuHuiTi, sans-serif"/>
                          <a:ea typeface="&quot;Source Han Sans&quot;, AlibabaPuHuiTi, sans-serif"/>
                          <a:cs typeface="&quot;Source Han Sans&quot;, AlibabaPuHuiTi, sans-serif"/>
                        </a:defRPr>
                      </a:pPr>
                      <a:r>
                        <a:rPr sz="1100" b="1" i="0" strike="noStrike"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Source Han Sans&quot;, AlibabaPuHuiTi, sans-serif"/>
                          <a:ea typeface="&quot;Source Han Sans&quot;, AlibabaPuHuiTi, sans-serif"/>
                          <a:cs typeface="&quot;Source Han Sans&quot;, AlibabaPuHuiTi, sans-serif"/>
                        </a:rPr>
                        <a:t>后台管理</a:t>
                      </a:r>
                      <a:endParaRPr sz="1100" b="1" i="0" strike="noStrike">
                        <a:solidFill>
                          <a:srgbClr val="0A1F3D">
                            <a:alpha val="100000"/>
                          </a:srgbClr>
                        </a:solidFill>
                        <a:latin typeface="&quot;Source Han Sans&quot;, AlibabaPuHuiTi, sans-serif"/>
                        <a:ea typeface="&quot;Source Han Sans&quot;, AlibabaPuHuiTi, sans-serif"/>
                        <a:cs typeface="&quot;Source Han Sans&quot;, AlibabaPuHuiTi, sans-serif"/>
                      </a:endParaRPr>
                    </a:p>
                  </a:txBody>
                  <a:tcPr marL="152400" marR="152400" marT="133350" marB="133350" vert="horz" anchor="ctr" anchorCtr="0">
                    <a:lnL w="12700">
                      <a:solidFill>
                        <a:srgbClr val="D1D5DB">
                          <a:alpha val="100000"/>
                        </a:srgbClr>
                      </a:solidFill>
                    </a:lnL>
                    <a:lnR w="12700">
                      <a:solidFill>
                        <a:srgbClr val="D1D5DB">
                          <a:alpha val="100000"/>
                        </a:srgbClr>
                      </a:solidFill>
                    </a:lnR>
                    <a:lnT w="12700">
                      <a:solidFill>
                        <a:srgbClr val="D1D5DB">
                          <a:alpha val="100000"/>
                        </a:srgbClr>
                      </a:solidFill>
                    </a:lnT>
                    <a:lnB w="12700">
                      <a:solidFill>
                        <a:srgbClr val="D1D5DB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 rot="0" wrap="square"/>
                    <a:p>
                      <a:pPr algn="l">
                        <a:defRPr sz="1100" b="0" i="0" strike="noStrike"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Source Han Sans&quot;, AlibabaPuHuiTi, sans-serif"/>
                          <a:ea typeface="&quot;Source Han Sans&quot;, AlibabaPuHuiTi, sans-serif"/>
                          <a:cs typeface="&quot;Source Han Sans&quot;, AlibabaPuHuiTi, sans-serif"/>
                        </a:defRPr>
                      </a:pPr>
                      <a:r>
                        <a:rPr sz="1100" b="0" i="0" strike="noStrike"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Source Han Sans&quot;, AlibabaPuHuiTi, sans-serif"/>
                          <a:ea typeface="&quot;Source Han Sans&quot;, AlibabaPuHuiTi, sans-serif"/>
                          <a:cs typeface="&quot;Source Han Sans&quot;, AlibabaPuHuiTi, sans-serif"/>
                        </a:rPr>
                        <a:t>用户管理、分类管理、公告管理</a:t>
                      </a:r>
                      <a:endParaRPr sz="1100" b="0" i="0" strike="noStrike">
                        <a:solidFill>
                          <a:srgbClr val="0A1F3D">
                            <a:alpha val="100000"/>
                          </a:srgbClr>
                        </a:solidFill>
                        <a:latin typeface="&quot;Source Han Sans&quot;, AlibabaPuHuiTi, sans-serif"/>
                        <a:ea typeface="&quot;Source Han Sans&quot;, AlibabaPuHuiTi, sans-serif"/>
                        <a:cs typeface="&quot;Source Han Sans&quot;, AlibabaPuHuiTi, sans-serif"/>
                      </a:endParaRPr>
                    </a:p>
                  </a:txBody>
                  <a:tcPr marL="152400" marR="152400" marT="133350" marB="133350" vert="horz" anchor="ctr" anchorCtr="0">
                    <a:lnL w="12700">
                      <a:solidFill>
                        <a:srgbClr val="D1D5DB">
                          <a:alpha val="100000"/>
                        </a:srgbClr>
                      </a:solidFill>
                    </a:lnL>
                    <a:lnR w="12700">
                      <a:solidFill>
                        <a:srgbClr val="D1D5DB">
                          <a:alpha val="100000"/>
                        </a:srgbClr>
                      </a:solidFill>
                    </a:lnR>
                    <a:lnT w="12700">
                      <a:solidFill>
                        <a:srgbClr val="D1D5DB">
                          <a:alpha val="100000"/>
                        </a:srgbClr>
                      </a:solidFill>
                    </a:lnT>
                    <a:lnB w="12700">
                      <a:solidFill>
                        <a:srgbClr val="D1D5DB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 rot="0" wrap="square"/>
                    <a:p>
                      <a:pPr algn="ctr">
                        <a:defRPr sz="1100" b="1" i="0" strike="noStrike">
                          <a:solidFill>
                            <a:srgbClr val="5B8CB8">
                              <a:alpha val="100000"/>
                            </a:srgbClr>
                          </a:solidFill>
                          <a:latin typeface="&quot;Source Han Sans&quot;, AlibabaPuHuiTi, sans-serif"/>
                          <a:ea typeface="&quot;Source Han Sans&quot;, AlibabaPuHuiTi, sans-serif"/>
                          <a:cs typeface="&quot;Source Han Sans&quot;, AlibabaPuHuiTi, sans-serif"/>
                        </a:defRPr>
                      </a:pPr>
                      <a:r>
                        <a:rPr sz="1100" b="1" i="0" strike="noStrike">
                          <a:solidFill>
                            <a:srgbClr val="5B8CB8">
                              <a:alpha val="100000"/>
                            </a:srgbClr>
                          </a:solidFill>
                          <a:latin typeface="&quot;Source Han Sans&quot;, AlibabaPuHuiTi, sans-serif"/>
                          <a:ea typeface="&quot;Source Han Sans&quot;, AlibabaPuHuiTi, sans-serif"/>
                          <a:cs typeface="&quot;Source Han Sans&quot;, AlibabaPuHuiTi, sans-serif"/>
                        </a:rPr>
                        <a:t>全部通过</a:t>
                      </a:r>
                      <a:endParaRPr sz="1100" b="1" i="0" strike="noStrike">
                        <a:solidFill>
                          <a:srgbClr val="5B8CB8">
                            <a:alpha val="100000"/>
                          </a:srgbClr>
                        </a:solidFill>
                        <a:latin typeface="&quot;Source Han Sans&quot;, AlibabaPuHuiTi, sans-serif"/>
                        <a:ea typeface="&quot;Source Han Sans&quot;, AlibabaPuHuiTi, sans-serif"/>
                        <a:cs typeface="&quot;Source Han Sans&quot;, AlibabaPuHuiTi, sans-serif"/>
                      </a:endParaRPr>
                    </a:p>
                  </a:txBody>
                  <a:tcPr marL="152400" marR="152400" marT="133350" marB="133350" vert="horz" anchor="ctr" anchorCtr="1">
                    <a:lnL w="12700">
                      <a:solidFill>
                        <a:srgbClr val="D1D5DB">
                          <a:alpha val="100000"/>
                        </a:srgbClr>
                      </a:solidFill>
                    </a:lnL>
                    <a:lnR w="12700">
                      <a:solidFill>
                        <a:srgbClr val="D1D5DB">
                          <a:alpha val="100000"/>
                        </a:srgbClr>
                      </a:solidFill>
                    </a:lnR>
                    <a:lnT w="12700">
                      <a:solidFill>
                        <a:srgbClr val="D1D5DB">
                          <a:alpha val="100000"/>
                        </a:srgbClr>
                      </a:solidFill>
                    </a:lnT>
                    <a:lnB w="12700">
                      <a:solidFill>
                        <a:srgbClr val="D1D5DB">
                          <a:alpha val="100000"/>
                        </a:srgbClr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333333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3" name="AutoShap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3F5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4" name="TextBox 4"/>
          <p:cNvSpPr txBox="1"/>
          <p:nvPr/>
        </p:nvSpPr>
        <p:spPr>
          <a:xfrm>
            <a:off x="457086" y="476250"/>
            <a:ext cx="11274781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solidFill>
                  <a:srgbClr val="0A1F3D">
                    <a:alpha val="60000"/>
                  </a:srgbClr>
                </a:solidFill>
                <a:latin typeface="Inter"/>
                <a:ea typeface="Inter"/>
                <a:cs typeface="Inter"/>
              </a:rPr>
              <a:t>PROJECT REVIEW</a:t>
            </a:r>
            <a:endParaRPr lang="en-US" sz="1100"/>
          </a:p>
        </p:txBody>
      </p:sp>
      <p:sp>
        <p:nvSpPr>
          <p:cNvPr id="5" name="TextBox 5"/>
          <p:cNvSpPr txBox="1"/>
          <p:nvPr/>
        </p:nvSpPr>
        <p:spPr>
          <a:xfrm>
            <a:off x="457086" y="752475"/>
            <a:ext cx="11274781" cy="4286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3000" b="1" i="0" strike="noStrike">
                <a:solidFill>
                  <a:srgbClr val="0A1F3D">
                    <a:alpha val="100000"/>
                  </a:srgbClr>
                </a:solidFill>
                <a:latin typeface="Source Han Serif CN"/>
                <a:ea typeface="Source Han Serif CN"/>
                <a:cs typeface="Source Han Serif CN"/>
              </a:rPr>
              <a:t>问题与改进方向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457086" y="1504950"/>
            <a:ext cx="5485028" cy="4257675"/>
          </a:xfrm>
          <a:prstGeom prst="rect">
            <a:avLst/>
          </a:prstGeom>
          <a:blipFill rotWithShape="1">
            <a:blip r:embed="rId1">
              <a:alphaModFix amt="100000"/>
              <a:alphaModFix amt="100000"/>
            </a:blip>
            <a:stretch>
              <a:fillRect/>
            </a:stretch>
          </a:blipFill>
          <a:ln>
            <a:headEnd type="none"/>
            <a:tailEnd type="none"/>
          </a:ln>
        </p:spPr>
      </p:sp>
      <p:sp>
        <p:nvSpPr>
          <p:cNvPr id="7" name="AutoShape 7"/>
          <p:cNvSpPr/>
          <p:nvPr/>
        </p:nvSpPr>
        <p:spPr>
          <a:xfrm>
            <a:off x="774531" y="1866900"/>
            <a:ext cx="228543" cy="228600"/>
          </a:xfrm>
          <a:custGeom>
            <a:avLst/>
            <a:gdLst/>
            <a:ahLst/>
            <a:cxnLst/>
            <a:rect l="l" t="t" r="r" b="b"/>
            <a:pathLst>
              <a:path w="9998" h="10000">
                <a:moveTo>
                  <a:pt x="1000" y="5000"/>
                </a:moveTo>
                <a:cubicBezTo>
                  <a:pt x="1000" y="4273"/>
                  <a:pt x="1183" y="3600"/>
                  <a:pt x="1550" y="2980"/>
                </a:cubicBezTo>
                <a:cubicBezTo>
                  <a:pt x="1903" y="2380"/>
                  <a:pt x="2379" y="1903"/>
                  <a:pt x="2979" y="1550"/>
                </a:cubicBezTo>
                <a:cubicBezTo>
                  <a:pt x="3599" y="1183"/>
                  <a:pt x="4272" y="1000"/>
                  <a:pt x="4999" y="1000"/>
                </a:cubicBezTo>
                <a:cubicBezTo>
                  <a:pt x="5725" y="1000"/>
                  <a:pt x="6399" y="1183"/>
                  <a:pt x="7019" y="1550"/>
                </a:cubicBezTo>
                <a:cubicBezTo>
                  <a:pt x="7618" y="1903"/>
                  <a:pt x="8094" y="2380"/>
                  <a:pt x="8448" y="2980"/>
                </a:cubicBezTo>
                <a:cubicBezTo>
                  <a:pt x="8814" y="3600"/>
                  <a:pt x="8998" y="4273"/>
                  <a:pt x="8998" y="5000"/>
                </a:cubicBezTo>
                <a:cubicBezTo>
                  <a:pt x="8998" y="5726"/>
                  <a:pt x="8814" y="6400"/>
                  <a:pt x="8448" y="7020"/>
                </a:cubicBezTo>
                <a:cubicBezTo>
                  <a:pt x="8094" y="7620"/>
                  <a:pt x="7618" y="8096"/>
                  <a:pt x="7019" y="8450"/>
                </a:cubicBezTo>
                <a:cubicBezTo>
                  <a:pt x="6399" y="8816"/>
                  <a:pt x="5725" y="9000"/>
                  <a:pt x="4999" y="9000"/>
                </a:cubicBezTo>
                <a:cubicBezTo>
                  <a:pt x="4272" y="9000"/>
                  <a:pt x="3599" y="8816"/>
                  <a:pt x="2979" y="8450"/>
                </a:cubicBezTo>
                <a:cubicBezTo>
                  <a:pt x="2379" y="8096"/>
                  <a:pt x="1903" y="7620"/>
                  <a:pt x="1550" y="7020"/>
                </a:cubicBezTo>
                <a:cubicBezTo>
                  <a:pt x="1183" y="6400"/>
                  <a:pt x="1000" y="5726"/>
                  <a:pt x="1000" y="5000"/>
                </a:cubicBezTo>
                <a:moveTo>
                  <a:pt x="4999" y="0"/>
                </a:moveTo>
                <a:cubicBezTo>
                  <a:pt x="4319" y="0"/>
                  <a:pt x="3669" y="130"/>
                  <a:pt x="3049" y="390"/>
                </a:cubicBezTo>
                <a:cubicBezTo>
                  <a:pt x="2456" y="643"/>
                  <a:pt x="1928" y="1001"/>
                  <a:pt x="1465" y="1465"/>
                </a:cubicBezTo>
                <a:cubicBezTo>
                  <a:pt x="1001" y="1928"/>
                  <a:pt x="643" y="2456"/>
                  <a:pt x="390" y="3050"/>
                </a:cubicBezTo>
                <a:cubicBezTo>
                  <a:pt x="130" y="3670"/>
                  <a:pt x="0" y="4320"/>
                  <a:pt x="0" y="5000"/>
                </a:cubicBezTo>
                <a:cubicBezTo>
                  <a:pt x="0" y="5680"/>
                  <a:pt x="130" y="6330"/>
                  <a:pt x="390" y="6950"/>
                </a:cubicBezTo>
                <a:cubicBezTo>
                  <a:pt x="643" y="7543"/>
                  <a:pt x="1001" y="8071"/>
                  <a:pt x="1465" y="8535"/>
                </a:cubicBezTo>
                <a:cubicBezTo>
                  <a:pt x="1928" y="8998"/>
                  <a:pt x="2456" y="9356"/>
                  <a:pt x="3049" y="9610"/>
                </a:cubicBezTo>
                <a:cubicBezTo>
                  <a:pt x="3669" y="9870"/>
                  <a:pt x="4319" y="10000"/>
                  <a:pt x="4999" y="10000"/>
                </a:cubicBezTo>
                <a:cubicBezTo>
                  <a:pt x="5679" y="10000"/>
                  <a:pt x="6329" y="9870"/>
                  <a:pt x="6949" y="9610"/>
                </a:cubicBezTo>
                <a:cubicBezTo>
                  <a:pt x="7541" y="9356"/>
                  <a:pt x="8069" y="8998"/>
                  <a:pt x="8533" y="8535"/>
                </a:cubicBezTo>
                <a:cubicBezTo>
                  <a:pt x="8996" y="8071"/>
                  <a:pt x="9354" y="7543"/>
                  <a:pt x="9608" y="6950"/>
                </a:cubicBezTo>
                <a:cubicBezTo>
                  <a:pt x="9868" y="6330"/>
                  <a:pt x="9998" y="5680"/>
                  <a:pt x="9998" y="5000"/>
                </a:cubicBezTo>
                <a:cubicBezTo>
                  <a:pt x="9998" y="4320"/>
                  <a:pt x="9868" y="3670"/>
                  <a:pt x="9608" y="3050"/>
                </a:cubicBezTo>
                <a:cubicBezTo>
                  <a:pt x="9354" y="2456"/>
                  <a:pt x="8996" y="1928"/>
                  <a:pt x="8533" y="1465"/>
                </a:cubicBezTo>
                <a:cubicBezTo>
                  <a:pt x="8069" y="1001"/>
                  <a:pt x="7541" y="643"/>
                  <a:pt x="6949" y="390"/>
                </a:cubicBezTo>
                <a:cubicBezTo>
                  <a:pt x="6329" y="130"/>
                  <a:pt x="5679" y="0"/>
                  <a:pt x="4999" y="0"/>
                </a:cubicBezTo>
                <a:moveTo>
                  <a:pt x="4499" y="6960"/>
                </a:moveTo>
                <a:lnTo>
                  <a:pt x="7728" y="3730"/>
                </a:lnTo>
                <a:lnTo>
                  <a:pt x="7019" y="3020"/>
                </a:lnTo>
                <a:lnTo>
                  <a:pt x="4499" y="5540"/>
                </a:lnTo>
                <a:lnTo>
                  <a:pt x="3099" y="4150"/>
                </a:lnTo>
                <a:lnTo>
                  <a:pt x="2400" y="4850"/>
                </a:lnTo>
              </a:path>
            </a:pathLst>
          </a:custGeom>
          <a:solidFill>
            <a:srgbClr val="5B8CB8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8" name="TextBox 8"/>
          <p:cNvSpPr txBox="1"/>
          <p:nvPr/>
        </p:nvSpPr>
        <p:spPr>
          <a:xfrm>
            <a:off x="1091976" y="1857375"/>
            <a:ext cx="1199850" cy="2476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800" b="1" i="0" strike="noStrike">
                <a:solidFill>
                  <a:srgbClr val="0A1F3D">
                    <a:alpha val="100000"/>
                  </a:srgbClr>
                </a:solidFill>
                <a:latin typeface="Source Han Serif CN"/>
                <a:ea typeface="Source Han Serif CN"/>
                <a:cs typeface="Source Han Serif CN"/>
              </a:rPr>
              <a:t>已解决问题</a:t>
            </a:r>
            <a:endParaRPr lang="en-US" sz="1100"/>
          </a:p>
        </p:txBody>
      </p:sp>
      <p:sp>
        <p:nvSpPr>
          <p:cNvPr id="9" name="TextBox 9"/>
          <p:cNvSpPr txBox="1"/>
          <p:nvPr/>
        </p:nvSpPr>
        <p:spPr>
          <a:xfrm>
            <a:off x="799899" y="2438400"/>
            <a:ext cx="155785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solidFill>
                  <a:srgbClr val="0A1F3D">
                    <a:alpha val="50196"/>
                  </a:srgbClr>
                </a:solidFill>
                <a:latin typeface="Inter"/>
                <a:ea typeface="Inter"/>
                <a:cs typeface="Inter"/>
              </a:rPr>
              <a:t>01</a:t>
            </a:r>
            <a:endParaRPr lang="en-US" sz="1100"/>
          </a:p>
        </p:txBody>
      </p:sp>
      <p:sp>
        <p:nvSpPr>
          <p:cNvPr id="10" name="TextBox 10"/>
          <p:cNvSpPr txBox="1"/>
          <p:nvPr/>
        </p:nvSpPr>
        <p:spPr>
          <a:xfrm>
            <a:off x="1041387" y="2409825"/>
            <a:ext cx="4608948" cy="3905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100" b="1" i="0" strike="noStrike">
                <a:solidFill>
                  <a:srgbClr val="0A1F3D">
                    <a:alpha val="90196"/>
                  </a:srgbClr>
                </a:solidFill>
                <a:latin typeface="Source Han Sans"/>
                <a:ea typeface="Source Han Sans"/>
                <a:cs typeface="Source Han Sans"/>
              </a:rPr>
              <a:t>详情页跳转异常：</a:t>
            </a:r>
            <a:r>
              <a:rPr sz="1100" b="0" i="0" strike="noStrike">
                <a:solidFill>
                  <a:srgbClr val="0A1F3D">
                    <a:alpha val="90196"/>
                  </a:srgbClr>
                </a:solidFill>
                <a:latin typeface="Source Han Sans"/>
                <a:ea typeface="Source Han Sans"/>
                <a:cs typeface="Source Han Sans"/>
              </a:rPr>
              <a:t>前后端路由和接口数据处理不一致，已修复详情页跳转</a:t>
            </a:r>
            <a:endParaRPr lang="en-US" sz="1100"/>
          </a:p>
          <a:p>
            <a:pPr algn="l"/>
            <a:r>
              <a:rPr sz="1100" b="0" i="0" strike="noStrike">
                <a:solidFill>
                  <a:srgbClr val="0A1F3D">
                    <a:alpha val="90196"/>
                  </a:srgbClr>
                </a:solidFill>
                <a:latin typeface="Source Han Sans"/>
                <a:ea typeface="Source Han Sans"/>
                <a:cs typeface="Source Han Sans"/>
              </a:rPr>
              <a:t>和接口返回处理逻辑。</a:t>
            </a:r>
            <a:endParaRPr sz="1100" b="0" i="0" strike="noStrike">
              <a:solidFill>
                <a:srgbClr val="0A1F3D">
                  <a:alpha val="90196"/>
                </a:srgbClr>
              </a:solidFill>
              <a:latin typeface="Source Han Sans"/>
              <a:ea typeface="Source Han Sans"/>
              <a:cs typeface="Source Han Sans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799899" y="3048000"/>
            <a:ext cx="155785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solidFill>
                  <a:srgbClr val="0A1F3D">
                    <a:alpha val="50196"/>
                  </a:srgbClr>
                </a:solidFill>
                <a:latin typeface="Inter"/>
                <a:ea typeface="Inter"/>
                <a:cs typeface="Inter"/>
              </a:rPr>
              <a:t>02</a:t>
            </a:r>
            <a:endParaRPr lang="en-US" sz="1100"/>
          </a:p>
        </p:txBody>
      </p:sp>
      <p:sp>
        <p:nvSpPr>
          <p:cNvPr id="12" name="TextBox 12"/>
          <p:cNvSpPr txBox="1"/>
          <p:nvPr/>
        </p:nvSpPr>
        <p:spPr>
          <a:xfrm>
            <a:off x="1041387" y="3019425"/>
            <a:ext cx="4596003" cy="3905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100" b="1" i="0" strike="noStrike">
                <a:solidFill>
                  <a:srgbClr val="0A1F3D">
                    <a:alpha val="90196"/>
                  </a:srgbClr>
                </a:solidFill>
                <a:latin typeface="Source Han Sans"/>
                <a:ea typeface="Source Han Sans"/>
                <a:cs typeface="Source Han Sans"/>
              </a:rPr>
              <a:t>购物车信息缺失：</a:t>
            </a:r>
            <a:r>
              <a:rPr sz="1100" b="0" i="0" strike="noStrike">
                <a:solidFill>
                  <a:srgbClr val="0A1F3D">
                    <a:alpha val="90196"/>
                  </a:srgbClr>
                </a:solidFill>
                <a:latin typeface="Source Han Sans"/>
                <a:ea typeface="Source Han Sans"/>
                <a:cs typeface="Source Han Sans"/>
              </a:rPr>
              <a:t>CartMapper 原 SQL 未关联 book 表，修改为 LEFT</a:t>
            </a:r>
            <a:endParaRPr lang="en-US" sz="1100"/>
          </a:p>
          <a:p>
            <a:pPr algn="l"/>
            <a:r>
              <a:rPr sz="1100" b="0" i="0" strike="noStrike">
                <a:solidFill>
                  <a:srgbClr val="0A1F3D">
                    <a:alpha val="90196"/>
                  </a:srgbClr>
                </a:solidFill>
                <a:latin typeface="Source Han Sans"/>
                <a:ea typeface="Source Han Sans"/>
                <a:cs typeface="Source Han Sans"/>
              </a:rPr>
              <a:t>JOIN 并新增 bookName、cover、price 字段。</a:t>
            </a:r>
            <a:endParaRPr sz="1100" b="0" i="0" strike="noStrike">
              <a:solidFill>
                <a:srgbClr val="0A1F3D">
                  <a:alpha val="90196"/>
                </a:srgbClr>
              </a:solidFill>
              <a:latin typeface="Source Han Sans"/>
              <a:ea typeface="Source Han Sans"/>
              <a:cs typeface="Source Han Sans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799899" y="3657600"/>
            <a:ext cx="155785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solidFill>
                  <a:srgbClr val="0A1F3D">
                    <a:alpha val="50196"/>
                  </a:srgbClr>
                </a:solidFill>
                <a:latin typeface="Inter"/>
                <a:ea typeface="Inter"/>
                <a:cs typeface="Inter"/>
              </a:rPr>
              <a:t>03</a:t>
            </a:r>
            <a:endParaRPr lang="en-US" sz="1100"/>
          </a:p>
        </p:txBody>
      </p:sp>
      <p:sp>
        <p:nvSpPr>
          <p:cNvPr id="14" name="TextBox 14"/>
          <p:cNvSpPr txBox="1"/>
          <p:nvPr/>
        </p:nvSpPr>
        <p:spPr>
          <a:xfrm>
            <a:off x="1041387" y="3629025"/>
            <a:ext cx="4608948" cy="3905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100" b="1" i="0" strike="noStrike">
                <a:solidFill>
                  <a:srgbClr val="0A1F3D">
                    <a:alpha val="90196"/>
                  </a:srgbClr>
                </a:solidFill>
                <a:latin typeface="Source Han Sans"/>
                <a:ea typeface="Source Han Sans"/>
                <a:cs typeface="Source Han Sans"/>
              </a:rPr>
              <a:t>图片残留清理：</a:t>
            </a:r>
            <a:r>
              <a:rPr sz="1100" b="0" i="0" strike="noStrike">
                <a:solidFill>
                  <a:srgbClr val="0A1F3D">
                    <a:alpha val="90196"/>
                  </a:srgbClr>
                </a:solidFill>
                <a:latin typeface="Source Han Sans"/>
                <a:ea typeface="Source Han Sans"/>
                <a:cs typeface="Source Han Sans"/>
              </a:rPr>
              <a:t>删除图书时只更新状态未清理文件，已在删除逻辑中补充</a:t>
            </a:r>
            <a:endParaRPr lang="en-US" sz="1100"/>
          </a:p>
          <a:p>
            <a:pPr algn="l"/>
            <a:r>
              <a:rPr sz="1100" b="0" i="0" strike="noStrike">
                <a:solidFill>
                  <a:srgbClr val="0A1F3D">
                    <a:alpha val="90196"/>
                  </a:srgbClr>
                </a:solidFill>
                <a:latin typeface="Source Han Sans"/>
                <a:ea typeface="Source Han Sans"/>
                <a:cs typeface="Source Han Sans"/>
              </a:rPr>
              <a:t>封面和附加图片清理机制。</a:t>
            </a:r>
            <a:endParaRPr sz="1100" b="0" i="0" strike="noStrike">
              <a:solidFill>
                <a:srgbClr val="0A1F3D">
                  <a:alpha val="90196"/>
                </a:srgbClr>
              </a:solidFill>
              <a:latin typeface="Source Han Sans"/>
              <a:ea typeface="Source Han Sans"/>
              <a:cs typeface="Source Han Sans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799899" y="4267200"/>
            <a:ext cx="155785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solidFill>
                  <a:srgbClr val="0A1F3D">
                    <a:alpha val="50196"/>
                  </a:srgbClr>
                </a:solidFill>
                <a:latin typeface="Inter"/>
                <a:ea typeface="Inter"/>
                <a:cs typeface="Inter"/>
              </a:rPr>
              <a:t>04</a:t>
            </a:r>
            <a:endParaRPr lang="en-US" sz="1100"/>
          </a:p>
        </p:txBody>
      </p:sp>
      <p:sp>
        <p:nvSpPr>
          <p:cNvPr id="16" name="TextBox 16"/>
          <p:cNvSpPr txBox="1"/>
          <p:nvPr/>
        </p:nvSpPr>
        <p:spPr>
          <a:xfrm>
            <a:off x="1041387" y="4238625"/>
            <a:ext cx="4608948" cy="3905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100" b="1" i="0" strike="noStrike">
                <a:solidFill>
                  <a:srgbClr val="0A1F3D">
                    <a:alpha val="90196"/>
                  </a:srgbClr>
                </a:solidFill>
                <a:latin typeface="Source Han Sans"/>
                <a:ea typeface="Source Han Sans"/>
                <a:cs typeface="Source Han Sans"/>
              </a:rPr>
              <a:t>查询性能优化：</a:t>
            </a:r>
            <a:r>
              <a:rPr sz="1100" b="0" i="0" strike="noStrike">
                <a:solidFill>
                  <a:srgbClr val="0A1F3D">
                    <a:alpha val="90196"/>
                  </a:srgbClr>
                </a:solidFill>
                <a:latin typeface="Source Han Sans"/>
                <a:ea typeface="Source Han Sans"/>
                <a:cs typeface="Source Han Sans"/>
              </a:rPr>
              <a:t>首页一次性查询数据过多，已增加分页查询和状态过滤减</a:t>
            </a:r>
            <a:endParaRPr lang="en-US" sz="1100"/>
          </a:p>
          <a:p>
            <a:pPr algn="l"/>
            <a:r>
              <a:rPr sz="1100" b="0" i="0" strike="noStrike">
                <a:solidFill>
                  <a:srgbClr val="0A1F3D">
                    <a:alpha val="90196"/>
                  </a:srgbClr>
                </a:solidFill>
                <a:latin typeface="Source Han Sans"/>
                <a:ea typeface="Source Han Sans"/>
                <a:cs typeface="Source Han Sans"/>
              </a:rPr>
              <a:t>少返回数据量。</a:t>
            </a:r>
            <a:endParaRPr sz="1100" b="0" i="0" strike="noStrike">
              <a:solidFill>
                <a:srgbClr val="0A1F3D">
                  <a:alpha val="90196"/>
                </a:srgbClr>
              </a:solidFill>
              <a:latin typeface="Source Han Sans"/>
              <a:ea typeface="Source Han Sans"/>
              <a:cs typeface="Source Han Sans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799899" y="4876800"/>
            <a:ext cx="155785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solidFill>
                  <a:srgbClr val="0A1F3D">
                    <a:alpha val="50196"/>
                  </a:srgbClr>
                </a:solidFill>
                <a:latin typeface="Inter"/>
                <a:ea typeface="Inter"/>
                <a:cs typeface="Inter"/>
              </a:rPr>
              <a:t>05</a:t>
            </a:r>
            <a:endParaRPr lang="en-US" sz="1100"/>
          </a:p>
        </p:txBody>
      </p:sp>
      <p:sp>
        <p:nvSpPr>
          <p:cNvPr id="18" name="TextBox 18"/>
          <p:cNvSpPr txBox="1"/>
          <p:nvPr/>
        </p:nvSpPr>
        <p:spPr>
          <a:xfrm>
            <a:off x="1041387" y="4848225"/>
            <a:ext cx="4608948" cy="3905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100" b="1" i="0" strike="noStrike">
                <a:solidFill>
                  <a:srgbClr val="0A1F3D">
                    <a:alpha val="90196"/>
                  </a:srgbClr>
                </a:solidFill>
                <a:latin typeface="Source Han Sans"/>
                <a:ea typeface="Source Han Sans"/>
                <a:cs typeface="Source Han Sans"/>
              </a:rPr>
              <a:t>订单状态流转：</a:t>
            </a:r>
            <a:r>
              <a:rPr sz="1100" b="0" i="0" strike="noStrike">
                <a:solidFill>
                  <a:srgbClr val="0A1F3D">
                    <a:alpha val="90196"/>
                  </a:srgbClr>
                </a:solidFill>
                <a:latin typeface="Source Han Sans"/>
                <a:ea typeface="Source Han Sans"/>
                <a:cs typeface="Source Han Sans"/>
              </a:rPr>
              <a:t>操作边界不清晰，已补充付款、发货、确认收货、取消等</a:t>
            </a:r>
            <a:endParaRPr lang="en-US" sz="1100"/>
          </a:p>
          <a:p>
            <a:pPr algn="l"/>
            <a:r>
              <a:rPr sz="1100" b="0" i="0" strike="noStrike">
                <a:solidFill>
                  <a:srgbClr val="0A1F3D">
                    <a:alpha val="90196"/>
                  </a:srgbClr>
                </a:solidFill>
                <a:latin typeface="Source Han Sans"/>
                <a:ea typeface="Source Han Sans"/>
                <a:cs typeface="Source Han Sans"/>
              </a:rPr>
              <a:t>状态校验逻辑。</a:t>
            </a:r>
            <a:endParaRPr sz="1100" b="0" i="0" strike="noStrike">
              <a:solidFill>
                <a:srgbClr val="0A1F3D">
                  <a:alpha val="90196"/>
                </a:srgbClr>
              </a:solidFill>
              <a:latin typeface="Source Han Sans"/>
              <a:ea typeface="Source Han Sans"/>
              <a:cs typeface="Source Han Sans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799899" y="5486400"/>
            <a:ext cx="155785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solidFill>
                  <a:srgbClr val="0A1F3D">
                    <a:alpha val="50196"/>
                  </a:srgbClr>
                </a:solidFill>
                <a:latin typeface="Inter"/>
                <a:ea typeface="Inter"/>
                <a:cs typeface="Inter"/>
              </a:rPr>
              <a:t>06</a:t>
            </a:r>
            <a:endParaRPr lang="en-US" sz="1100"/>
          </a:p>
        </p:txBody>
      </p:sp>
      <p:sp>
        <p:nvSpPr>
          <p:cNvPr id="20" name="TextBox 20"/>
          <p:cNvSpPr txBox="1"/>
          <p:nvPr/>
        </p:nvSpPr>
        <p:spPr>
          <a:xfrm>
            <a:off x="1041387" y="5457825"/>
            <a:ext cx="4608948" cy="3905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100" b="1" i="0" strike="noStrike">
                <a:solidFill>
                  <a:srgbClr val="0A1F3D">
                    <a:alpha val="90196"/>
                  </a:srgbClr>
                </a:solidFill>
                <a:latin typeface="Source Han Sans"/>
                <a:ea typeface="Source Han Sans"/>
                <a:cs typeface="Source Han Sans"/>
              </a:rPr>
              <a:t>分类删除保护：</a:t>
            </a:r>
            <a:r>
              <a:rPr sz="1100" b="0" i="0" strike="noStrike">
                <a:solidFill>
                  <a:srgbClr val="0A1F3D">
                    <a:alpha val="90196"/>
                  </a:srgbClr>
                </a:solidFill>
                <a:latin typeface="Source Han Sans"/>
                <a:ea typeface="Source Han Sans"/>
                <a:cs typeface="Source Han Sans"/>
              </a:rPr>
              <a:t>删除前未判断分类下是否存在图书，已增加分类删除保护</a:t>
            </a:r>
            <a:endParaRPr lang="en-US" sz="1100"/>
          </a:p>
          <a:p>
            <a:pPr algn="l"/>
            <a:r>
              <a:rPr sz="1100" b="0" i="0" strike="noStrike">
                <a:solidFill>
                  <a:srgbClr val="0A1F3D">
                    <a:alpha val="90196"/>
                  </a:srgbClr>
                </a:solidFill>
                <a:latin typeface="Source Han Sans"/>
                <a:ea typeface="Source Han Sans"/>
                <a:cs typeface="Source Han Sans"/>
              </a:rPr>
              <a:t>逻辑防止数据孤岛。</a:t>
            </a:r>
            <a:endParaRPr sz="1100" b="0" i="0" strike="noStrike">
              <a:solidFill>
                <a:srgbClr val="0A1F3D">
                  <a:alpha val="90196"/>
                </a:srgbClr>
              </a:solidFill>
              <a:latin typeface="Source Han Sans"/>
              <a:ea typeface="Source Han Sans"/>
              <a:cs typeface="Source Han Sans"/>
            </a:endParaRPr>
          </a:p>
        </p:txBody>
      </p:sp>
      <p:sp>
        <p:nvSpPr>
          <p:cNvPr id="21" name="AutoShape 21"/>
          <p:cNvSpPr/>
          <p:nvPr/>
        </p:nvSpPr>
        <p:spPr>
          <a:xfrm>
            <a:off x="6246838" y="1504950"/>
            <a:ext cx="5485028" cy="4257675"/>
          </a:xfrm>
          <a:prstGeom prst="rect">
            <a:avLst/>
          </a:prstGeom>
          <a:blipFill rotWithShape="1">
            <a:blip r:embed="rId2">
              <a:alphaModFix amt="100000"/>
              <a:alphaModFix amt="100000"/>
            </a:blip>
            <a:stretch>
              <a:fillRect/>
            </a:stretch>
          </a:blipFill>
          <a:ln>
            <a:headEnd type="none"/>
            <a:tailEnd type="none"/>
          </a:ln>
        </p:spPr>
      </p:sp>
      <p:sp>
        <p:nvSpPr>
          <p:cNvPr id="22" name="AutoShape 22"/>
          <p:cNvSpPr/>
          <p:nvPr/>
        </p:nvSpPr>
        <p:spPr>
          <a:xfrm>
            <a:off x="6564283" y="1866900"/>
            <a:ext cx="228543" cy="228600"/>
          </a:xfrm>
          <a:custGeom>
            <a:avLst/>
            <a:gdLst/>
            <a:ahLst/>
            <a:cxnLst/>
            <a:rect l="l" t="t" r="r" b="b"/>
            <a:pathLst>
              <a:path w="9998" h="10000">
                <a:moveTo>
                  <a:pt x="0" y="4357"/>
                </a:moveTo>
                <a:lnTo>
                  <a:pt x="7611" y="4357"/>
                </a:lnTo>
                <a:lnTo>
                  <a:pt x="4249" y="913"/>
                </a:lnTo>
                <a:lnTo>
                  <a:pt x="5136" y="0"/>
                </a:lnTo>
                <a:lnTo>
                  <a:pt x="9998" y="5000"/>
                </a:lnTo>
                <a:lnTo>
                  <a:pt x="5136" y="10000"/>
                </a:lnTo>
                <a:lnTo>
                  <a:pt x="4249" y="9087"/>
                </a:lnTo>
                <a:lnTo>
                  <a:pt x="7611" y="5643"/>
                </a:lnTo>
                <a:lnTo>
                  <a:pt x="0" y="5643"/>
                </a:lnTo>
              </a:path>
            </a:pathLst>
          </a:custGeom>
          <a:solidFill>
            <a:srgbClr val="0A1F3D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23" name="TextBox 23"/>
          <p:cNvSpPr txBox="1"/>
          <p:nvPr/>
        </p:nvSpPr>
        <p:spPr>
          <a:xfrm>
            <a:off x="6881729" y="1857375"/>
            <a:ext cx="1428393" cy="2476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800" b="1" i="0" strike="noStrike">
                <a:solidFill>
                  <a:srgbClr val="0A1F3D">
                    <a:alpha val="80000"/>
                  </a:srgbClr>
                </a:solidFill>
                <a:latin typeface="Source Han Serif CN"/>
                <a:ea typeface="Source Han Serif CN"/>
                <a:cs typeface="Source Han Serif CN"/>
              </a:rPr>
              <a:t>后续优化方向</a:t>
            </a:r>
            <a:endParaRPr lang="en-US" sz="1100"/>
          </a:p>
        </p:txBody>
      </p:sp>
      <p:sp>
        <p:nvSpPr>
          <p:cNvPr id="24" name="TextBox 24"/>
          <p:cNvSpPr txBox="1"/>
          <p:nvPr/>
        </p:nvSpPr>
        <p:spPr>
          <a:xfrm>
            <a:off x="6589652" y="2438400"/>
            <a:ext cx="155785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solidFill>
                  <a:srgbClr val="0A1F3D">
                    <a:alpha val="50196"/>
                  </a:srgbClr>
                </a:solidFill>
                <a:latin typeface="Inter"/>
                <a:ea typeface="Inter"/>
                <a:cs typeface="Inter"/>
              </a:rPr>
              <a:t>01</a:t>
            </a:r>
            <a:endParaRPr lang="en-US" sz="1100"/>
          </a:p>
        </p:txBody>
      </p:sp>
      <p:sp>
        <p:nvSpPr>
          <p:cNvPr id="25" name="TextBox 25"/>
          <p:cNvSpPr txBox="1"/>
          <p:nvPr/>
        </p:nvSpPr>
        <p:spPr>
          <a:xfrm>
            <a:off x="6831140" y="2409825"/>
            <a:ext cx="4608948" cy="3905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100" b="1" i="0" strike="noStrike">
                <a:solidFill>
                  <a:srgbClr val="0A1F3D">
                    <a:alpha val="90196"/>
                  </a:srgbClr>
                </a:solidFill>
                <a:latin typeface="Source Han Sans"/>
                <a:ea typeface="Source Han Sans"/>
                <a:cs typeface="Source Han Sans"/>
              </a:rPr>
              <a:t>自动化测试：</a:t>
            </a:r>
            <a:r>
              <a:rPr sz="1100" b="0" i="0" strike="noStrike">
                <a:solidFill>
                  <a:srgbClr val="0A1F3D">
                    <a:alpha val="90196"/>
                  </a:srgbClr>
                </a:solidFill>
                <a:latin typeface="Source Han Sans"/>
                <a:ea typeface="Source Han Sans"/>
                <a:cs typeface="Source Han Sans"/>
              </a:rPr>
              <a:t>增加接口测试和前端端到端测试，提升测试覆盖率和回归效</a:t>
            </a:r>
            <a:endParaRPr lang="en-US" sz="1100"/>
          </a:p>
          <a:p>
            <a:pPr algn="l"/>
            <a:r>
              <a:rPr sz="1100" b="0" i="0" strike="noStrike">
                <a:solidFill>
                  <a:srgbClr val="0A1F3D">
                    <a:alpha val="90196"/>
                  </a:srgbClr>
                </a:solidFill>
                <a:latin typeface="Source Han Sans"/>
                <a:ea typeface="Source Han Sans"/>
                <a:cs typeface="Source Han Sans"/>
              </a:rPr>
              <a:t>率。</a:t>
            </a:r>
            <a:endParaRPr sz="1100" b="0" i="0" strike="noStrike">
              <a:solidFill>
                <a:srgbClr val="0A1F3D">
                  <a:alpha val="90196"/>
                </a:srgbClr>
              </a:solidFill>
              <a:latin typeface="Source Han Sans"/>
              <a:ea typeface="Source Han Sans"/>
              <a:cs typeface="Source Han Sans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6589652" y="3048000"/>
            <a:ext cx="155785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solidFill>
                  <a:srgbClr val="0A1F3D">
                    <a:alpha val="50196"/>
                  </a:srgbClr>
                </a:solidFill>
                <a:latin typeface="Inter"/>
                <a:ea typeface="Inter"/>
                <a:cs typeface="Inter"/>
              </a:rPr>
              <a:t>02</a:t>
            </a:r>
            <a:endParaRPr lang="en-US" sz="1100"/>
          </a:p>
        </p:txBody>
      </p:sp>
      <p:sp>
        <p:nvSpPr>
          <p:cNvPr id="27" name="TextBox 27"/>
          <p:cNvSpPr txBox="1"/>
          <p:nvPr/>
        </p:nvSpPr>
        <p:spPr>
          <a:xfrm>
            <a:off x="6831140" y="3019425"/>
            <a:ext cx="4608948" cy="1619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100" b="1" i="0" strike="noStrike">
                <a:solidFill>
                  <a:srgbClr val="0A1F3D">
                    <a:alpha val="90196"/>
                  </a:srgbClr>
                </a:solidFill>
                <a:latin typeface="Source Han Sans"/>
                <a:ea typeface="Source Han Sans"/>
                <a:cs typeface="Source Han Sans"/>
              </a:rPr>
              <a:t>图书审核机制：</a:t>
            </a:r>
            <a:r>
              <a:rPr sz="1100" b="0" i="0" strike="noStrike">
                <a:solidFill>
                  <a:srgbClr val="0A1F3D">
                    <a:alpha val="90196"/>
                  </a:srgbClr>
                </a:solidFill>
                <a:latin typeface="Source Han Sans"/>
                <a:ea typeface="Source Han Sans"/>
                <a:cs typeface="Source Han Sans"/>
              </a:rPr>
              <a:t>管理员审核通过后方可上架，减少不合规内容发布风险。</a:t>
            </a:r>
            <a:endParaRPr lang="en-US" sz="1100"/>
          </a:p>
        </p:txBody>
      </p:sp>
      <p:sp>
        <p:nvSpPr>
          <p:cNvPr id="28" name="TextBox 28"/>
          <p:cNvSpPr txBox="1"/>
          <p:nvPr/>
        </p:nvSpPr>
        <p:spPr>
          <a:xfrm>
            <a:off x="6589652" y="3429000"/>
            <a:ext cx="155785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solidFill>
                  <a:srgbClr val="0A1F3D">
                    <a:alpha val="50196"/>
                  </a:srgbClr>
                </a:solidFill>
                <a:latin typeface="Inter"/>
                <a:ea typeface="Inter"/>
                <a:cs typeface="Inter"/>
              </a:rPr>
              <a:t>03</a:t>
            </a:r>
            <a:endParaRPr lang="en-US" sz="1100"/>
          </a:p>
        </p:txBody>
      </p:sp>
      <p:sp>
        <p:nvSpPr>
          <p:cNvPr id="29" name="TextBox 29"/>
          <p:cNvSpPr txBox="1"/>
          <p:nvPr/>
        </p:nvSpPr>
        <p:spPr>
          <a:xfrm>
            <a:off x="6831140" y="3400425"/>
            <a:ext cx="4608948" cy="3905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100" b="1" i="0" strike="noStrike">
                <a:solidFill>
                  <a:srgbClr val="0A1F3D">
                    <a:alpha val="90196"/>
                  </a:srgbClr>
                </a:solidFill>
                <a:latin typeface="Source Han Sans"/>
                <a:ea typeface="Source Han Sans"/>
                <a:cs typeface="Source Han Sans"/>
              </a:rPr>
              <a:t>即时通知能力：</a:t>
            </a:r>
            <a:r>
              <a:rPr sz="1100" b="0" i="0" strike="noStrike">
                <a:solidFill>
                  <a:srgbClr val="0A1F3D">
                    <a:alpha val="90196"/>
                  </a:srgbClr>
                </a:solidFill>
                <a:latin typeface="Source Han Sans"/>
                <a:ea typeface="Source Han Sans"/>
                <a:cs typeface="Source Han Sans"/>
              </a:rPr>
              <a:t>增加站内消息，订单状态变化时主动通知买卖双方提升体</a:t>
            </a:r>
            <a:endParaRPr lang="en-US" sz="1100"/>
          </a:p>
          <a:p>
            <a:pPr algn="l"/>
            <a:r>
              <a:rPr sz="1100" b="0" i="0" strike="noStrike">
                <a:solidFill>
                  <a:srgbClr val="0A1F3D">
                    <a:alpha val="90196"/>
                  </a:srgbClr>
                </a:solidFill>
                <a:latin typeface="Source Han Sans"/>
                <a:ea typeface="Source Han Sans"/>
                <a:cs typeface="Source Han Sans"/>
              </a:rPr>
              <a:t>验。</a:t>
            </a:r>
            <a:endParaRPr sz="1100" b="0" i="0" strike="noStrike">
              <a:solidFill>
                <a:srgbClr val="0A1F3D">
                  <a:alpha val="90196"/>
                </a:srgbClr>
              </a:solidFill>
              <a:latin typeface="Source Han Sans"/>
              <a:ea typeface="Source Han Sans"/>
              <a:cs typeface="Source Han Sans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6589652" y="4038600"/>
            <a:ext cx="155785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solidFill>
                  <a:srgbClr val="0A1F3D">
                    <a:alpha val="50196"/>
                  </a:srgbClr>
                </a:solidFill>
                <a:latin typeface="Inter"/>
                <a:ea typeface="Inter"/>
                <a:cs typeface="Inter"/>
              </a:rPr>
              <a:t>04</a:t>
            </a:r>
            <a:endParaRPr lang="en-US" sz="1100"/>
          </a:p>
        </p:txBody>
      </p:sp>
      <p:sp>
        <p:nvSpPr>
          <p:cNvPr id="31" name="TextBox 31"/>
          <p:cNvSpPr txBox="1"/>
          <p:nvPr/>
        </p:nvSpPr>
        <p:spPr>
          <a:xfrm>
            <a:off x="6831140" y="4010025"/>
            <a:ext cx="4608948" cy="3905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100" b="1" i="0" strike="noStrike">
                <a:solidFill>
                  <a:srgbClr val="0A1F3D">
                    <a:alpha val="90196"/>
                  </a:srgbClr>
                </a:solidFill>
                <a:latin typeface="Source Han Sans"/>
                <a:ea typeface="Source Han Sans"/>
                <a:cs typeface="Source Han Sans"/>
              </a:rPr>
              <a:t>对象存储服务：</a:t>
            </a:r>
            <a:r>
              <a:rPr sz="1100" b="0" i="0" strike="noStrike">
                <a:solidFill>
                  <a:srgbClr val="0A1F3D">
                    <a:alpha val="90196"/>
                  </a:srgbClr>
                </a:solidFill>
                <a:latin typeface="Source Han Sans"/>
                <a:ea typeface="Source Han Sans"/>
                <a:cs typeface="Source Han Sans"/>
              </a:rPr>
              <a:t>图片迁移到对象存储或静态资源服务，提升上传性能和部</a:t>
            </a:r>
            <a:endParaRPr lang="en-US" sz="1100"/>
          </a:p>
          <a:p>
            <a:pPr algn="l"/>
            <a:r>
              <a:rPr sz="1100" b="0" i="0" strike="noStrike">
                <a:solidFill>
                  <a:srgbClr val="0A1F3D">
                    <a:alpha val="90196"/>
                  </a:srgbClr>
                </a:solidFill>
                <a:latin typeface="Source Han Sans"/>
                <a:ea typeface="Source Han Sans"/>
                <a:cs typeface="Source Han Sans"/>
              </a:rPr>
              <a:t>署灵活性。</a:t>
            </a:r>
            <a:endParaRPr sz="1100" b="0" i="0" strike="noStrike">
              <a:solidFill>
                <a:srgbClr val="0A1F3D">
                  <a:alpha val="90196"/>
                </a:srgbClr>
              </a:solidFill>
              <a:latin typeface="Source Han Sans"/>
              <a:ea typeface="Source Han Sans"/>
              <a:cs typeface="Source Han Sans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6589652" y="4648200"/>
            <a:ext cx="155785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solidFill>
                  <a:srgbClr val="0A1F3D">
                    <a:alpha val="50196"/>
                  </a:srgbClr>
                </a:solidFill>
                <a:latin typeface="Inter"/>
                <a:ea typeface="Inter"/>
                <a:cs typeface="Inter"/>
              </a:rPr>
              <a:t>05</a:t>
            </a:r>
            <a:endParaRPr lang="en-US" sz="1100"/>
          </a:p>
        </p:txBody>
      </p:sp>
      <p:sp>
        <p:nvSpPr>
          <p:cNvPr id="33" name="TextBox 33"/>
          <p:cNvSpPr txBox="1"/>
          <p:nvPr/>
        </p:nvSpPr>
        <p:spPr>
          <a:xfrm>
            <a:off x="6831140" y="4619625"/>
            <a:ext cx="4608948" cy="3905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100" b="1" i="0" strike="noStrike">
                <a:solidFill>
                  <a:srgbClr val="0A1F3D">
                    <a:alpha val="90196"/>
                  </a:srgbClr>
                </a:solidFill>
                <a:latin typeface="Source Han Sans"/>
                <a:ea typeface="Source Han Sans"/>
                <a:cs typeface="Source Han Sans"/>
              </a:rPr>
              <a:t>全文检索优化：</a:t>
            </a:r>
            <a:r>
              <a:rPr sz="1100" b="0" i="0" strike="noStrike">
                <a:solidFill>
                  <a:srgbClr val="0A1F3D">
                    <a:alpha val="90196"/>
                  </a:srgbClr>
                </a:solidFill>
                <a:latin typeface="Source Han Sans"/>
                <a:ea typeface="Source Han Sans"/>
                <a:cs typeface="Source Han Sans"/>
              </a:rPr>
              <a:t>搜索优化为全文检索和多条件排序，提升检索精度和用户</a:t>
            </a:r>
            <a:endParaRPr lang="en-US" sz="1100"/>
          </a:p>
          <a:p>
            <a:pPr algn="l"/>
            <a:r>
              <a:rPr sz="1100" b="0" i="0" strike="noStrike">
                <a:solidFill>
                  <a:srgbClr val="0A1F3D">
                    <a:alpha val="90196"/>
                  </a:srgbClr>
                </a:solidFill>
                <a:latin typeface="Source Han Sans"/>
                <a:ea typeface="Source Han Sans"/>
                <a:cs typeface="Source Han Sans"/>
              </a:rPr>
              <a:t>体验。</a:t>
            </a:r>
            <a:endParaRPr sz="1100" b="0" i="0" strike="noStrike">
              <a:solidFill>
                <a:srgbClr val="0A1F3D">
                  <a:alpha val="90196"/>
                </a:srgbClr>
              </a:solidFill>
              <a:latin typeface="Source Han Sans"/>
              <a:ea typeface="Source Han Sans"/>
              <a:cs typeface="Source Han Sans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6589652" y="5257800"/>
            <a:ext cx="155785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solidFill>
                  <a:srgbClr val="0A1F3D">
                    <a:alpha val="50196"/>
                  </a:srgbClr>
                </a:solidFill>
                <a:latin typeface="Inter"/>
                <a:ea typeface="Inter"/>
                <a:cs typeface="Inter"/>
              </a:rPr>
              <a:t>06</a:t>
            </a:r>
            <a:endParaRPr lang="en-US" sz="1100"/>
          </a:p>
        </p:txBody>
      </p:sp>
      <p:sp>
        <p:nvSpPr>
          <p:cNvPr id="35" name="TextBox 35"/>
          <p:cNvSpPr txBox="1"/>
          <p:nvPr/>
        </p:nvSpPr>
        <p:spPr>
          <a:xfrm>
            <a:off x="6831140" y="5229225"/>
            <a:ext cx="4596003" cy="3905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100" b="1" i="0" strike="noStrike">
                <a:solidFill>
                  <a:srgbClr val="0A1F3D">
                    <a:alpha val="90196"/>
                  </a:srgbClr>
                </a:solidFill>
                <a:latin typeface="Source Han Sans"/>
                <a:ea typeface="Source Han Sans"/>
                <a:cs typeface="Source Han Sans"/>
              </a:rPr>
              <a:t>单元测试覆盖：</a:t>
            </a:r>
            <a:r>
              <a:rPr sz="1100" b="0" i="0" strike="noStrike">
                <a:solidFill>
                  <a:srgbClr val="0A1F3D">
                    <a:alpha val="90196"/>
                  </a:srgbClr>
                </a:solidFill>
                <a:latin typeface="Source Han Sans"/>
                <a:ea typeface="Source Han Sans"/>
                <a:cs typeface="Source Han Sans"/>
              </a:rPr>
              <a:t>增加单元测试覆盖核心 Service 层逻辑，提升代码质量和</a:t>
            </a:r>
            <a:endParaRPr lang="en-US" sz="1100"/>
          </a:p>
          <a:p>
            <a:pPr algn="l"/>
            <a:r>
              <a:rPr sz="1100" b="0" i="0" strike="noStrike">
                <a:solidFill>
                  <a:srgbClr val="0A1F3D">
                    <a:alpha val="90196"/>
                  </a:srgbClr>
                </a:solidFill>
                <a:latin typeface="Source Han Sans"/>
                <a:ea typeface="Source Han Sans"/>
                <a:cs typeface="Source Han Sans"/>
              </a:rPr>
              <a:t>可维护性。</a:t>
            </a:r>
            <a:endParaRPr sz="1100" b="0" i="0" strike="noStrike">
              <a:solidFill>
                <a:srgbClr val="0A1F3D">
                  <a:alpha val="90196"/>
                </a:srgbClr>
              </a:solidFill>
              <a:latin typeface="Source Han Sans"/>
              <a:ea typeface="Source Han Sans"/>
              <a:cs typeface="Source Han Sans"/>
            </a:endParaRPr>
          </a:p>
        </p:txBody>
      </p:sp>
      <p:sp>
        <p:nvSpPr>
          <p:cNvPr id="36" name="AutoShape 36"/>
          <p:cNvSpPr/>
          <p:nvPr/>
        </p:nvSpPr>
        <p:spPr>
          <a:xfrm>
            <a:off x="457086" y="6067425"/>
            <a:ext cx="11274781" cy="9525"/>
          </a:xfrm>
          <a:prstGeom prst="line">
            <a:avLst/>
          </a:prstGeom>
          <a:ln w="9525">
            <a:solidFill>
              <a:srgbClr val="D1D5DB">
                <a:alpha val="60000"/>
              </a:srgbClr>
            </a:solidFill>
            <a:prstDash val="solid"/>
            <a:headEnd type="none"/>
            <a:tailEnd type="none"/>
          </a:ln>
        </p:spPr>
      </p:sp>
      <p:sp>
        <p:nvSpPr>
          <p:cNvPr id="37" name="TextBox 37"/>
          <p:cNvSpPr txBox="1"/>
          <p:nvPr/>
        </p:nvSpPr>
        <p:spPr>
          <a:xfrm>
            <a:off x="457086" y="6248400"/>
            <a:ext cx="828617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solidFill>
                  <a:srgbClr val="0A1F3D">
                    <a:alpha val="100000"/>
                  </a:srgbClr>
                </a:solidFill>
                <a:latin typeface="Inter"/>
                <a:ea typeface="Inter"/>
                <a:cs typeface="Inter"/>
              </a:rPr>
              <a:t>问题与改进 · 12</a:t>
            </a:r>
            <a:endParaRPr lang="en-US" sz="1100"/>
          </a:p>
        </p:txBody>
      </p:sp>
      <p:sp>
        <p:nvSpPr>
          <p:cNvPr id="38" name="TextBox 38"/>
          <p:cNvSpPr txBox="1"/>
          <p:nvPr/>
        </p:nvSpPr>
        <p:spPr>
          <a:xfrm>
            <a:off x="10589152" y="6248400"/>
            <a:ext cx="1171282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solidFill>
                  <a:srgbClr val="0A1F3D">
                    <a:alpha val="100000"/>
                  </a:srgbClr>
                </a:solidFill>
                <a:latin typeface="Inter"/>
                <a:ea typeface="Inter"/>
                <a:cs typeface="Inter"/>
              </a:rPr>
              <a:t>校园二手图书交易平台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5E5E5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3" name="AutoShap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3F5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4" name="TextBox 4"/>
          <p:cNvSpPr txBox="1"/>
          <p:nvPr/>
        </p:nvSpPr>
        <p:spPr>
          <a:xfrm>
            <a:off x="457086" y="476250"/>
            <a:ext cx="11274781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solidFill>
                  <a:srgbClr val="5B8CB8">
                    <a:alpha val="60000"/>
                  </a:srgbClr>
                </a:solidFill>
                <a:latin typeface="Inter"/>
                <a:ea typeface="Inter"/>
                <a:cs typeface="Inter"/>
              </a:rPr>
              <a:t>Project Summary</a:t>
            </a:r>
            <a:endParaRPr lang="en-US" sz="1100"/>
          </a:p>
        </p:txBody>
      </p:sp>
      <p:sp>
        <p:nvSpPr>
          <p:cNvPr id="5" name="TextBox 5"/>
          <p:cNvSpPr txBox="1"/>
          <p:nvPr/>
        </p:nvSpPr>
        <p:spPr>
          <a:xfrm>
            <a:off x="457086" y="741016"/>
            <a:ext cx="11274781" cy="4286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3000" b="1" i="0" strike="noStrike">
                <a:solidFill>
                  <a:srgbClr val="0A1F3D">
                    <a:alpha val="100000"/>
                  </a:srgbClr>
                </a:solidFill>
                <a:latin typeface="Source Han Serif CN"/>
                <a:ea typeface="Source Han Serif CN"/>
                <a:cs typeface="Source Han Serif CN"/>
              </a:rPr>
              <a:t>项目总结：中期与结项成果对比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457086" y="1493491"/>
            <a:ext cx="3609072" cy="4267200"/>
          </a:xfrm>
          <a:prstGeom prst="rect">
            <a:avLst/>
          </a:prstGeom>
          <a:blipFill rotWithShape="1">
            <a:blip r:embed="rId1">
              <a:alphaModFix amt="100000"/>
              <a:alphaModFix amt="100000"/>
            </a:blip>
            <a:stretch>
              <a:fillRect/>
            </a:stretch>
          </a:blipFill>
          <a:ln>
            <a:headEnd type="none"/>
            <a:tailEnd type="none"/>
          </a:ln>
        </p:spPr>
      </p:sp>
      <p:sp>
        <p:nvSpPr>
          <p:cNvPr id="7" name="AutoShape 7"/>
          <p:cNvSpPr/>
          <p:nvPr/>
        </p:nvSpPr>
        <p:spPr>
          <a:xfrm>
            <a:off x="466608" y="2245966"/>
            <a:ext cx="3586754" cy="9525"/>
          </a:xfrm>
          <a:prstGeom prst="line">
            <a:avLst/>
          </a:prstGeom>
          <a:ln w="9525">
            <a:solidFill>
              <a:srgbClr val="DCE1E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8" name="AutoShape 8"/>
          <p:cNvSpPr/>
          <p:nvPr/>
        </p:nvSpPr>
        <p:spPr>
          <a:xfrm>
            <a:off x="669783" y="1807816"/>
            <a:ext cx="228543" cy="228600"/>
          </a:xfrm>
          <a:custGeom>
            <a:avLst/>
            <a:gdLst/>
            <a:ahLst/>
            <a:cxnLst/>
            <a:rect l="l" t="t" r="r" b="b"/>
            <a:pathLst>
              <a:path w="9998" h="10000">
                <a:moveTo>
                  <a:pt x="4999" y="10000"/>
                </a:moveTo>
                <a:cubicBezTo>
                  <a:pt x="4319" y="10000"/>
                  <a:pt x="3669" y="9870"/>
                  <a:pt x="3049" y="9610"/>
                </a:cubicBezTo>
                <a:cubicBezTo>
                  <a:pt x="2456" y="9356"/>
                  <a:pt x="1928" y="8998"/>
                  <a:pt x="1465" y="8535"/>
                </a:cubicBezTo>
                <a:cubicBezTo>
                  <a:pt x="1001" y="8071"/>
                  <a:pt x="643" y="7543"/>
                  <a:pt x="390" y="6950"/>
                </a:cubicBezTo>
                <a:cubicBezTo>
                  <a:pt x="130" y="6330"/>
                  <a:pt x="0" y="5680"/>
                  <a:pt x="0" y="5000"/>
                </a:cubicBezTo>
                <a:cubicBezTo>
                  <a:pt x="0" y="4320"/>
                  <a:pt x="130" y="3670"/>
                  <a:pt x="390" y="3050"/>
                </a:cubicBezTo>
                <a:cubicBezTo>
                  <a:pt x="643" y="2456"/>
                  <a:pt x="1001" y="1928"/>
                  <a:pt x="1465" y="1465"/>
                </a:cubicBezTo>
                <a:cubicBezTo>
                  <a:pt x="1928" y="1001"/>
                  <a:pt x="2456" y="643"/>
                  <a:pt x="3049" y="390"/>
                </a:cubicBezTo>
                <a:cubicBezTo>
                  <a:pt x="3669" y="130"/>
                  <a:pt x="4319" y="0"/>
                  <a:pt x="4999" y="0"/>
                </a:cubicBezTo>
                <a:cubicBezTo>
                  <a:pt x="5679" y="0"/>
                  <a:pt x="6329" y="130"/>
                  <a:pt x="6949" y="390"/>
                </a:cubicBezTo>
                <a:cubicBezTo>
                  <a:pt x="7541" y="643"/>
                  <a:pt x="8069" y="1001"/>
                  <a:pt x="8533" y="1465"/>
                </a:cubicBezTo>
                <a:cubicBezTo>
                  <a:pt x="8996" y="1928"/>
                  <a:pt x="9354" y="2456"/>
                  <a:pt x="9608" y="3050"/>
                </a:cubicBezTo>
                <a:cubicBezTo>
                  <a:pt x="9868" y="3670"/>
                  <a:pt x="9998" y="4320"/>
                  <a:pt x="9998" y="5000"/>
                </a:cubicBezTo>
                <a:cubicBezTo>
                  <a:pt x="9998" y="5680"/>
                  <a:pt x="9868" y="6330"/>
                  <a:pt x="9608" y="6950"/>
                </a:cubicBezTo>
                <a:cubicBezTo>
                  <a:pt x="9354" y="7543"/>
                  <a:pt x="8996" y="8071"/>
                  <a:pt x="8533" y="8535"/>
                </a:cubicBezTo>
                <a:cubicBezTo>
                  <a:pt x="8069" y="8998"/>
                  <a:pt x="7541" y="9356"/>
                  <a:pt x="6949" y="9610"/>
                </a:cubicBezTo>
                <a:cubicBezTo>
                  <a:pt x="6329" y="9870"/>
                  <a:pt x="5679" y="10000"/>
                  <a:pt x="4999" y="10000"/>
                </a:cubicBezTo>
                <a:moveTo>
                  <a:pt x="4999" y="9000"/>
                </a:moveTo>
                <a:cubicBezTo>
                  <a:pt x="5725" y="9000"/>
                  <a:pt x="6399" y="8816"/>
                  <a:pt x="7019" y="8450"/>
                </a:cubicBezTo>
                <a:cubicBezTo>
                  <a:pt x="7618" y="8096"/>
                  <a:pt x="8094" y="7620"/>
                  <a:pt x="8448" y="7020"/>
                </a:cubicBezTo>
                <a:cubicBezTo>
                  <a:pt x="8814" y="6400"/>
                  <a:pt x="8998" y="5726"/>
                  <a:pt x="8998" y="5000"/>
                </a:cubicBezTo>
                <a:cubicBezTo>
                  <a:pt x="8998" y="4273"/>
                  <a:pt x="8814" y="3600"/>
                  <a:pt x="8448" y="2980"/>
                </a:cubicBezTo>
                <a:cubicBezTo>
                  <a:pt x="8094" y="2380"/>
                  <a:pt x="7618" y="1903"/>
                  <a:pt x="7019" y="1550"/>
                </a:cubicBezTo>
                <a:cubicBezTo>
                  <a:pt x="6399" y="1183"/>
                  <a:pt x="5725" y="1000"/>
                  <a:pt x="4999" y="1000"/>
                </a:cubicBezTo>
                <a:cubicBezTo>
                  <a:pt x="4272" y="1000"/>
                  <a:pt x="3599" y="1183"/>
                  <a:pt x="2979" y="1550"/>
                </a:cubicBezTo>
                <a:cubicBezTo>
                  <a:pt x="2379" y="1903"/>
                  <a:pt x="1903" y="2380"/>
                  <a:pt x="1550" y="2980"/>
                </a:cubicBezTo>
                <a:cubicBezTo>
                  <a:pt x="1183" y="3600"/>
                  <a:pt x="1000" y="4273"/>
                  <a:pt x="1000" y="5000"/>
                </a:cubicBezTo>
                <a:cubicBezTo>
                  <a:pt x="1000" y="5726"/>
                  <a:pt x="1183" y="6400"/>
                  <a:pt x="1550" y="7020"/>
                </a:cubicBezTo>
                <a:cubicBezTo>
                  <a:pt x="1903" y="7620"/>
                  <a:pt x="2379" y="8096"/>
                  <a:pt x="2979" y="8450"/>
                </a:cubicBezTo>
                <a:cubicBezTo>
                  <a:pt x="3599" y="8816"/>
                  <a:pt x="4272" y="9000"/>
                  <a:pt x="4999" y="9000"/>
                </a:cubicBezTo>
                <a:moveTo>
                  <a:pt x="5499" y="2500"/>
                </a:moveTo>
                <a:lnTo>
                  <a:pt x="5499" y="5000"/>
                </a:lnTo>
                <a:lnTo>
                  <a:pt x="7499" y="5000"/>
                </a:lnTo>
                <a:lnTo>
                  <a:pt x="7499" y="6000"/>
                </a:lnTo>
                <a:lnTo>
                  <a:pt x="4499" y="6000"/>
                </a:lnTo>
                <a:lnTo>
                  <a:pt x="4499" y="2500"/>
                </a:lnTo>
              </a:path>
            </a:pathLst>
          </a:custGeom>
          <a:solidFill>
            <a:srgbClr val="5B8CB8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9" name="TextBox 9"/>
          <p:cNvSpPr txBox="1"/>
          <p:nvPr/>
        </p:nvSpPr>
        <p:spPr>
          <a:xfrm>
            <a:off x="987228" y="1817341"/>
            <a:ext cx="1190328" cy="2095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500" b="1" i="0" strike="noStrike">
                <a:solidFill>
                  <a:srgbClr val="0A1F3D">
                    <a:alpha val="100000"/>
                  </a:srgbClr>
                </a:solidFill>
                <a:latin typeface="Source Han Serif CN"/>
                <a:ea typeface="Source Han Serif CN"/>
                <a:cs typeface="Source Han Serif CN"/>
              </a:rPr>
              <a:t>中期阶段成果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74856" y="2548846"/>
            <a:ext cx="182834" cy="182880"/>
          </a:xfrm>
          <a:custGeom>
            <a:avLst/>
            <a:gdLst/>
            <a:ahLst/>
            <a:cxnLst/>
            <a:rect l="l" t="t" r="r" b="b"/>
            <a:pathLst>
              <a:path w="9998" h="10000">
                <a:moveTo>
                  <a:pt x="1000" y="5000"/>
                </a:moveTo>
                <a:cubicBezTo>
                  <a:pt x="1000" y="4273"/>
                  <a:pt x="1183" y="3600"/>
                  <a:pt x="1550" y="2980"/>
                </a:cubicBezTo>
                <a:cubicBezTo>
                  <a:pt x="1903" y="2380"/>
                  <a:pt x="2379" y="1903"/>
                  <a:pt x="2979" y="1550"/>
                </a:cubicBezTo>
                <a:cubicBezTo>
                  <a:pt x="3599" y="1183"/>
                  <a:pt x="4272" y="1000"/>
                  <a:pt x="4999" y="1000"/>
                </a:cubicBezTo>
                <a:cubicBezTo>
                  <a:pt x="5725" y="1000"/>
                  <a:pt x="6399" y="1183"/>
                  <a:pt x="7019" y="1550"/>
                </a:cubicBezTo>
                <a:cubicBezTo>
                  <a:pt x="7618" y="1903"/>
                  <a:pt x="8094" y="2380"/>
                  <a:pt x="8448" y="2980"/>
                </a:cubicBezTo>
                <a:cubicBezTo>
                  <a:pt x="8814" y="3600"/>
                  <a:pt x="8998" y="4273"/>
                  <a:pt x="8998" y="5000"/>
                </a:cubicBezTo>
                <a:cubicBezTo>
                  <a:pt x="8998" y="5726"/>
                  <a:pt x="8814" y="6400"/>
                  <a:pt x="8448" y="7020"/>
                </a:cubicBezTo>
                <a:cubicBezTo>
                  <a:pt x="8094" y="7620"/>
                  <a:pt x="7618" y="8096"/>
                  <a:pt x="7019" y="8450"/>
                </a:cubicBezTo>
                <a:cubicBezTo>
                  <a:pt x="6399" y="8816"/>
                  <a:pt x="5725" y="9000"/>
                  <a:pt x="4999" y="9000"/>
                </a:cubicBezTo>
                <a:cubicBezTo>
                  <a:pt x="4272" y="9000"/>
                  <a:pt x="3599" y="8816"/>
                  <a:pt x="2979" y="8450"/>
                </a:cubicBezTo>
                <a:cubicBezTo>
                  <a:pt x="2379" y="8096"/>
                  <a:pt x="1903" y="7620"/>
                  <a:pt x="1550" y="7020"/>
                </a:cubicBezTo>
                <a:cubicBezTo>
                  <a:pt x="1183" y="6400"/>
                  <a:pt x="1000" y="5726"/>
                  <a:pt x="1000" y="5000"/>
                </a:cubicBezTo>
                <a:moveTo>
                  <a:pt x="4999" y="0"/>
                </a:moveTo>
                <a:cubicBezTo>
                  <a:pt x="4319" y="0"/>
                  <a:pt x="3669" y="130"/>
                  <a:pt x="3049" y="390"/>
                </a:cubicBezTo>
                <a:cubicBezTo>
                  <a:pt x="2456" y="643"/>
                  <a:pt x="1928" y="1001"/>
                  <a:pt x="1465" y="1465"/>
                </a:cubicBezTo>
                <a:cubicBezTo>
                  <a:pt x="1001" y="1928"/>
                  <a:pt x="643" y="2456"/>
                  <a:pt x="390" y="3050"/>
                </a:cubicBezTo>
                <a:cubicBezTo>
                  <a:pt x="130" y="3670"/>
                  <a:pt x="0" y="4320"/>
                  <a:pt x="0" y="5000"/>
                </a:cubicBezTo>
                <a:cubicBezTo>
                  <a:pt x="0" y="5680"/>
                  <a:pt x="130" y="6330"/>
                  <a:pt x="390" y="6950"/>
                </a:cubicBezTo>
                <a:cubicBezTo>
                  <a:pt x="643" y="7543"/>
                  <a:pt x="1001" y="8071"/>
                  <a:pt x="1465" y="8535"/>
                </a:cubicBezTo>
                <a:cubicBezTo>
                  <a:pt x="1928" y="8998"/>
                  <a:pt x="2456" y="9356"/>
                  <a:pt x="3049" y="9610"/>
                </a:cubicBezTo>
                <a:cubicBezTo>
                  <a:pt x="3669" y="9870"/>
                  <a:pt x="4319" y="10000"/>
                  <a:pt x="4999" y="10000"/>
                </a:cubicBezTo>
                <a:cubicBezTo>
                  <a:pt x="5679" y="10000"/>
                  <a:pt x="6329" y="9870"/>
                  <a:pt x="6949" y="9610"/>
                </a:cubicBezTo>
                <a:cubicBezTo>
                  <a:pt x="7541" y="9356"/>
                  <a:pt x="8069" y="8998"/>
                  <a:pt x="8533" y="8535"/>
                </a:cubicBezTo>
                <a:cubicBezTo>
                  <a:pt x="8996" y="8071"/>
                  <a:pt x="9354" y="7543"/>
                  <a:pt x="9608" y="6950"/>
                </a:cubicBezTo>
                <a:cubicBezTo>
                  <a:pt x="9868" y="6330"/>
                  <a:pt x="9998" y="5680"/>
                  <a:pt x="9998" y="5000"/>
                </a:cubicBezTo>
                <a:cubicBezTo>
                  <a:pt x="9998" y="4320"/>
                  <a:pt x="9868" y="3670"/>
                  <a:pt x="9608" y="3050"/>
                </a:cubicBezTo>
                <a:cubicBezTo>
                  <a:pt x="9354" y="2456"/>
                  <a:pt x="8996" y="1928"/>
                  <a:pt x="8533" y="1465"/>
                </a:cubicBezTo>
                <a:cubicBezTo>
                  <a:pt x="8069" y="1001"/>
                  <a:pt x="7541" y="643"/>
                  <a:pt x="6949" y="390"/>
                </a:cubicBezTo>
                <a:cubicBezTo>
                  <a:pt x="6329" y="130"/>
                  <a:pt x="5679" y="0"/>
                  <a:pt x="4999" y="0"/>
                </a:cubicBezTo>
                <a:moveTo>
                  <a:pt x="4499" y="6960"/>
                </a:moveTo>
                <a:lnTo>
                  <a:pt x="7728" y="3730"/>
                </a:lnTo>
                <a:lnTo>
                  <a:pt x="7019" y="3020"/>
                </a:lnTo>
                <a:lnTo>
                  <a:pt x="4499" y="5540"/>
                </a:lnTo>
                <a:lnTo>
                  <a:pt x="3099" y="4150"/>
                </a:lnTo>
                <a:lnTo>
                  <a:pt x="2400" y="4850"/>
                </a:lnTo>
              </a:path>
            </a:pathLst>
          </a:custGeom>
          <a:solidFill>
            <a:srgbClr val="5B8CB8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11" name="TextBox 11"/>
          <p:cNvSpPr txBox="1"/>
          <p:nvPr/>
        </p:nvSpPr>
        <p:spPr>
          <a:xfrm>
            <a:off x="951667" y="2512666"/>
            <a:ext cx="2894876" cy="3905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100" b="0" i="0" strike="noStrike">
                <a:solidFill>
                  <a:srgbClr val="0A1F3D">
                    <a:alpha val="90196"/>
                  </a:srgbClr>
                </a:solidFill>
                <a:latin typeface="AlibabaPuHuiTi"/>
                <a:ea typeface="AlibabaPuHuiTi"/>
                <a:cs typeface="AlibabaPuHuiTi"/>
              </a:rPr>
              <a:t>完成项目选题、需求分析、技术路线确定、数</a:t>
            </a:r>
            <a:endParaRPr lang="en-US" sz="1100"/>
          </a:p>
          <a:p>
            <a:pPr algn="l"/>
            <a:r>
              <a:rPr sz="1100" b="0" i="0" strike="noStrike">
                <a:solidFill>
                  <a:srgbClr val="0A1F3D">
                    <a:alpha val="90196"/>
                  </a:srgbClr>
                </a:solidFill>
                <a:latin typeface="AlibabaPuHuiTi"/>
                <a:ea typeface="AlibabaPuHuiTi"/>
                <a:cs typeface="AlibabaPuHuiTi"/>
              </a:rPr>
              <a:t>据库初步设计、前后端基础框架搭建</a:t>
            </a:r>
            <a:endParaRPr sz="1100" b="0" i="0" strike="noStrike">
              <a:solidFill>
                <a:srgbClr val="0A1F3D">
                  <a:alpha val="90196"/>
                </a:srgbClr>
              </a:solidFill>
              <a:latin typeface="AlibabaPuHuiTi"/>
              <a:ea typeface="AlibabaPuHuiTi"/>
              <a:cs typeface="AlibabaPuHuiTi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674856" y="3158446"/>
            <a:ext cx="182834" cy="182880"/>
          </a:xfrm>
          <a:custGeom>
            <a:avLst/>
            <a:gdLst/>
            <a:ahLst/>
            <a:cxnLst/>
            <a:rect l="l" t="t" r="r" b="b"/>
            <a:pathLst>
              <a:path w="9998" h="10000">
                <a:moveTo>
                  <a:pt x="1000" y="5000"/>
                </a:moveTo>
                <a:cubicBezTo>
                  <a:pt x="1000" y="4273"/>
                  <a:pt x="1183" y="3600"/>
                  <a:pt x="1550" y="2980"/>
                </a:cubicBezTo>
                <a:cubicBezTo>
                  <a:pt x="1903" y="2380"/>
                  <a:pt x="2379" y="1903"/>
                  <a:pt x="2979" y="1550"/>
                </a:cubicBezTo>
                <a:cubicBezTo>
                  <a:pt x="3599" y="1183"/>
                  <a:pt x="4272" y="1000"/>
                  <a:pt x="4999" y="1000"/>
                </a:cubicBezTo>
                <a:cubicBezTo>
                  <a:pt x="5725" y="1000"/>
                  <a:pt x="6399" y="1183"/>
                  <a:pt x="7019" y="1550"/>
                </a:cubicBezTo>
                <a:cubicBezTo>
                  <a:pt x="7618" y="1903"/>
                  <a:pt x="8094" y="2380"/>
                  <a:pt x="8448" y="2980"/>
                </a:cubicBezTo>
                <a:cubicBezTo>
                  <a:pt x="8814" y="3600"/>
                  <a:pt x="8998" y="4273"/>
                  <a:pt x="8998" y="5000"/>
                </a:cubicBezTo>
                <a:cubicBezTo>
                  <a:pt x="8998" y="5726"/>
                  <a:pt x="8814" y="6400"/>
                  <a:pt x="8448" y="7020"/>
                </a:cubicBezTo>
                <a:cubicBezTo>
                  <a:pt x="8094" y="7620"/>
                  <a:pt x="7618" y="8096"/>
                  <a:pt x="7019" y="8450"/>
                </a:cubicBezTo>
                <a:cubicBezTo>
                  <a:pt x="6399" y="8816"/>
                  <a:pt x="5725" y="9000"/>
                  <a:pt x="4999" y="9000"/>
                </a:cubicBezTo>
                <a:cubicBezTo>
                  <a:pt x="4272" y="9000"/>
                  <a:pt x="3599" y="8816"/>
                  <a:pt x="2979" y="8450"/>
                </a:cubicBezTo>
                <a:cubicBezTo>
                  <a:pt x="2379" y="8096"/>
                  <a:pt x="1903" y="7620"/>
                  <a:pt x="1550" y="7020"/>
                </a:cubicBezTo>
                <a:cubicBezTo>
                  <a:pt x="1183" y="6400"/>
                  <a:pt x="1000" y="5726"/>
                  <a:pt x="1000" y="5000"/>
                </a:cubicBezTo>
                <a:moveTo>
                  <a:pt x="4999" y="0"/>
                </a:moveTo>
                <a:cubicBezTo>
                  <a:pt x="4319" y="0"/>
                  <a:pt x="3669" y="130"/>
                  <a:pt x="3049" y="390"/>
                </a:cubicBezTo>
                <a:cubicBezTo>
                  <a:pt x="2456" y="643"/>
                  <a:pt x="1928" y="1001"/>
                  <a:pt x="1465" y="1465"/>
                </a:cubicBezTo>
                <a:cubicBezTo>
                  <a:pt x="1001" y="1928"/>
                  <a:pt x="643" y="2456"/>
                  <a:pt x="390" y="3050"/>
                </a:cubicBezTo>
                <a:cubicBezTo>
                  <a:pt x="130" y="3670"/>
                  <a:pt x="0" y="4320"/>
                  <a:pt x="0" y="5000"/>
                </a:cubicBezTo>
                <a:cubicBezTo>
                  <a:pt x="0" y="5680"/>
                  <a:pt x="130" y="6330"/>
                  <a:pt x="390" y="6950"/>
                </a:cubicBezTo>
                <a:cubicBezTo>
                  <a:pt x="643" y="7543"/>
                  <a:pt x="1001" y="8071"/>
                  <a:pt x="1465" y="8535"/>
                </a:cubicBezTo>
                <a:cubicBezTo>
                  <a:pt x="1928" y="8998"/>
                  <a:pt x="2456" y="9356"/>
                  <a:pt x="3049" y="9610"/>
                </a:cubicBezTo>
                <a:cubicBezTo>
                  <a:pt x="3669" y="9870"/>
                  <a:pt x="4319" y="10000"/>
                  <a:pt x="4999" y="10000"/>
                </a:cubicBezTo>
                <a:cubicBezTo>
                  <a:pt x="5679" y="10000"/>
                  <a:pt x="6329" y="9870"/>
                  <a:pt x="6949" y="9610"/>
                </a:cubicBezTo>
                <a:cubicBezTo>
                  <a:pt x="7541" y="9356"/>
                  <a:pt x="8069" y="8998"/>
                  <a:pt x="8533" y="8535"/>
                </a:cubicBezTo>
                <a:cubicBezTo>
                  <a:pt x="8996" y="8071"/>
                  <a:pt x="9354" y="7543"/>
                  <a:pt x="9608" y="6950"/>
                </a:cubicBezTo>
                <a:cubicBezTo>
                  <a:pt x="9868" y="6330"/>
                  <a:pt x="9998" y="5680"/>
                  <a:pt x="9998" y="5000"/>
                </a:cubicBezTo>
                <a:cubicBezTo>
                  <a:pt x="9998" y="4320"/>
                  <a:pt x="9868" y="3670"/>
                  <a:pt x="9608" y="3050"/>
                </a:cubicBezTo>
                <a:cubicBezTo>
                  <a:pt x="9354" y="2456"/>
                  <a:pt x="8996" y="1928"/>
                  <a:pt x="8533" y="1465"/>
                </a:cubicBezTo>
                <a:cubicBezTo>
                  <a:pt x="8069" y="1001"/>
                  <a:pt x="7541" y="643"/>
                  <a:pt x="6949" y="390"/>
                </a:cubicBezTo>
                <a:cubicBezTo>
                  <a:pt x="6329" y="130"/>
                  <a:pt x="5679" y="0"/>
                  <a:pt x="4999" y="0"/>
                </a:cubicBezTo>
                <a:moveTo>
                  <a:pt x="4499" y="6960"/>
                </a:moveTo>
                <a:lnTo>
                  <a:pt x="7728" y="3730"/>
                </a:lnTo>
                <a:lnTo>
                  <a:pt x="7019" y="3020"/>
                </a:lnTo>
                <a:lnTo>
                  <a:pt x="4499" y="5540"/>
                </a:lnTo>
                <a:lnTo>
                  <a:pt x="3099" y="4150"/>
                </a:lnTo>
                <a:lnTo>
                  <a:pt x="2400" y="4850"/>
                </a:lnTo>
              </a:path>
            </a:pathLst>
          </a:custGeom>
          <a:solidFill>
            <a:srgbClr val="5B8CB8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13" name="TextBox 13"/>
          <p:cNvSpPr txBox="1"/>
          <p:nvPr/>
        </p:nvSpPr>
        <p:spPr>
          <a:xfrm>
            <a:off x="951667" y="3122266"/>
            <a:ext cx="2894876" cy="6191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100" b="0" i="0" strike="noStrike">
                <a:solidFill>
                  <a:srgbClr val="0A1F3D">
                    <a:alpha val="90196"/>
                  </a:srgbClr>
                </a:solidFill>
                <a:latin typeface="AlibabaPuHuiTi"/>
                <a:ea typeface="AlibabaPuHuiTi"/>
                <a:cs typeface="AlibabaPuHuiTi"/>
              </a:rPr>
              <a:t>实现用户模块和图书模块主要功能，具备注册</a:t>
            </a:r>
            <a:endParaRPr lang="en-US" sz="1100"/>
          </a:p>
          <a:p>
            <a:pPr algn="l"/>
            <a:r>
              <a:rPr sz="1100" b="0" i="0" strike="noStrike">
                <a:solidFill>
                  <a:srgbClr val="0A1F3D">
                    <a:alpha val="90196"/>
                  </a:srgbClr>
                </a:solidFill>
                <a:latin typeface="AlibabaPuHuiTi"/>
                <a:ea typeface="AlibabaPuHuiTi"/>
                <a:cs typeface="AlibabaPuHuiTi"/>
              </a:rPr>
              <a:t>登录、图书发布、列表展示、搜索和个人中心</a:t>
            </a:r>
            <a:endParaRPr sz="1100" b="0" i="0" strike="noStrike">
              <a:solidFill>
                <a:srgbClr val="0A1F3D">
                  <a:alpha val="90196"/>
                </a:srgbClr>
              </a:solidFill>
              <a:latin typeface="AlibabaPuHuiTi"/>
              <a:ea typeface="AlibabaPuHuiTi"/>
              <a:cs typeface="AlibabaPuHuiTi"/>
            </a:endParaRPr>
          </a:p>
          <a:p>
            <a:pPr algn="l"/>
            <a:r>
              <a:rPr sz="1100" b="0" i="0" strike="noStrike">
                <a:solidFill>
                  <a:srgbClr val="0A1F3D">
                    <a:alpha val="90196"/>
                  </a:srgbClr>
                </a:solidFill>
                <a:latin typeface="AlibabaPuHuiTi"/>
                <a:ea typeface="AlibabaPuHuiTi"/>
                <a:cs typeface="AlibabaPuHuiTi"/>
              </a:rPr>
              <a:t>基础能力</a:t>
            </a:r>
            <a:endParaRPr sz="1100" b="0" i="0" strike="noStrike">
              <a:solidFill>
                <a:srgbClr val="0A1F3D">
                  <a:alpha val="90196"/>
                </a:srgbClr>
              </a:solidFill>
              <a:latin typeface="AlibabaPuHuiTi"/>
              <a:ea typeface="AlibabaPuHuiTi"/>
              <a:cs typeface="AlibabaPuHuiTi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674856" y="3996646"/>
            <a:ext cx="182834" cy="182880"/>
          </a:xfrm>
          <a:custGeom>
            <a:avLst/>
            <a:gdLst/>
            <a:ahLst/>
            <a:cxnLst/>
            <a:rect l="l" t="t" r="r" b="b"/>
            <a:pathLst>
              <a:path w="9998" h="10000">
                <a:moveTo>
                  <a:pt x="5415" y="254"/>
                </a:moveTo>
                <a:lnTo>
                  <a:pt x="9955" y="9188"/>
                </a:lnTo>
                <a:cubicBezTo>
                  <a:pt x="10018" y="9310"/>
                  <a:pt x="10032" y="9444"/>
                  <a:pt x="9998" y="9589"/>
                </a:cubicBezTo>
                <a:cubicBezTo>
                  <a:pt x="9963" y="9733"/>
                  <a:pt x="9888" y="9844"/>
                  <a:pt x="9774" y="9924"/>
                </a:cubicBezTo>
                <a:cubicBezTo>
                  <a:pt x="9704" y="9974"/>
                  <a:pt x="9625" y="10000"/>
                  <a:pt x="9536" y="10000"/>
                </a:cubicBezTo>
                <a:lnTo>
                  <a:pt x="476" y="10000"/>
                </a:lnTo>
                <a:cubicBezTo>
                  <a:pt x="342" y="10000"/>
                  <a:pt x="230" y="9946"/>
                  <a:pt x="138" y="9838"/>
                </a:cubicBezTo>
                <a:cubicBezTo>
                  <a:pt x="46" y="9729"/>
                  <a:pt x="0" y="9603"/>
                  <a:pt x="0" y="9459"/>
                </a:cubicBezTo>
                <a:cubicBezTo>
                  <a:pt x="0" y="9357"/>
                  <a:pt x="19" y="9267"/>
                  <a:pt x="57" y="9188"/>
                </a:cubicBezTo>
                <a:lnTo>
                  <a:pt x="4597" y="254"/>
                </a:lnTo>
                <a:cubicBezTo>
                  <a:pt x="4660" y="124"/>
                  <a:pt x="4755" y="40"/>
                  <a:pt x="4882" y="0"/>
                </a:cubicBezTo>
                <a:cubicBezTo>
                  <a:pt x="5009" y="-40"/>
                  <a:pt x="5130" y="-23"/>
                  <a:pt x="5244" y="49"/>
                </a:cubicBezTo>
                <a:cubicBezTo>
                  <a:pt x="5320" y="99"/>
                  <a:pt x="5377" y="168"/>
                  <a:pt x="5415" y="254"/>
                </a:cubicBezTo>
                <a:moveTo>
                  <a:pt x="5006" y="1608"/>
                </a:moveTo>
                <a:lnTo>
                  <a:pt x="1294" y="8917"/>
                </a:lnTo>
                <a:lnTo>
                  <a:pt x="8718" y="8917"/>
                </a:lnTo>
                <a:lnTo>
                  <a:pt x="5006" y="1608"/>
                </a:lnTo>
                <a:moveTo>
                  <a:pt x="4530" y="8376"/>
                </a:moveTo>
                <a:lnTo>
                  <a:pt x="4530" y="7293"/>
                </a:lnTo>
                <a:lnTo>
                  <a:pt x="5482" y="7293"/>
                </a:lnTo>
                <a:lnTo>
                  <a:pt x="5482" y="8376"/>
                </a:lnTo>
                <a:lnTo>
                  <a:pt x="4530" y="8376"/>
                </a:lnTo>
                <a:moveTo>
                  <a:pt x="4530" y="6210"/>
                </a:moveTo>
                <a:lnTo>
                  <a:pt x="4530" y="3503"/>
                </a:lnTo>
                <a:lnTo>
                  <a:pt x="5482" y="3503"/>
                </a:lnTo>
                <a:lnTo>
                  <a:pt x="5482" y="6210"/>
                </a:lnTo>
              </a:path>
            </a:pathLst>
          </a:custGeom>
          <a:solidFill>
            <a:srgbClr val="D97706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15" name="TextBox 15"/>
          <p:cNvSpPr txBox="1"/>
          <p:nvPr/>
        </p:nvSpPr>
        <p:spPr>
          <a:xfrm>
            <a:off x="951667" y="3960466"/>
            <a:ext cx="2894876" cy="3905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100" b="0" i="0" strike="noStrike">
                <a:solidFill>
                  <a:srgbClr val="0A1F3D">
                    <a:alpha val="90196"/>
                  </a:srgbClr>
                </a:solidFill>
                <a:latin typeface="AlibabaPuHuiTi"/>
                <a:ea typeface="AlibabaPuHuiTi"/>
                <a:cs typeface="AlibabaPuHuiTi"/>
              </a:rPr>
              <a:t>发现问题包括详情页跳转异常、封面上传不稳</a:t>
            </a:r>
            <a:endParaRPr lang="en-US" sz="1100"/>
          </a:p>
          <a:p>
            <a:pPr algn="l"/>
            <a:r>
              <a:rPr sz="1100" b="0" i="0" strike="noStrike">
                <a:solidFill>
                  <a:srgbClr val="0A1F3D">
                    <a:alpha val="90196"/>
                  </a:srgbClr>
                </a:solidFill>
                <a:latin typeface="AlibabaPuHuiTi"/>
                <a:ea typeface="AlibabaPuHuiTi"/>
                <a:cs typeface="AlibabaPuHuiTi"/>
              </a:rPr>
              <a:t>定、购物车和订单流程尚未完整打通</a:t>
            </a:r>
            <a:endParaRPr sz="1100" b="0" i="0" strike="noStrike">
              <a:solidFill>
                <a:srgbClr val="0A1F3D">
                  <a:alpha val="90196"/>
                </a:srgbClr>
              </a:solidFill>
              <a:latin typeface="AlibabaPuHuiTi"/>
              <a:ea typeface="AlibabaPuHuiTi"/>
              <a:cs typeface="AlibabaPuHuiTi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4291428" y="1493491"/>
            <a:ext cx="3609072" cy="4267200"/>
          </a:xfrm>
          <a:prstGeom prst="rect">
            <a:avLst/>
          </a:prstGeom>
          <a:blipFill rotWithShape="1">
            <a:blip r:embed="rId2">
              <a:alphaModFix amt="100000"/>
              <a:alphaModFix amt="100000"/>
            </a:blip>
            <a:stretch>
              <a:fillRect/>
            </a:stretch>
          </a:blipFill>
          <a:ln>
            <a:headEnd type="none"/>
            <a:tailEnd type="none"/>
          </a:ln>
        </p:spPr>
      </p:sp>
      <p:sp>
        <p:nvSpPr>
          <p:cNvPr id="17" name="AutoShape 17"/>
          <p:cNvSpPr/>
          <p:nvPr/>
        </p:nvSpPr>
        <p:spPr>
          <a:xfrm>
            <a:off x="4300950" y="2245966"/>
            <a:ext cx="3586903" cy="9525"/>
          </a:xfrm>
          <a:prstGeom prst="line">
            <a:avLst/>
          </a:prstGeom>
          <a:ln w="9525">
            <a:solidFill>
              <a:srgbClr val="DCE1E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8" name="AutoShape 18"/>
          <p:cNvSpPr/>
          <p:nvPr/>
        </p:nvSpPr>
        <p:spPr>
          <a:xfrm>
            <a:off x="4504125" y="1807816"/>
            <a:ext cx="228543" cy="228600"/>
          </a:xfrm>
          <a:custGeom>
            <a:avLst/>
            <a:gdLst/>
            <a:ahLst/>
            <a:cxnLst/>
            <a:rect l="l" t="t" r="r" b="b"/>
            <a:pathLst>
              <a:path w="9998" h="10000">
                <a:moveTo>
                  <a:pt x="0" y="0"/>
                </a:moveTo>
                <a:lnTo>
                  <a:pt x="5210" y="0"/>
                </a:lnTo>
                <a:cubicBezTo>
                  <a:pt x="5314" y="0"/>
                  <a:pt x="5410" y="26"/>
                  <a:pt x="5499" y="79"/>
                </a:cubicBezTo>
                <a:cubicBezTo>
                  <a:pt x="5587" y="131"/>
                  <a:pt x="5658" y="203"/>
                  <a:pt x="5710" y="295"/>
                </a:cubicBezTo>
                <a:lnTo>
                  <a:pt x="6110" y="1053"/>
                </a:lnTo>
                <a:lnTo>
                  <a:pt x="9443" y="1053"/>
                </a:lnTo>
                <a:cubicBezTo>
                  <a:pt x="9598" y="1053"/>
                  <a:pt x="9729" y="1103"/>
                  <a:pt x="9837" y="1205"/>
                </a:cubicBezTo>
                <a:cubicBezTo>
                  <a:pt x="9944" y="1307"/>
                  <a:pt x="9998" y="1431"/>
                  <a:pt x="9998" y="1579"/>
                </a:cubicBezTo>
                <a:lnTo>
                  <a:pt x="9998" y="7368"/>
                </a:lnTo>
                <a:cubicBezTo>
                  <a:pt x="9998" y="7515"/>
                  <a:pt x="9944" y="7640"/>
                  <a:pt x="9837" y="7742"/>
                </a:cubicBezTo>
                <a:cubicBezTo>
                  <a:pt x="9729" y="7844"/>
                  <a:pt x="9598" y="7895"/>
                  <a:pt x="9443" y="7895"/>
                </a:cubicBezTo>
                <a:lnTo>
                  <a:pt x="5899" y="7895"/>
                </a:lnTo>
                <a:cubicBezTo>
                  <a:pt x="5795" y="7895"/>
                  <a:pt x="5698" y="7868"/>
                  <a:pt x="5610" y="7816"/>
                </a:cubicBezTo>
                <a:cubicBezTo>
                  <a:pt x="5521" y="7763"/>
                  <a:pt x="5451" y="7691"/>
                  <a:pt x="5399" y="7600"/>
                </a:cubicBezTo>
                <a:lnTo>
                  <a:pt x="4999" y="6842"/>
                </a:lnTo>
                <a:lnTo>
                  <a:pt x="1111" y="6842"/>
                </a:lnTo>
                <a:lnTo>
                  <a:pt x="1111" y="10000"/>
                </a:lnTo>
                <a:lnTo>
                  <a:pt x="0" y="10000"/>
                </a:lnTo>
                <a:lnTo>
                  <a:pt x="0" y="0"/>
                </a:lnTo>
                <a:moveTo>
                  <a:pt x="5421" y="2105"/>
                </a:moveTo>
                <a:lnTo>
                  <a:pt x="4866" y="1053"/>
                </a:lnTo>
                <a:lnTo>
                  <a:pt x="1111" y="1053"/>
                </a:lnTo>
                <a:lnTo>
                  <a:pt x="1111" y="5789"/>
                </a:lnTo>
                <a:lnTo>
                  <a:pt x="5688" y="5789"/>
                </a:lnTo>
                <a:lnTo>
                  <a:pt x="6243" y="6842"/>
                </a:lnTo>
                <a:lnTo>
                  <a:pt x="8887" y="6842"/>
                </a:lnTo>
                <a:lnTo>
                  <a:pt x="8887" y="2105"/>
                </a:lnTo>
              </a:path>
            </a:pathLst>
          </a:custGeom>
          <a:solidFill>
            <a:srgbClr val="0A1F3D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19" name="TextBox 19"/>
          <p:cNvSpPr txBox="1"/>
          <p:nvPr/>
        </p:nvSpPr>
        <p:spPr>
          <a:xfrm>
            <a:off x="4821570" y="1817341"/>
            <a:ext cx="1190328" cy="2095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500" b="1" i="0" strike="noStrike">
                <a:solidFill>
                  <a:srgbClr val="0A1F3D">
                    <a:alpha val="100000"/>
                  </a:srgbClr>
                </a:solidFill>
                <a:latin typeface="Source Han Serif CN"/>
                <a:ea typeface="Source Han Serif CN"/>
                <a:cs typeface="Source Han Serif CN"/>
              </a:rPr>
              <a:t>结项阶段成果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4509198" y="2548846"/>
            <a:ext cx="182834" cy="182880"/>
          </a:xfrm>
          <a:custGeom>
            <a:avLst/>
            <a:gdLst/>
            <a:ahLst/>
            <a:cxnLst/>
            <a:rect l="l" t="t" r="r" b="b"/>
            <a:pathLst>
              <a:path w="9998" h="10000">
                <a:moveTo>
                  <a:pt x="3226" y="3538"/>
                </a:moveTo>
                <a:lnTo>
                  <a:pt x="4844" y="6478"/>
                </a:lnTo>
                <a:lnTo>
                  <a:pt x="5483" y="7641"/>
                </a:lnTo>
                <a:lnTo>
                  <a:pt x="9358" y="615"/>
                </a:lnTo>
                <a:lnTo>
                  <a:pt x="9998" y="1794"/>
                </a:lnTo>
                <a:lnTo>
                  <a:pt x="5483" y="10000"/>
                </a:lnTo>
                <a:lnTo>
                  <a:pt x="2577" y="4701"/>
                </a:lnTo>
                <a:lnTo>
                  <a:pt x="3226" y="3538"/>
                </a:lnTo>
                <a:moveTo>
                  <a:pt x="5483" y="5299"/>
                </a:moveTo>
                <a:lnTo>
                  <a:pt x="4844" y="4120"/>
                </a:lnTo>
                <a:lnTo>
                  <a:pt x="7101" y="0"/>
                </a:lnTo>
                <a:lnTo>
                  <a:pt x="7750" y="1179"/>
                </a:lnTo>
                <a:lnTo>
                  <a:pt x="5483" y="5299"/>
                </a:lnTo>
                <a:moveTo>
                  <a:pt x="1289" y="4701"/>
                </a:moveTo>
                <a:lnTo>
                  <a:pt x="3555" y="8821"/>
                </a:lnTo>
                <a:lnTo>
                  <a:pt x="2906" y="10000"/>
                </a:lnTo>
                <a:lnTo>
                  <a:pt x="0" y="4701"/>
                </a:lnTo>
                <a:lnTo>
                  <a:pt x="640" y="3538"/>
                </a:lnTo>
                <a:lnTo>
                  <a:pt x="1289" y="4701"/>
                </a:lnTo>
              </a:path>
            </a:pathLst>
          </a:custGeom>
          <a:solidFill>
            <a:srgbClr val="0A1F3D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21" name="TextBox 21"/>
          <p:cNvSpPr txBox="1"/>
          <p:nvPr/>
        </p:nvSpPr>
        <p:spPr>
          <a:xfrm>
            <a:off x="4786009" y="2512666"/>
            <a:ext cx="2894876" cy="6191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100" b="0" i="0" strike="noStrike">
                <a:solidFill>
                  <a:srgbClr val="0A1F3D">
                    <a:alpha val="90196"/>
                  </a:srgbClr>
                </a:solidFill>
                <a:latin typeface="AlibabaPuHuiTi"/>
                <a:ea typeface="AlibabaPuHuiTi"/>
                <a:cs typeface="AlibabaPuHuiTi"/>
              </a:rPr>
              <a:t>完成全部八大模块功能闭环，支持注册登录、</a:t>
            </a:r>
            <a:endParaRPr lang="en-US" sz="1100"/>
          </a:p>
          <a:p>
            <a:pPr algn="l"/>
            <a:r>
              <a:rPr sz="1100" b="0" i="0" strike="noStrike">
                <a:solidFill>
                  <a:srgbClr val="0A1F3D">
                    <a:alpha val="90196"/>
                  </a:srgbClr>
                </a:solidFill>
                <a:latin typeface="AlibabaPuHuiTi"/>
                <a:ea typeface="AlibabaPuHuiTi"/>
                <a:cs typeface="AlibabaPuHuiTi"/>
              </a:rPr>
              <a:t>图书发布浏览搜索、收藏购物车、下单付款发</a:t>
            </a:r>
            <a:endParaRPr sz="1100" b="0" i="0" strike="noStrike">
              <a:solidFill>
                <a:srgbClr val="0A1F3D">
                  <a:alpha val="90196"/>
                </a:srgbClr>
              </a:solidFill>
              <a:latin typeface="AlibabaPuHuiTi"/>
              <a:ea typeface="AlibabaPuHuiTi"/>
              <a:cs typeface="AlibabaPuHuiTi"/>
            </a:endParaRPr>
          </a:p>
          <a:p>
            <a:pPr algn="l"/>
            <a:r>
              <a:rPr sz="1100" b="0" i="0" strike="noStrike">
                <a:solidFill>
                  <a:srgbClr val="0A1F3D">
                    <a:alpha val="90196"/>
                  </a:srgbClr>
                </a:solidFill>
                <a:latin typeface="AlibabaPuHuiTi"/>
                <a:ea typeface="AlibabaPuHuiTi"/>
                <a:cs typeface="AlibabaPuHuiTi"/>
              </a:rPr>
              <a:t>货确认收货取消订单</a:t>
            </a:r>
            <a:endParaRPr sz="1100" b="0" i="0" strike="noStrike">
              <a:solidFill>
                <a:srgbClr val="0A1F3D">
                  <a:alpha val="90196"/>
                </a:srgbClr>
              </a:solidFill>
              <a:latin typeface="AlibabaPuHuiTi"/>
              <a:ea typeface="AlibabaPuHuiTi"/>
              <a:cs typeface="AlibabaPuHuiTi"/>
            </a:endParaRPr>
          </a:p>
        </p:txBody>
      </p:sp>
      <p:sp>
        <p:nvSpPr>
          <p:cNvPr id="22" name="AutoShape 22"/>
          <p:cNvSpPr/>
          <p:nvPr/>
        </p:nvSpPr>
        <p:spPr>
          <a:xfrm>
            <a:off x="4509198" y="3387046"/>
            <a:ext cx="182834" cy="182880"/>
          </a:xfrm>
          <a:custGeom>
            <a:avLst/>
            <a:gdLst/>
            <a:ahLst/>
            <a:cxnLst/>
            <a:rect l="l" t="t" r="r" b="b"/>
            <a:pathLst>
              <a:path w="9998" h="10000">
                <a:moveTo>
                  <a:pt x="3226" y="3538"/>
                </a:moveTo>
                <a:lnTo>
                  <a:pt x="4844" y="6478"/>
                </a:lnTo>
                <a:lnTo>
                  <a:pt x="5483" y="7641"/>
                </a:lnTo>
                <a:lnTo>
                  <a:pt x="9358" y="615"/>
                </a:lnTo>
                <a:lnTo>
                  <a:pt x="9998" y="1794"/>
                </a:lnTo>
                <a:lnTo>
                  <a:pt x="5483" y="10000"/>
                </a:lnTo>
                <a:lnTo>
                  <a:pt x="2577" y="4701"/>
                </a:lnTo>
                <a:lnTo>
                  <a:pt x="3226" y="3538"/>
                </a:lnTo>
                <a:moveTo>
                  <a:pt x="5483" y="5299"/>
                </a:moveTo>
                <a:lnTo>
                  <a:pt x="4844" y="4120"/>
                </a:lnTo>
                <a:lnTo>
                  <a:pt x="7101" y="0"/>
                </a:lnTo>
                <a:lnTo>
                  <a:pt x="7750" y="1179"/>
                </a:lnTo>
                <a:lnTo>
                  <a:pt x="5483" y="5299"/>
                </a:lnTo>
                <a:moveTo>
                  <a:pt x="1289" y="4701"/>
                </a:moveTo>
                <a:lnTo>
                  <a:pt x="3555" y="8821"/>
                </a:lnTo>
                <a:lnTo>
                  <a:pt x="2906" y="10000"/>
                </a:lnTo>
                <a:lnTo>
                  <a:pt x="0" y="4701"/>
                </a:lnTo>
                <a:lnTo>
                  <a:pt x="640" y="3538"/>
                </a:lnTo>
                <a:lnTo>
                  <a:pt x="1289" y="4701"/>
                </a:lnTo>
              </a:path>
            </a:pathLst>
          </a:custGeom>
          <a:solidFill>
            <a:srgbClr val="0A1F3D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23" name="TextBox 23"/>
          <p:cNvSpPr txBox="1"/>
          <p:nvPr/>
        </p:nvSpPr>
        <p:spPr>
          <a:xfrm>
            <a:off x="4786009" y="3350866"/>
            <a:ext cx="2884461" cy="6191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100" b="0" i="0" strike="noStrike">
                <a:solidFill>
                  <a:srgbClr val="0A1F3D">
                    <a:alpha val="90196"/>
                  </a:srgbClr>
                </a:solidFill>
                <a:latin typeface="AlibabaPuHuiTi"/>
                <a:ea typeface="AlibabaPuHuiTi"/>
                <a:cs typeface="AlibabaPuHuiTi"/>
              </a:rPr>
              <a:t>实现 JWT 登录认证、BCrypt 密码加密、前端</a:t>
            </a:r>
            <a:endParaRPr lang="en-US" sz="1100"/>
          </a:p>
          <a:p>
            <a:pPr algn="l"/>
            <a:r>
              <a:rPr sz="1100" b="0" i="0" strike="noStrike">
                <a:solidFill>
                  <a:srgbClr val="0A1F3D">
                    <a:alpha val="90196"/>
                  </a:srgbClr>
                </a:solidFill>
                <a:latin typeface="AlibabaPuHuiTi"/>
                <a:ea typeface="AlibabaPuHuiTi"/>
                <a:cs typeface="AlibabaPuHuiTi"/>
              </a:rPr>
              <a:t>路由权限控制、MyBatis 数据访问、文件上传</a:t>
            </a:r>
            <a:endParaRPr sz="1100" b="0" i="0" strike="noStrike">
              <a:solidFill>
                <a:srgbClr val="0A1F3D">
                  <a:alpha val="90196"/>
                </a:srgbClr>
              </a:solidFill>
              <a:latin typeface="AlibabaPuHuiTi"/>
              <a:ea typeface="AlibabaPuHuiTi"/>
              <a:cs typeface="AlibabaPuHuiTi"/>
            </a:endParaRPr>
          </a:p>
          <a:p>
            <a:pPr algn="l"/>
            <a:r>
              <a:rPr sz="1100" b="0" i="0" strike="noStrike">
                <a:solidFill>
                  <a:srgbClr val="0A1F3D">
                    <a:alpha val="90196"/>
                  </a:srgbClr>
                </a:solidFill>
                <a:latin typeface="AlibabaPuHuiTi"/>
                <a:ea typeface="AlibabaPuHuiTi"/>
                <a:cs typeface="AlibabaPuHuiTi"/>
              </a:rPr>
              <a:t>清理、订单状态流转</a:t>
            </a:r>
            <a:endParaRPr sz="1100" b="0" i="0" strike="noStrike">
              <a:solidFill>
                <a:srgbClr val="0A1F3D">
                  <a:alpha val="90196"/>
                </a:srgbClr>
              </a:solidFill>
              <a:latin typeface="AlibabaPuHuiTi"/>
              <a:ea typeface="AlibabaPuHuiTi"/>
              <a:cs typeface="AlibabaPuHuiTi"/>
            </a:endParaRPr>
          </a:p>
        </p:txBody>
      </p:sp>
      <p:sp>
        <p:nvSpPr>
          <p:cNvPr id="24" name="AutoShape 24"/>
          <p:cNvSpPr/>
          <p:nvPr/>
        </p:nvSpPr>
        <p:spPr>
          <a:xfrm>
            <a:off x="4509198" y="4225246"/>
            <a:ext cx="182834" cy="182880"/>
          </a:xfrm>
          <a:custGeom>
            <a:avLst/>
            <a:gdLst/>
            <a:ahLst/>
            <a:cxnLst/>
            <a:rect l="l" t="t" r="r" b="b"/>
            <a:pathLst>
              <a:path w="9998" h="10000">
                <a:moveTo>
                  <a:pt x="3226" y="3538"/>
                </a:moveTo>
                <a:lnTo>
                  <a:pt x="4844" y="6478"/>
                </a:lnTo>
                <a:lnTo>
                  <a:pt x="5483" y="7641"/>
                </a:lnTo>
                <a:lnTo>
                  <a:pt x="9358" y="615"/>
                </a:lnTo>
                <a:lnTo>
                  <a:pt x="9998" y="1794"/>
                </a:lnTo>
                <a:lnTo>
                  <a:pt x="5483" y="10000"/>
                </a:lnTo>
                <a:lnTo>
                  <a:pt x="2577" y="4701"/>
                </a:lnTo>
                <a:lnTo>
                  <a:pt x="3226" y="3538"/>
                </a:lnTo>
                <a:moveTo>
                  <a:pt x="5483" y="5299"/>
                </a:moveTo>
                <a:lnTo>
                  <a:pt x="4844" y="4120"/>
                </a:lnTo>
                <a:lnTo>
                  <a:pt x="7101" y="0"/>
                </a:lnTo>
                <a:lnTo>
                  <a:pt x="7750" y="1179"/>
                </a:lnTo>
                <a:lnTo>
                  <a:pt x="5483" y="5299"/>
                </a:lnTo>
                <a:moveTo>
                  <a:pt x="1289" y="4701"/>
                </a:moveTo>
                <a:lnTo>
                  <a:pt x="3555" y="8821"/>
                </a:lnTo>
                <a:lnTo>
                  <a:pt x="2906" y="10000"/>
                </a:lnTo>
                <a:lnTo>
                  <a:pt x="0" y="4701"/>
                </a:lnTo>
                <a:lnTo>
                  <a:pt x="640" y="3538"/>
                </a:lnTo>
                <a:lnTo>
                  <a:pt x="1289" y="4701"/>
                </a:lnTo>
              </a:path>
            </a:pathLst>
          </a:custGeom>
          <a:solidFill>
            <a:srgbClr val="0A1F3D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25" name="TextBox 25"/>
          <p:cNvSpPr txBox="1"/>
          <p:nvPr/>
        </p:nvSpPr>
        <p:spPr>
          <a:xfrm>
            <a:off x="4786009" y="4189066"/>
            <a:ext cx="2894876" cy="3905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100" b="0" i="0" strike="noStrike">
                <a:solidFill>
                  <a:srgbClr val="0A1F3D">
                    <a:alpha val="90196"/>
                  </a:srgbClr>
                </a:solidFill>
                <a:latin typeface="AlibabaPuHuiTi"/>
                <a:ea typeface="AlibabaPuHuiTi"/>
                <a:cs typeface="AlibabaPuHuiTi"/>
              </a:rPr>
              <a:t>管理员后台实现用户管理、分类管理、订单管</a:t>
            </a:r>
            <a:endParaRPr lang="en-US" sz="1100"/>
          </a:p>
          <a:p>
            <a:pPr algn="l"/>
            <a:r>
              <a:rPr sz="1100" b="0" i="0" strike="noStrike">
                <a:solidFill>
                  <a:srgbClr val="0A1F3D">
                    <a:alpha val="90196"/>
                  </a:srgbClr>
                </a:solidFill>
                <a:latin typeface="AlibabaPuHuiTi"/>
                <a:ea typeface="AlibabaPuHuiTi"/>
                <a:cs typeface="AlibabaPuHuiTi"/>
              </a:rPr>
              <a:t>理、公告管理，20 项测试用例全部通过验证</a:t>
            </a:r>
            <a:endParaRPr sz="1100" b="0" i="0" strike="noStrike">
              <a:solidFill>
                <a:srgbClr val="0A1F3D">
                  <a:alpha val="90196"/>
                </a:srgbClr>
              </a:solidFill>
              <a:latin typeface="AlibabaPuHuiTi"/>
              <a:ea typeface="AlibabaPuHuiTi"/>
              <a:cs typeface="AlibabaPuHuiTi"/>
            </a:endParaRPr>
          </a:p>
        </p:txBody>
      </p:sp>
      <p:sp>
        <p:nvSpPr>
          <p:cNvPr id="26" name="AutoShape 26"/>
          <p:cNvSpPr/>
          <p:nvPr/>
        </p:nvSpPr>
        <p:spPr>
          <a:xfrm>
            <a:off x="8125918" y="1493491"/>
            <a:ext cx="3609072" cy="4267200"/>
          </a:xfrm>
          <a:prstGeom prst="rect">
            <a:avLst/>
          </a:prstGeom>
          <a:blipFill rotWithShape="1">
            <a:blip r:embed="rId3">
              <a:alphaModFix amt="100000"/>
              <a:alphaModFix amt="100000"/>
            </a:blip>
            <a:stretch>
              <a:fillRect/>
            </a:stretch>
          </a:blipFill>
          <a:ln>
            <a:headEnd type="none"/>
            <a:tailEnd type="none"/>
          </a:ln>
        </p:spPr>
      </p:sp>
      <p:sp>
        <p:nvSpPr>
          <p:cNvPr id="27" name="AutoShape 27"/>
          <p:cNvSpPr/>
          <p:nvPr/>
        </p:nvSpPr>
        <p:spPr>
          <a:xfrm>
            <a:off x="8135441" y="2245966"/>
            <a:ext cx="3586903" cy="9525"/>
          </a:xfrm>
          <a:prstGeom prst="line">
            <a:avLst/>
          </a:prstGeom>
          <a:ln w="9525">
            <a:solidFill>
              <a:srgbClr val="DCE1E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28" name="AutoShape 28"/>
          <p:cNvSpPr/>
          <p:nvPr/>
        </p:nvSpPr>
        <p:spPr>
          <a:xfrm>
            <a:off x="8338616" y="1807816"/>
            <a:ext cx="228543" cy="228600"/>
          </a:xfrm>
          <a:custGeom>
            <a:avLst/>
            <a:gdLst/>
            <a:ahLst/>
            <a:cxnLst/>
            <a:rect l="l" t="t" r="r" b="b"/>
            <a:pathLst>
              <a:path w="9998" h="10000">
                <a:moveTo>
                  <a:pt x="2604" y="1372"/>
                </a:moveTo>
                <a:lnTo>
                  <a:pt x="1302" y="70"/>
                </a:lnTo>
                <a:cubicBezTo>
                  <a:pt x="1666" y="-62"/>
                  <a:pt x="2040" y="-85"/>
                  <a:pt x="2424" y="0"/>
                </a:cubicBezTo>
                <a:cubicBezTo>
                  <a:pt x="2807" y="85"/>
                  <a:pt x="3142" y="267"/>
                  <a:pt x="3430" y="547"/>
                </a:cubicBezTo>
                <a:cubicBezTo>
                  <a:pt x="3747" y="872"/>
                  <a:pt x="3937" y="1257"/>
                  <a:pt x="3999" y="1703"/>
                </a:cubicBezTo>
                <a:cubicBezTo>
                  <a:pt x="4061" y="2149"/>
                  <a:pt x="3987" y="2565"/>
                  <a:pt x="3778" y="2953"/>
                </a:cubicBezTo>
                <a:lnTo>
                  <a:pt x="9998" y="9186"/>
                </a:lnTo>
                <a:lnTo>
                  <a:pt x="9184" y="10000"/>
                </a:lnTo>
                <a:lnTo>
                  <a:pt x="2953" y="3779"/>
                </a:lnTo>
                <a:cubicBezTo>
                  <a:pt x="2565" y="3988"/>
                  <a:pt x="2149" y="4062"/>
                  <a:pt x="1703" y="4000"/>
                </a:cubicBezTo>
                <a:cubicBezTo>
                  <a:pt x="1257" y="3938"/>
                  <a:pt x="872" y="3748"/>
                  <a:pt x="546" y="3430"/>
                </a:cubicBezTo>
                <a:cubicBezTo>
                  <a:pt x="267" y="3143"/>
                  <a:pt x="85" y="2808"/>
                  <a:pt x="0" y="2424"/>
                </a:cubicBezTo>
                <a:cubicBezTo>
                  <a:pt x="-85" y="2040"/>
                  <a:pt x="-62" y="1666"/>
                  <a:pt x="70" y="1302"/>
                </a:cubicBezTo>
                <a:lnTo>
                  <a:pt x="1372" y="2605"/>
                </a:lnTo>
                <a:cubicBezTo>
                  <a:pt x="1542" y="2775"/>
                  <a:pt x="1748" y="2860"/>
                  <a:pt x="1988" y="2860"/>
                </a:cubicBezTo>
                <a:cubicBezTo>
                  <a:pt x="2228" y="2860"/>
                  <a:pt x="2433" y="2775"/>
                  <a:pt x="2604" y="2605"/>
                </a:cubicBezTo>
                <a:cubicBezTo>
                  <a:pt x="2774" y="2434"/>
                  <a:pt x="2860" y="2228"/>
                  <a:pt x="2860" y="1988"/>
                </a:cubicBezTo>
                <a:cubicBezTo>
                  <a:pt x="2860" y="1748"/>
                  <a:pt x="2774" y="1542"/>
                  <a:pt x="2604" y="1372"/>
                </a:cubicBezTo>
                <a:moveTo>
                  <a:pt x="7126" y="2186"/>
                </a:moveTo>
                <a:lnTo>
                  <a:pt x="7324" y="1163"/>
                </a:lnTo>
                <a:lnTo>
                  <a:pt x="9184" y="140"/>
                </a:lnTo>
                <a:lnTo>
                  <a:pt x="9998" y="953"/>
                </a:lnTo>
                <a:lnTo>
                  <a:pt x="8975" y="2802"/>
                </a:lnTo>
                <a:lnTo>
                  <a:pt x="7940" y="3012"/>
                </a:lnTo>
                <a:lnTo>
                  <a:pt x="6708" y="4244"/>
                </a:lnTo>
                <a:lnTo>
                  <a:pt x="5894" y="3430"/>
                </a:lnTo>
                <a:lnTo>
                  <a:pt x="7126" y="2186"/>
                </a:lnTo>
                <a:moveTo>
                  <a:pt x="337" y="8977"/>
                </a:moveTo>
                <a:lnTo>
                  <a:pt x="3430" y="5895"/>
                </a:lnTo>
                <a:lnTo>
                  <a:pt x="4243" y="6709"/>
                </a:lnTo>
                <a:lnTo>
                  <a:pt x="1163" y="9802"/>
                </a:lnTo>
                <a:cubicBezTo>
                  <a:pt x="1046" y="9910"/>
                  <a:pt x="908" y="9965"/>
                  <a:pt x="750" y="9965"/>
                </a:cubicBezTo>
                <a:cubicBezTo>
                  <a:pt x="591" y="9965"/>
                  <a:pt x="457" y="9910"/>
                  <a:pt x="349" y="9802"/>
                </a:cubicBezTo>
                <a:cubicBezTo>
                  <a:pt x="240" y="9694"/>
                  <a:pt x="182" y="9566"/>
                  <a:pt x="174" y="9419"/>
                </a:cubicBezTo>
                <a:cubicBezTo>
                  <a:pt x="166" y="9271"/>
                  <a:pt x="205" y="9139"/>
                  <a:pt x="291" y="9023"/>
                </a:cubicBezTo>
              </a:path>
            </a:pathLst>
          </a:custGeom>
          <a:solidFill>
            <a:srgbClr val="4B5563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29" name="TextBox 29"/>
          <p:cNvSpPr txBox="1"/>
          <p:nvPr/>
        </p:nvSpPr>
        <p:spPr>
          <a:xfrm>
            <a:off x="8656061" y="1817341"/>
            <a:ext cx="999875" cy="2095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500" b="1" i="0" strike="noStrike">
                <a:solidFill>
                  <a:srgbClr val="0A1F3D">
                    <a:alpha val="100000"/>
                  </a:srgbClr>
                </a:solidFill>
                <a:latin typeface="Source Han Serif CN"/>
                <a:ea typeface="Source Han Serif CN"/>
                <a:cs typeface="Source Han Serif CN"/>
              </a:rPr>
              <a:t>不足与改进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8343689" y="2548846"/>
            <a:ext cx="182834" cy="182880"/>
          </a:xfrm>
          <a:custGeom>
            <a:avLst/>
            <a:gdLst/>
            <a:ahLst/>
            <a:cxnLst/>
            <a:rect l="l" t="t" r="r" b="b"/>
            <a:pathLst>
              <a:path w="9998" h="10000">
                <a:moveTo>
                  <a:pt x="0" y="4357"/>
                </a:moveTo>
                <a:lnTo>
                  <a:pt x="7611" y="4357"/>
                </a:lnTo>
                <a:lnTo>
                  <a:pt x="4249" y="913"/>
                </a:lnTo>
                <a:lnTo>
                  <a:pt x="5136" y="0"/>
                </a:lnTo>
                <a:lnTo>
                  <a:pt x="9998" y="5000"/>
                </a:lnTo>
                <a:lnTo>
                  <a:pt x="5136" y="10000"/>
                </a:lnTo>
                <a:lnTo>
                  <a:pt x="4249" y="9087"/>
                </a:lnTo>
                <a:lnTo>
                  <a:pt x="7611" y="5643"/>
                </a:lnTo>
                <a:lnTo>
                  <a:pt x="0" y="5643"/>
                </a:lnTo>
              </a:path>
            </a:pathLst>
          </a:custGeom>
          <a:solidFill>
            <a:srgbClr val="4B5563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31" name="TextBox 31"/>
          <p:cNvSpPr txBox="1"/>
          <p:nvPr/>
        </p:nvSpPr>
        <p:spPr>
          <a:xfrm>
            <a:off x="8620500" y="2512666"/>
            <a:ext cx="2894876" cy="3905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100" b="0" i="0" strike="noStrike">
                <a:solidFill>
                  <a:srgbClr val="0A1F3D">
                    <a:alpha val="90196"/>
                  </a:srgbClr>
                </a:solidFill>
                <a:latin typeface="AlibabaPuHuiTi"/>
                <a:ea typeface="AlibabaPuHuiTi"/>
                <a:cs typeface="AlibabaPuHuiTi"/>
              </a:rPr>
              <a:t>交易支付为模拟流程未接入真实支付平台，图</a:t>
            </a:r>
            <a:endParaRPr lang="en-US" sz="1100"/>
          </a:p>
          <a:p>
            <a:pPr algn="l"/>
            <a:r>
              <a:rPr sz="1100" b="0" i="0" strike="noStrike">
                <a:solidFill>
                  <a:srgbClr val="0A1F3D">
                    <a:alpha val="90196"/>
                  </a:srgbClr>
                </a:solidFill>
                <a:latin typeface="AlibabaPuHuiTi"/>
                <a:ea typeface="AlibabaPuHuiTi"/>
                <a:cs typeface="AlibabaPuHuiTi"/>
              </a:rPr>
              <a:t>书发布缺少审核机制，缺少站内消息通知能力</a:t>
            </a:r>
            <a:endParaRPr sz="1100" b="0" i="0" strike="noStrike">
              <a:solidFill>
                <a:srgbClr val="0A1F3D">
                  <a:alpha val="90196"/>
                </a:srgbClr>
              </a:solidFill>
              <a:latin typeface="AlibabaPuHuiTi"/>
              <a:ea typeface="AlibabaPuHuiTi"/>
              <a:cs typeface="AlibabaPuHuiTi"/>
            </a:endParaRPr>
          </a:p>
        </p:txBody>
      </p:sp>
      <p:sp>
        <p:nvSpPr>
          <p:cNvPr id="32" name="AutoShape 32"/>
          <p:cNvSpPr/>
          <p:nvPr/>
        </p:nvSpPr>
        <p:spPr>
          <a:xfrm>
            <a:off x="8343689" y="3158446"/>
            <a:ext cx="182834" cy="182880"/>
          </a:xfrm>
          <a:custGeom>
            <a:avLst/>
            <a:gdLst/>
            <a:ahLst/>
            <a:cxnLst/>
            <a:rect l="l" t="t" r="r" b="b"/>
            <a:pathLst>
              <a:path w="9998" h="10000">
                <a:moveTo>
                  <a:pt x="0" y="4357"/>
                </a:moveTo>
                <a:lnTo>
                  <a:pt x="7611" y="4357"/>
                </a:lnTo>
                <a:lnTo>
                  <a:pt x="4249" y="913"/>
                </a:lnTo>
                <a:lnTo>
                  <a:pt x="5136" y="0"/>
                </a:lnTo>
                <a:lnTo>
                  <a:pt x="9998" y="5000"/>
                </a:lnTo>
                <a:lnTo>
                  <a:pt x="5136" y="10000"/>
                </a:lnTo>
                <a:lnTo>
                  <a:pt x="4249" y="9087"/>
                </a:lnTo>
                <a:lnTo>
                  <a:pt x="7611" y="5643"/>
                </a:lnTo>
                <a:lnTo>
                  <a:pt x="0" y="5643"/>
                </a:lnTo>
              </a:path>
            </a:pathLst>
          </a:custGeom>
          <a:solidFill>
            <a:srgbClr val="4B5563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33" name="TextBox 33"/>
          <p:cNvSpPr txBox="1"/>
          <p:nvPr/>
        </p:nvSpPr>
        <p:spPr>
          <a:xfrm>
            <a:off x="8620500" y="3122266"/>
            <a:ext cx="2894876" cy="3905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100" b="0" i="0" strike="noStrike">
                <a:solidFill>
                  <a:srgbClr val="0A1F3D">
                    <a:alpha val="90196"/>
                  </a:srgbClr>
                </a:solidFill>
                <a:latin typeface="AlibabaPuHuiTi"/>
                <a:ea typeface="AlibabaPuHuiTi"/>
                <a:cs typeface="AlibabaPuHuiTi"/>
              </a:rPr>
              <a:t>测试以人工为主可补充自动化测试，图片存储</a:t>
            </a:r>
            <a:endParaRPr lang="en-US" sz="1100"/>
          </a:p>
          <a:p>
            <a:pPr algn="l"/>
            <a:r>
              <a:rPr sz="1100" b="0" i="0" strike="noStrike">
                <a:solidFill>
                  <a:srgbClr val="0A1F3D">
                    <a:alpha val="90196"/>
                  </a:srgbClr>
                </a:solidFill>
                <a:latin typeface="AlibabaPuHuiTi"/>
                <a:ea typeface="AlibabaPuHuiTi"/>
                <a:cs typeface="AlibabaPuHuiTi"/>
              </a:rPr>
              <a:t>本地可迁移对象存储，搜索可优化为全文检索</a:t>
            </a:r>
            <a:endParaRPr sz="1100" b="0" i="0" strike="noStrike">
              <a:solidFill>
                <a:srgbClr val="0A1F3D">
                  <a:alpha val="90196"/>
                </a:srgbClr>
              </a:solidFill>
              <a:latin typeface="AlibabaPuHuiTi"/>
              <a:ea typeface="AlibabaPuHuiTi"/>
              <a:cs typeface="AlibabaPuHuiTi"/>
            </a:endParaRPr>
          </a:p>
        </p:txBody>
      </p:sp>
      <p:sp>
        <p:nvSpPr>
          <p:cNvPr id="34" name="AutoShape 34"/>
          <p:cNvSpPr/>
          <p:nvPr/>
        </p:nvSpPr>
        <p:spPr>
          <a:xfrm>
            <a:off x="457086" y="6067425"/>
            <a:ext cx="11274781" cy="9525"/>
          </a:xfrm>
          <a:prstGeom prst="line">
            <a:avLst/>
          </a:prstGeom>
          <a:ln w="9525">
            <a:solidFill>
              <a:srgbClr val="DCE1E6">
                <a:alpha val="60000"/>
              </a:srgbClr>
            </a:solidFill>
            <a:prstDash val="solid"/>
            <a:headEnd type="none"/>
            <a:tailEnd type="none"/>
          </a:ln>
        </p:spPr>
      </p:sp>
      <p:sp>
        <p:nvSpPr>
          <p:cNvPr id="35" name="TextBox 35"/>
          <p:cNvSpPr txBox="1"/>
          <p:nvPr/>
        </p:nvSpPr>
        <p:spPr>
          <a:xfrm>
            <a:off x="457086" y="6248400"/>
            <a:ext cx="765827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solidFill>
                  <a:srgbClr val="0A1F3D">
                    <a:alpha val="100000"/>
                  </a:srgbClr>
                </a:solidFill>
                <a:latin typeface="Inter"/>
                <a:ea typeface="Inter"/>
                <a:cs typeface="Inter"/>
              </a:rPr>
              <a:t>项目总结 · 13</a:t>
            </a:r>
            <a:endParaRPr lang="en-US" sz="1100"/>
          </a:p>
        </p:txBody>
      </p:sp>
      <p:sp>
        <p:nvSpPr>
          <p:cNvPr id="36" name="TextBox 36"/>
          <p:cNvSpPr txBox="1"/>
          <p:nvPr/>
        </p:nvSpPr>
        <p:spPr>
          <a:xfrm>
            <a:off x="9693281" y="6248400"/>
            <a:ext cx="2067152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solidFill>
                  <a:srgbClr val="0A1F3D">
                    <a:alpha val="100000"/>
                  </a:srgbClr>
                </a:solidFill>
                <a:latin typeface="Inter"/>
                <a:ea typeface="Inter"/>
                <a:cs typeface="Inter"/>
              </a:rPr>
              <a:t>校园二手图书交易平台 - 项目结项答辩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333333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3" name="AutoShap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3F5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4" name="TextBox 4"/>
          <p:cNvSpPr txBox="1"/>
          <p:nvPr/>
        </p:nvSpPr>
        <p:spPr>
          <a:xfrm>
            <a:off x="457086" y="476250"/>
            <a:ext cx="11274781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solidFill>
                  <a:srgbClr val="5B8CB8">
                    <a:alpha val="60000"/>
                  </a:srgbClr>
                </a:solidFill>
                <a:latin typeface="Inter"/>
                <a:ea typeface="Inter"/>
                <a:cs typeface="Inter"/>
              </a:rPr>
              <a:t>PROJECT MANAGEMENT</a:t>
            </a:r>
            <a:endParaRPr lang="en-US" sz="1100"/>
          </a:p>
        </p:txBody>
      </p:sp>
      <p:sp>
        <p:nvSpPr>
          <p:cNvPr id="5" name="TextBox 5"/>
          <p:cNvSpPr txBox="1"/>
          <p:nvPr/>
        </p:nvSpPr>
        <p:spPr>
          <a:xfrm>
            <a:off x="457086" y="741016"/>
            <a:ext cx="11274781" cy="4286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3000" b="1" i="0" strike="noStrike">
                <a:solidFill>
                  <a:srgbClr val="0A1F3D">
                    <a:alpha val="100000"/>
                  </a:srgbClr>
                </a:solidFill>
                <a:latin typeface="Source Han Serif CN"/>
                <a:ea typeface="Source Han Serif CN"/>
                <a:cs typeface="Source Han Serif CN"/>
              </a:rPr>
              <a:t>团队分工与项目管理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457086" y="1493491"/>
            <a:ext cx="5485028" cy="4905375"/>
          </a:xfrm>
          <a:prstGeom prst="roundRect">
            <a:avLst>
              <a:gd name="adj" fmla="val 289"/>
            </a:avLst>
          </a:prstGeom>
          <a:blipFill rotWithShape="1">
            <a:blip r:embed="rId1">
              <a:alphaModFix amt="100000"/>
              <a:alphaModFix amt="100000"/>
            </a:blip>
            <a:stretch>
              <a:fillRect/>
            </a:stretch>
          </a:blipFill>
          <a:ln>
            <a:headEnd type="none"/>
            <a:tailEnd type="none"/>
          </a:ln>
        </p:spPr>
      </p:sp>
      <p:sp>
        <p:nvSpPr>
          <p:cNvPr id="7" name="AutoShape 7"/>
          <p:cNvSpPr/>
          <p:nvPr/>
        </p:nvSpPr>
        <p:spPr>
          <a:xfrm>
            <a:off x="669783" y="1788766"/>
            <a:ext cx="228543" cy="228600"/>
          </a:xfrm>
          <a:custGeom>
            <a:avLst/>
            <a:gdLst/>
            <a:ahLst/>
            <a:cxnLst/>
            <a:rect l="l" t="t" r="r" b="b"/>
            <a:pathLst>
              <a:path w="9998" h="10000">
                <a:moveTo>
                  <a:pt x="4999" y="4500"/>
                </a:moveTo>
                <a:cubicBezTo>
                  <a:pt x="5452" y="4500"/>
                  <a:pt x="5870" y="4611"/>
                  <a:pt x="6254" y="4835"/>
                </a:cubicBezTo>
                <a:cubicBezTo>
                  <a:pt x="6637" y="5058"/>
                  <a:pt x="6940" y="5361"/>
                  <a:pt x="7164" y="5745"/>
                </a:cubicBezTo>
                <a:cubicBezTo>
                  <a:pt x="7387" y="6128"/>
                  <a:pt x="7499" y="6546"/>
                  <a:pt x="7499" y="7000"/>
                </a:cubicBezTo>
                <a:lnTo>
                  <a:pt x="7499" y="10000"/>
                </a:lnTo>
                <a:lnTo>
                  <a:pt x="6499" y="10000"/>
                </a:lnTo>
                <a:lnTo>
                  <a:pt x="6499" y="7000"/>
                </a:lnTo>
                <a:cubicBezTo>
                  <a:pt x="6499" y="6740"/>
                  <a:pt x="6435" y="6498"/>
                  <a:pt x="6309" y="6275"/>
                </a:cubicBezTo>
                <a:cubicBezTo>
                  <a:pt x="6182" y="6051"/>
                  <a:pt x="6012" y="5871"/>
                  <a:pt x="5799" y="5735"/>
                </a:cubicBezTo>
                <a:cubicBezTo>
                  <a:pt x="5585" y="5598"/>
                  <a:pt x="5349" y="5520"/>
                  <a:pt x="5089" y="5500"/>
                </a:cubicBezTo>
                <a:lnTo>
                  <a:pt x="4999" y="5500"/>
                </a:lnTo>
                <a:cubicBezTo>
                  <a:pt x="4739" y="5500"/>
                  <a:pt x="4497" y="5563"/>
                  <a:pt x="4274" y="5690"/>
                </a:cubicBezTo>
                <a:cubicBezTo>
                  <a:pt x="4050" y="5816"/>
                  <a:pt x="3870" y="5986"/>
                  <a:pt x="3734" y="6200"/>
                </a:cubicBezTo>
                <a:cubicBezTo>
                  <a:pt x="3597" y="6413"/>
                  <a:pt x="3519" y="6650"/>
                  <a:pt x="3499" y="6910"/>
                </a:cubicBezTo>
                <a:lnTo>
                  <a:pt x="3499" y="10000"/>
                </a:lnTo>
                <a:lnTo>
                  <a:pt x="2500" y="10000"/>
                </a:lnTo>
                <a:lnTo>
                  <a:pt x="2500" y="7000"/>
                </a:lnTo>
                <a:cubicBezTo>
                  <a:pt x="2500" y="6546"/>
                  <a:pt x="2611" y="6128"/>
                  <a:pt x="2834" y="5745"/>
                </a:cubicBezTo>
                <a:cubicBezTo>
                  <a:pt x="3057" y="5361"/>
                  <a:pt x="3360" y="5058"/>
                  <a:pt x="3744" y="4835"/>
                </a:cubicBezTo>
                <a:cubicBezTo>
                  <a:pt x="4127" y="4611"/>
                  <a:pt x="4545" y="4500"/>
                  <a:pt x="4999" y="4500"/>
                </a:cubicBezTo>
                <a:moveTo>
                  <a:pt x="1750" y="6000"/>
                </a:moveTo>
                <a:cubicBezTo>
                  <a:pt x="1890" y="6000"/>
                  <a:pt x="2026" y="6016"/>
                  <a:pt x="2160" y="6050"/>
                </a:cubicBezTo>
                <a:cubicBezTo>
                  <a:pt x="2073" y="6303"/>
                  <a:pt x="2020" y="6563"/>
                  <a:pt x="2000" y="6830"/>
                </a:cubicBezTo>
                <a:lnTo>
                  <a:pt x="2000" y="7040"/>
                </a:lnTo>
                <a:cubicBezTo>
                  <a:pt x="1940" y="7020"/>
                  <a:pt x="1880" y="7006"/>
                  <a:pt x="1820" y="7000"/>
                </a:cubicBezTo>
                <a:lnTo>
                  <a:pt x="1750" y="7000"/>
                </a:lnTo>
                <a:cubicBezTo>
                  <a:pt x="1556" y="7000"/>
                  <a:pt x="1388" y="7065"/>
                  <a:pt x="1245" y="7195"/>
                </a:cubicBezTo>
                <a:cubicBezTo>
                  <a:pt x="1101" y="7325"/>
                  <a:pt x="1020" y="7486"/>
                  <a:pt x="1000" y="7680"/>
                </a:cubicBezTo>
                <a:lnTo>
                  <a:pt x="1000" y="7750"/>
                </a:lnTo>
                <a:lnTo>
                  <a:pt x="1000" y="10000"/>
                </a:lnTo>
                <a:lnTo>
                  <a:pt x="0" y="10000"/>
                </a:lnTo>
                <a:lnTo>
                  <a:pt x="0" y="7750"/>
                </a:lnTo>
                <a:cubicBezTo>
                  <a:pt x="0" y="7430"/>
                  <a:pt x="78" y="7136"/>
                  <a:pt x="235" y="6870"/>
                </a:cubicBezTo>
                <a:cubicBezTo>
                  <a:pt x="391" y="6603"/>
                  <a:pt x="603" y="6391"/>
                  <a:pt x="870" y="6235"/>
                </a:cubicBezTo>
                <a:cubicBezTo>
                  <a:pt x="1136" y="6078"/>
                  <a:pt x="1430" y="6000"/>
                  <a:pt x="1750" y="6000"/>
                </a:cubicBezTo>
                <a:moveTo>
                  <a:pt x="8248" y="6000"/>
                </a:moveTo>
                <a:cubicBezTo>
                  <a:pt x="8568" y="6000"/>
                  <a:pt x="8861" y="6078"/>
                  <a:pt x="9128" y="6235"/>
                </a:cubicBezTo>
                <a:cubicBezTo>
                  <a:pt x="9394" y="6391"/>
                  <a:pt x="9606" y="6603"/>
                  <a:pt x="9763" y="6870"/>
                </a:cubicBezTo>
                <a:cubicBezTo>
                  <a:pt x="9919" y="7136"/>
                  <a:pt x="9998" y="7430"/>
                  <a:pt x="9998" y="7750"/>
                </a:cubicBezTo>
                <a:lnTo>
                  <a:pt x="9998" y="10000"/>
                </a:lnTo>
                <a:lnTo>
                  <a:pt x="8998" y="10000"/>
                </a:lnTo>
                <a:lnTo>
                  <a:pt x="8998" y="7750"/>
                </a:lnTo>
                <a:cubicBezTo>
                  <a:pt x="8998" y="7556"/>
                  <a:pt x="8933" y="7388"/>
                  <a:pt x="8803" y="7245"/>
                </a:cubicBezTo>
                <a:cubicBezTo>
                  <a:pt x="8673" y="7101"/>
                  <a:pt x="8511" y="7020"/>
                  <a:pt x="8318" y="7000"/>
                </a:cubicBezTo>
                <a:lnTo>
                  <a:pt x="8248" y="7000"/>
                </a:lnTo>
                <a:cubicBezTo>
                  <a:pt x="8161" y="7000"/>
                  <a:pt x="8078" y="7013"/>
                  <a:pt x="7998" y="7040"/>
                </a:cubicBezTo>
                <a:lnTo>
                  <a:pt x="7998" y="7000"/>
                </a:lnTo>
                <a:cubicBezTo>
                  <a:pt x="7998" y="6673"/>
                  <a:pt x="7948" y="6356"/>
                  <a:pt x="7848" y="6050"/>
                </a:cubicBezTo>
                <a:cubicBezTo>
                  <a:pt x="7974" y="6016"/>
                  <a:pt x="8108" y="6000"/>
                  <a:pt x="8248" y="6000"/>
                </a:cubicBezTo>
                <a:moveTo>
                  <a:pt x="1750" y="3000"/>
                </a:moveTo>
                <a:cubicBezTo>
                  <a:pt x="1976" y="3000"/>
                  <a:pt x="2185" y="3056"/>
                  <a:pt x="2375" y="3170"/>
                </a:cubicBezTo>
                <a:cubicBezTo>
                  <a:pt x="2564" y="3283"/>
                  <a:pt x="2715" y="3435"/>
                  <a:pt x="2829" y="3625"/>
                </a:cubicBezTo>
                <a:cubicBezTo>
                  <a:pt x="2942" y="3815"/>
                  <a:pt x="2999" y="4023"/>
                  <a:pt x="2999" y="4250"/>
                </a:cubicBezTo>
                <a:cubicBezTo>
                  <a:pt x="2999" y="4476"/>
                  <a:pt x="2942" y="4685"/>
                  <a:pt x="2829" y="4875"/>
                </a:cubicBezTo>
                <a:cubicBezTo>
                  <a:pt x="2715" y="5065"/>
                  <a:pt x="2564" y="5216"/>
                  <a:pt x="2375" y="5330"/>
                </a:cubicBezTo>
                <a:cubicBezTo>
                  <a:pt x="2185" y="5443"/>
                  <a:pt x="1976" y="5500"/>
                  <a:pt x="1750" y="5500"/>
                </a:cubicBezTo>
                <a:cubicBezTo>
                  <a:pt x="1523" y="5500"/>
                  <a:pt x="1315" y="5443"/>
                  <a:pt x="1125" y="5330"/>
                </a:cubicBezTo>
                <a:cubicBezTo>
                  <a:pt x="935" y="5216"/>
                  <a:pt x="783" y="5065"/>
                  <a:pt x="670" y="4875"/>
                </a:cubicBezTo>
                <a:cubicBezTo>
                  <a:pt x="556" y="4685"/>
                  <a:pt x="500" y="4476"/>
                  <a:pt x="500" y="4250"/>
                </a:cubicBezTo>
                <a:cubicBezTo>
                  <a:pt x="500" y="4023"/>
                  <a:pt x="556" y="3815"/>
                  <a:pt x="670" y="3625"/>
                </a:cubicBezTo>
                <a:cubicBezTo>
                  <a:pt x="783" y="3435"/>
                  <a:pt x="935" y="3283"/>
                  <a:pt x="1125" y="3170"/>
                </a:cubicBezTo>
                <a:cubicBezTo>
                  <a:pt x="1315" y="3056"/>
                  <a:pt x="1523" y="3000"/>
                  <a:pt x="1750" y="3000"/>
                </a:cubicBezTo>
                <a:moveTo>
                  <a:pt x="8248" y="3000"/>
                </a:moveTo>
                <a:cubicBezTo>
                  <a:pt x="8474" y="3000"/>
                  <a:pt x="8683" y="3056"/>
                  <a:pt x="8873" y="3170"/>
                </a:cubicBezTo>
                <a:cubicBezTo>
                  <a:pt x="9063" y="3283"/>
                  <a:pt x="9214" y="3435"/>
                  <a:pt x="9328" y="3625"/>
                </a:cubicBezTo>
                <a:cubicBezTo>
                  <a:pt x="9441" y="3815"/>
                  <a:pt x="9498" y="4023"/>
                  <a:pt x="9498" y="4250"/>
                </a:cubicBezTo>
                <a:cubicBezTo>
                  <a:pt x="9498" y="4476"/>
                  <a:pt x="9441" y="4685"/>
                  <a:pt x="9328" y="4875"/>
                </a:cubicBezTo>
                <a:cubicBezTo>
                  <a:pt x="9214" y="5065"/>
                  <a:pt x="9063" y="5216"/>
                  <a:pt x="8873" y="5330"/>
                </a:cubicBezTo>
                <a:cubicBezTo>
                  <a:pt x="8683" y="5443"/>
                  <a:pt x="8474" y="5500"/>
                  <a:pt x="8248" y="5500"/>
                </a:cubicBezTo>
                <a:cubicBezTo>
                  <a:pt x="8021" y="5500"/>
                  <a:pt x="7813" y="5443"/>
                  <a:pt x="7623" y="5330"/>
                </a:cubicBezTo>
                <a:cubicBezTo>
                  <a:pt x="7433" y="5216"/>
                  <a:pt x="7282" y="5065"/>
                  <a:pt x="7169" y="4875"/>
                </a:cubicBezTo>
                <a:cubicBezTo>
                  <a:pt x="7055" y="4685"/>
                  <a:pt x="6999" y="4476"/>
                  <a:pt x="6999" y="4250"/>
                </a:cubicBezTo>
                <a:cubicBezTo>
                  <a:pt x="6999" y="4023"/>
                  <a:pt x="7055" y="3815"/>
                  <a:pt x="7169" y="3625"/>
                </a:cubicBezTo>
                <a:cubicBezTo>
                  <a:pt x="7282" y="3435"/>
                  <a:pt x="7433" y="3283"/>
                  <a:pt x="7623" y="3170"/>
                </a:cubicBezTo>
                <a:cubicBezTo>
                  <a:pt x="7813" y="3056"/>
                  <a:pt x="8021" y="3000"/>
                  <a:pt x="8248" y="3000"/>
                </a:cubicBezTo>
                <a:moveTo>
                  <a:pt x="1750" y="4000"/>
                </a:moveTo>
                <a:cubicBezTo>
                  <a:pt x="1683" y="4000"/>
                  <a:pt x="1625" y="4025"/>
                  <a:pt x="1575" y="4075"/>
                </a:cubicBezTo>
                <a:cubicBezTo>
                  <a:pt x="1525" y="4125"/>
                  <a:pt x="1500" y="4183"/>
                  <a:pt x="1500" y="4250"/>
                </a:cubicBezTo>
                <a:cubicBezTo>
                  <a:pt x="1500" y="4316"/>
                  <a:pt x="1525" y="4375"/>
                  <a:pt x="1575" y="4425"/>
                </a:cubicBezTo>
                <a:cubicBezTo>
                  <a:pt x="1625" y="4475"/>
                  <a:pt x="1683" y="4500"/>
                  <a:pt x="1750" y="4500"/>
                </a:cubicBezTo>
                <a:cubicBezTo>
                  <a:pt x="1816" y="4500"/>
                  <a:pt x="1875" y="4475"/>
                  <a:pt x="1925" y="4425"/>
                </a:cubicBezTo>
                <a:cubicBezTo>
                  <a:pt x="1975" y="4375"/>
                  <a:pt x="2000" y="4316"/>
                  <a:pt x="2000" y="4250"/>
                </a:cubicBezTo>
                <a:cubicBezTo>
                  <a:pt x="2000" y="4183"/>
                  <a:pt x="1975" y="4125"/>
                  <a:pt x="1925" y="4075"/>
                </a:cubicBezTo>
                <a:cubicBezTo>
                  <a:pt x="1875" y="4025"/>
                  <a:pt x="1816" y="4000"/>
                  <a:pt x="1750" y="4000"/>
                </a:cubicBezTo>
                <a:moveTo>
                  <a:pt x="8248" y="4000"/>
                </a:moveTo>
                <a:cubicBezTo>
                  <a:pt x="8181" y="4000"/>
                  <a:pt x="8123" y="4025"/>
                  <a:pt x="8073" y="4075"/>
                </a:cubicBezTo>
                <a:cubicBezTo>
                  <a:pt x="8023" y="4125"/>
                  <a:pt x="7998" y="4183"/>
                  <a:pt x="7998" y="4250"/>
                </a:cubicBezTo>
                <a:cubicBezTo>
                  <a:pt x="7998" y="4316"/>
                  <a:pt x="8023" y="4375"/>
                  <a:pt x="8073" y="4425"/>
                </a:cubicBezTo>
                <a:cubicBezTo>
                  <a:pt x="8123" y="4475"/>
                  <a:pt x="8181" y="4500"/>
                  <a:pt x="8248" y="4500"/>
                </a:cubicBezTo>
                <a:cubicBezTo>
                  <a:pt x="8314" y="4500"/>
                  <a:pt x="8373" y="4475"/>
                  <a:pt x="8423" y="4425"/>
                </a:cubicBezTo>
                <a:cubicBezTo>
                  <a:pt x="8473" y="4375"/>
                  <a:pt x="8498" y="4316"/>
                  <a:pt x="8498" y="4250"/>
                </a:cubicBezTo>
                <a:cubicBezTo>
                  <a:pt x="8498" y="4183"/>
                  <a:pt x="8473" y="4125"/>
                  <a:pt x="8423" y="4075"/>
                </a:cubicBezTo>
                <a:cubicBezTo>
                  <a:pt x="8373" y="4025"/>
                  <a:pt x="8314" y="4000"/>
                  <a:pt x="8248" y="4000"/>
                </a:cubicBezTo>
                <a:moveTo>
                  <a:pt x="4999" y="0"/>
                </a:moveTo>
                <a:cubicBezTo>
                  <a:pt x="5359" y="0"/>
                  <a:pt x="5692" y="90"/>
                  <a:pt x="5999" y="270"/>
                </a:cubicBezTo>
                <a:cubicBezTo>
                  <a:pt x="6305" y="450"/>
                  <a:pt x="6549" y="693"/>
                  <a:pt x="6729" y="1000"/>
                </a:cubicBezTo>
                <a:cubicBezTo>
                  <a:pt x="6909" y="1306"/>
                  <a:pt x="6999" y="1640"/>
                  <a:pt x="6999" y="2000"/>
                </a:cubicBezTo>
                <a:cubicBezTo>
                  <a:pt x="6999" y="2360"/>
                  <a:pt x="6909" y="2693"/>
                  <a:pt x="6729" y="3000"/>
                </a:cubicBezTo>
                <a:cubicBezTo>
                  <a:pt x="6549" y="3306"/>
                  <a:pt x="6305" y="3550"/>
                  <a:pt x="5999" y="3730"/>
                </a:cubicBezTo>
                <a:cubicBezTo>
                  <a:pt x="5692" y="3910"/>
                  <a:pt x="5359" y="4000"/>
                  <a:pt x="4999" y="4000"/>
                </a:cubicBezTo>
                <a:cubicBezTo>
                  <a:pt x="4639" y="4000"/>
                  <a:pt x="4305" y="3910"/>
                  <a:pt x="3999" y="3730"/>
                </a:cubicBezTo>
                <a:cubicBezTo>
                  <a:pt x="3692" y="3550"/>
                  <a:pt x="3449" y="3306"/>
                  <a:pt x="3269" y="3000"/>
                </a:cubicBezTo>
                <a:cubicBezTo>
                  <a:pt x="3089" y="2693"/>
                  <a:pt x="2999" y="2360"/>
                  <a:pt x="2999" y="2000"/>
                </a:cubicBezTo>
                <a:cubicBezTo>
                  <a:pt x="2999" y="1640"/>
                  <a:pt x="3089" y="1306"/>
                  <a:pt x="3269" y="1000"/>
                </a:cubicBezTo>
                <a:cubicBezTo>
                  <a:pt x="3449" y="693"/>
                  <a:pt x="3692" y="450"/>
                  <a:pt x="3999" y="270"/>
                </a:cubicBezTo>
                <a:cubicBezTo>
                  <a:pt x="4305" y="90"/>
                  <a:pt x="4639" y="0"/>
                  <a:pt x="4999" y="0"/>
                </a:cubicBezTo>
                <a:moveTo>
                  <a:pt x="4999" y="1000"/>
                </a:moveTo>
                <a:cubicBezTo>
                  <a:pt x="4819" y="1000"/>
                  <a:pt x="4652" y="1045"/>
                  <a:pt x="4499" y="1135"/>
                </a:cubicBezTo>
                <a:cubicBezTo>
                  <a:pt x="4345" y="1225"/>
                  <a:pt x="4224" y="1346"/>
                  <a:pt x="4134" y="1500"/>
                </a:cubicBezTo>
                <a:cubicBezTo>
                  <a:pt x="4044" y="1653"/>
                  <a:pt x="3999" y="1820"/>
                  <a:pt x="3999" y="2000"/>
                </a:cubicBezTo>
                <a:cubicBezTo>
                  <a:pt x="3999" y="2180"/>
                  <a:pt x="4044" y="2346"/>
                  <a:pt x="4134" y="2500"/>
                </a:cubicBezTo>
                <a:cubicBezTo>
                  <a:pt x="4224" y="2653"/>
                  <a:pt x="4345" y="2775"/>
                  <a:pt x="4499" y="2865"/>
                </a:cubicBezTo>
                <a:cubicBezTo>
                  <a:pt x="4652" y="2955"/>
                  <a:pt x="4819" y="3000"/>
                  <a:pt x="4999" y="3000"/>
                </a:cubicBezTo>
                <a:cubicBezTo>
                  <a:pt x="5179" y="3000"/>
                  <a:pt x="5345" y="2955"/>
                  <a:pt x="5499" y="2865"/>
                </a:cubicBezTo>
                <a:cubicBezTo>
                  <a:pt x="5652" y="2775"/>
                  <a:pt x="5774" y="2653"/>
                  <a:pt x="5864" y="2500"/>
                </a:cubicBezTo>
                <a:cubicBezTo>
                  <a:pt x="5954" y="2346"/>
                  <a:pt x="5999" y="2180"/>
                  <a:pt x="5999" y="2000"/>
                </a:cubicBezTo>
                <a:cubicBezTo>
                  <a:pt x="5999" y="1820"/>
                  <a:pt x="5954" y="1653"/>
                  <a:pt x="5864" y="1500"/>
                </a:cubicBezTo>
                <a:cubicBezTo>
                  <a:pt x="5774" y="1346"/>
                  <a:pt x="5652" y="1225"/>
                  <a:pt x="5499" y="1135"/>
                </a:cubicBezTo>
                <a:cubicBezTo>
                  <a:pt x="5345" y="1045"/>
                  <a:pt x="5179" y="1000"/>
                  <a:pt x="4999" y="1000"/>
                </a:cubicBezTo>
              </a:path>
            </a:pathLst>
          </a:custGeom>
          <a:solidFill>
            <a:srgbClr val="5B8CB8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8" name="TextBox 8"/>
          <p:cNvSpPr txBox="1"/>
          <p:nvPr/>
        </p:nvSpPr>
        <p:spPr>
          <a:xfrm>
            <a:off x="987228" y="1798291"/>
            <a:ext cx="809423" cy="2095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500" b="1" i="0" strike="noStrike">
                <a:solidFill>
                  <a:srgbClr val="0A1F3D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成员分工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95151" y="2303116"/>
            <a:ext cx="9522" cy="649933"/>
          </a:xfrm>
          <a:prstGeom prst="line">
            <a:avLst/>
          </a:prstGeom>
          <a:ln w="19050">
            <a:solidFill>
              <a:srgbClr val="5B8CB8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0" name="TextBox 10"/>
          <p:cNvSpPr txBox="1"/>
          <p:nvPr/>
        </p:nvSpPr>
        <p:spPr>
          <a:xfrm>
            <a:off x="866558" y="2416672"/>
            <a:ext cx="4837490" cy="1619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200" b="1" i="0" strike="noStrike">
                <a:solidFill>
                  <a:srgbClr val="0A1F3D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王仁杰 </a:t>
            </a:r>
            <a:r>
              <a:rPr sz="900" b="1" i="0" strike="noStrike">
                <a:solidFill>
                  <a:srgbClr val="0A1F3D">
                    <a:alpha val="60000"/>
                  </a:srgbClr>
                </a:solidFill>
                <a:latin typeface="Inter"/>
                <a:ea typeface="Inter"/>
                <a:cs typeface="Inter"/>
              </a:rPr>
              <a:t>组长 / 202405567115</a:t>
            </a:r>
            <a:endParaRPr lang="en-US" sz="1100"/>
          </a:p>
        </p:txBody>
      </p:sp>
      <p:sp>
        <p:nvSpPr>
          <p:cNvPr id="11" name="TextBox 11"/>
          <p:cNvSpPr txBox="1"/>
          <p:nvPr/>
        </p:nvSpPr>
        <p:spPr>
          <a:xfrm>
            <a:off x="866558" y="2683372"/>
            <a:ext cx="4837490" cy="1524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000" b="0" i="0" strike="noStrike">
                <a:solidFill>
                  <a:srgbClr val="0A1F3D">
                    <a:alpha val="80000"/>
                  </a:srgbClr>
                </a:solidFill>
                <a:latin typeface="Source Han Sans"/>
                <a:ea typeface="Source Han Sans"/>
                <a:cs typeface="Source Han Sans"/>
              </a:rPr>
              <a:t>项目统筹、全栈开发、文档整理、Git 协作维护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95151" y="3105447"/>
            <a:ext cx="9522" cy="650081"/>
          </a:xfrm>
          <a:prstGeom prst="line">
            <a:avLst/>
          </a:prstGeom>
          <a:ln w="19050">
            <a:solidFill>
              <a:srgbClr val="D1D5DB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3" name="TextBox 13"/>
          <p:cNvSpPr txBox="1"/>
          <p:nvPr/>
        </p:nvSpPr>
        <p:spPr>
          <a:xfrm>
            <a:off x="866558" y="3219003"/>
            <a:ext cx="4837490" cy="1619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200" b="1" i="0" strike="noStrike">
                <a:solidFill>
                  <a:srgbClr val="0A1F3D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曹项登 </a:t>
            </a:r>
            <a:r>
              <a:rPr sz="900" b="1" i="0" strike="noStrike">
                <a:solidFill>
                  <a:srgbClr val="0A1F3D">
                    <a:alpha val="60000"/>
                  </a:srgbClr>
                </a:solidFill>
                <a:latin typeface="Inter"/>
                <a:ea typeface="Inter"/>
                <a:cs typeface="Inter"/>
              </a:rPr>
              <a:t>202405567117</a:t>
            </a:r>
            <a:endParaRPr lang="en-US" sz="1100"/>
          </a:p>
        </p:txBody>
      </p:sp>
      <p:sp>
        <p:nvSpPr>
          <p:cNvPr id="14" name="TextBox 14"/>
          <p:cNvSpPr txBox="1"/>
          <p:nvPr/>
        </p:nvSpPr>
        <p:spPr>
          <a:xfrm>
            <a:off x="866558" y="3485703"/>
            <a:ext cx="4837490" cy="1524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000" b="0" i="0" strike="noStrike">
                <a:solidFill>
                  <a:srgbClr val="0A1F3D">
                    <a:alpha val="80000"/>
                  </a:srgbClr>
                </a:solidFill>
                <a:latin typeface="Source Han Sans"/>
                <a:ea typeface="Source Han Sans"/>
                <a:cs typeface="Source Han Sans"/>
              </a:rPr>
              <a:t>购物车/收藏模块后端开发、SQL 优化、字段映射修复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95151" y="3907928"/>
            <a:ext cx="9522" cy="649933"/>
          </a:xfrm>
          <a:prstGeom prst="line">
            <a:avLst/>
          </a:prstGeom>
          <a:ln w="19050">
            <a:solidFill>
              <a:srgbClr val="D1D5DB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6" name="TextBox 16"/>
          <p:cNvSpPr txBox="1"/>
          <p:nvPr/>
        </p:nvSpPr>
        <p:spPr>
          <a:xfrm>
            <a:off x="866558" y="4021484"/>
            <a:ext cx="4837490" cy="1619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200" b="1" i="0" strike="noStrike">
                <a:solidFill>
                  <a:srgbClr val="0A1F3D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陈佳熠 </a:t>
            </a:r>
            <a:r>
              <a:rPr sz="900" b="1" i="0" strike="noStrike">
                <a:solidFill>
                  <a:srgbClr val="0A1F3D">
                    <a:alpha val="60000"/>
                  </a:srgbClr>
                </a:solidFill>
                <a:latin typeface="Inter"/>
                <a:ea typeface="Inter"/>
                <a:cs typeface="Inter"/>
              </a:rPr>
              <a:t>202405567102</a:t>
            </a:r>
            <a:endParaRPr lang="en-US" sz="1100"/>
          </a:p>
        </p:txBody>
      </p:sp>
      <p:sp>
        <p:nvSpPr>
          <p:cNvPr id="17" name="TextBox 17"/>
          <p:cNvSpPr txBox="1"/>
          <p:nvPr/>
        </p:nvSpPr>
        <p:spPr>
          <a:xfrm>
            <a:off x="866558" y="4288184"/>
            <a:ext cx="4837490" cy="1524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000" b="0" i="0" strike="noStrike">
                <a:solidFill>
                  <a:srgbClr val="0A1F3D">
                    <a:alpha val="80000"/>
                  </a:srgbClr>
                </a:solidFill>
                <a:latin typeface="Source Han Sans"/>
                <a:ea typeface="Source Han Sans"/>
                <a:cs typeface="Source Han Sans"/>
              </a:rPr>
              <a:t>前</a:t>
            </a:r>
            <a:r>
              <a:rPr lang="zh-CN" altLang="en-US" sz="1000" b="0" i="0" strike="noStrike">
                <a:solidFill>
                  <a:srgbClr val="0A1F3D">
                    <a:alpha val="80000"/>
                  </a:srgbClr>
                </a:solidFill>
                <a:latin typeface="Source Han Sans"/>
                <a:ea typeface="Source Han Sans"/>
                <a:cs typeface="Source Han Sans"/>
              </a:rPr>
              <a:t>后端链接文件、订单</a:t>
            </a:r>
            <a:r>
              <a:rPr lang="zh-CN" altLang="en-US" sz="1000" b="0" i="0" strike="noStrike">
                <a:solidFill>
                  <a:srgbClr val="0A1F3D">
                    <a:alpha val="80000"/>
                  </a:srgbClr>
                </a:solidFill>
                <a:latin typeface="Source Han Sans"/>
                <a:ea typeface="Source Han Sans"/>
                <a:cs typeface="Source Han Sans"/>
              </a:rPr>
              <a:t>模块</a:t>
            </a:r>
            <a:endParaRPr lang="zh-CN" altLang="en-US" sz="1000" b="0" i="0" strike="noStrike">
              <a:solidFill>
                <a:srgbClr val="0A1F3D">
                  <a:alpha val="80000"/>
                </a:srgbClr>
              </a:solidFill>
              <a:latin typeface="Source Han Sans"/>
              <a:ea typeface="Source Han Sans"/>
              <a:cs typeface="Source Han Sans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695151" y="4710261"/>
            <a:ext cx="9522" cy="650081"/>
          </a:xfrm>
          <a:prstGeom prst="line">
            <a:avLst/>
          </a:prstGeom>
          <a:ln w="19050">
            <a:solidFill>
              <a:srgbClr val="D1D5DB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9" name="TextBox 19"/>
          <p:cNvSpPr txBox="1"/>
          <p:nvPr/>
        </p:nvSpPr>
        <p:spPr>
          <a:xfrm>
            <a:off x="866558" y="4823817"/>
            <a:ext cx="4837490" cy="1619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200" b="1" i="0" strike="noStrike">
                <a:solidFill>
                  <a:srgbClr val="0A1F3D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肖司钦 </a:t>
            </a:r>
            <a:r>
              <a:rPr sz="900" b="1" i="0" strike="noStrike">
                <a:solidFill>
                  <a:srgbClr val="0A1F3D">
                    <a:alpha val="60000"/>
                  </a:srgbClr>
                </a:solidFill>
                <a:latin typeface="Inter"/>
                <a:ea typeface="Inter"/>
                <a:cs typeface="Inter"/>
              </a:rPr>
              <a:t>202405567118</a:t>
            </a:r>
            <a:endParaRPr lang="en-US" sz="1100"/>
          </a:p>
        </p:txBody>
      </p:sp>
      <p:sp>
        <p:nvSpPr>
          <p:cNvPr id="20" name="TextBox 20"/>
          <p:cNvSpPr txBox="1"/>
          <p:nvPr/>
        </p:nvSpPr>
        <p:spPr>
          <a:xfrm>
            <a:off x="866558" y="5090517"/>
            <a:ext cx="4837490" cy="1524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zh-CN" altLang="en-US" sz="1000" b="0" i="0" strike="noStrike">
                <a:solidFill>
                  <a:srgbClr val="0A1F3D">
                    <a:alpha val="80000"/>
                  </a:srgbClr>
                </a:solidFill>
                <a:latin typeface="Source Han Sans"/>
                <a:ea typeface="Source Han Sans"/>
                <a:cs typeface="Source Han Sans"/>
              </a:rPr>
              <a:t>订单模块、数据库链接</a:t>
            </a:r>
            <a:r>
              <a:rPr lang="zh-CN" altLang="en-US" sz="1000" b="0" i="0" strike="noStrike">
                <a:solidFill>
                  <a:srgbClr val="0A1F3D">
                    <a:alpha val="80000"/>
                  </a:srgbClr>
                </a:solidFill>
                <a:latin typeface="Source Han Sans"/>
                <a:ea typeface="Source Han Sans"/>
                <a:cs typeface="Source Han Sans"/>
              </a:rPr>
              <a:t>测试</a:t>
            </a:r>
            <a:endParaRPr lang="zh-CN" altLang="en-US" sz="1000" b="0" i="0" strike="noStrike">
              <a:solidFill>
                <a:srgbClr val="0A1F3D">
                  <a:alpha val="80000"/>
                </a:srgbClr>
              </a:solidFill>
              <a:latin typeface="Source Han Sans"/>
              <a:ea typeface="Source Han Sans"/>
              <a:cs typeface="Source Han Sans"/>
            </a:endParaRPr>
          </a:p>
        </p:txBody>
      </p:sp>
      <p:sp>
        <p:nvSpPr>
          <p:cNvPr id="21" name="AutoShape 21"/>
          <p:cNvSpPr/>
          <p:nvPr/>
        </p:nvSpPr>
        <p:spPr>
          <a:xfrm>
            <a:off x="695151" y="5512742"/>
            <a:ext cx="9522" cy="649933"/>
          </a:xfrm>
          <a:prstGeom prst="line">
            <a:avLst/>
          </a:prstGeom>
          <a:ln w="19050">
            <a:solidFill>
              <a:srgbClr val="D1D5DB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22" name="TextBox 22"/>
          <p:cNvSpPr txBox="1"/>
          <p:nvPr/>
        </p:nvSpPr>
        <p:spPr>
          <a:xfrm>
            <a:off x="866558" y="5626298"/>
            <a:ext cx="4837490" cy="1619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200" b="1" i="0" strike="noStrike">
                <a:solidFill>
                  <a:srgbClr val="0A1F3D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虞露超 </a:t>
            </a:r>
            <a:r>
              <a:rPr sz="900" b="1" i="0" strike="noStrike">
                <a:solidFill>
                  <a:srgbClr val="0A1F3D">
                    <a:alpha val="60000"/>
                  </a:srgbClr>
                </a:solidFill>
                <a:latin typeface="Inter"/>
                <a:ea typeface="Inter"/>
                <a:cs typeface="Inter"/>
              </a:rPr>
              <a:t>202405567104</a:t>
            </a:r>
            <a:endParaRPr lang="en-US" sz="1100"/>
          </a:p>
        </p:txBody>
      </p:sp>
      <p:sp>
        <p:nvSpPr>
          <p:cNvPr id="23" name="TextBox 23"/>
          <p:cNvSpPr txBox="1"/>
          <p:nvPr/>
        </p:nvSpPr>
        <p:spPr>
          <a:xfrm>
            <a:off x="866558" y="5892998"/>
            <a:ext cx="4837490" cy="1524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zh-CN" altLang="en-US" sz="1000" b="0" i="0" strike="noStrike">
                <a:solidFill>
                  <a:srgbClr val="0A1F3D">
                    <a:alpha val="80000"/>
                  </a:srgbClr>
                </a:solidFill>
                <a:latin typeface="Source Han Sans"/>
                <a:ea typeface="Source Han Sans"/>
                <a:cs typeface="Source Han Sans"/>
              </a:rPr>
              <a:t>管理员模块、主页公告</a:t>
            </a:r>
            <a:r>
              <a:rPr lang="zh-CN" altLang="en-US" sz="1000" b="0" i="0" strike="noStrike">
                <a:solidFill>
                  <a:srgbClr val="0A1F3D">
                    <a:alpha val="80000"/>
                  </a:srgbClr>
                </a:solidFill>
                <a:latin typeface="Source Han Sans"/>
                <a:ea typeface="Source Han Sans"/>
                <a:cs typeface="Source Han Sans"/>
              </a:rPr>
              <a:t>模块</a:t>
            </a:r>
            <a:endParaRPr lang="zh-CN" altLang="en-US" sz="1000" b="0" i="0" strike="noStrike">
              <a:solidFill>
                <a:srgbClr val="0A1F3D">
                  <a:alpha val="80000"/>
                </a:srgbClr>
              </a:solidFill>
              <a:latin typeface="Source Han Sans"/>
              <a:ea typeface="Source Han Sans"/>
              <a:cs typeface="Source Han Sans"/>
            </a:endParaRPr>
          </a:p>
        </p:txBody>
      </p:sp>
      <p:sp>
        <p:nvSpPr>
          <p:cNvPr id="24" name="AutoShape 24"/>
          <p:cNvSpPr/>
          <p:nvPr/>
        </p:nvSpPr>
        <p:spPr>
          <a:xfrm>
            <a:off x="6246838" y="1493491"/>
            <a:ext cx="5485028" cy="4905375"/>
          </a:xfrm>
          <a:prstGeom prst="roundRect">
            <a:avLst>
              <a:gd name="adj" fmla="val 289"/>
            </a:avLst>
          </a:prstGeom>
          <a:blipFill rotWithShape="1">
            <a:blip r:embed="rId1">
              <a:alphaModFix amt="100000"/>
              <a:alphaModFix amt="100000"/>
            </a:blip>
            <a:stretch>
              <a:fillRect/>
            </a:stretch>
          </a:blipFill>
          <a:ln>
            <a:headEnd type="none"/>
            <a:tailEnd type="none"/>
          </a:ln>
        </p:spPr>
      </p:sp>
      <p:sp>
        <p:nvSpPr>
          <p:cNvPr id="25" name="AutoShape 25"/>
          <p:cNvSpPr/>
          <p:nvPr/>
        </p:nvSpPr>
        <p:spPr>
          <a:xfrm>
            <a:off x="6459535" y="1788766"/>
            <a:ext cx="228543" cy="228600"/>
          </a:xfrm>
          <a:custGeom>
            <a:avLst/>
            <a:gdLst/>
            <a:ahLst/>
            <a:cxnLst/>
            <a:rect l="l" t="t" r="r" b="b"/>
            <a:pathLst>
              <a:path w="9998" h="10000">
                <a:moveTo>
                  <a:pt x="2277" y="6789"/>
                </a:moveTo>
                <a:cubicBezTo>
                  <a:pt x="2588" y="6907"/>
                  <a:pt x="2842" y="7107"/>
                  <a:pt x="3038" y="7389"/>
                </a:cubicBezTo>
                <a:cubicBezTo>
                  <a:pt x="3234" y="7670"/>
                  <a:pt x="3333" y="7985"/>
                  <a:pt x="3333" y="8333"/>
                </a:cubicBezTo>
                <a:cubicBezTo>
                  <a:pt x="3333" y="8637"/>
                  <a:pt x="3258" y="8916"/>
                  <a:pt x="3110" y="9172"/>
                </a:cubicBezTo>
                <a:cubicBezTo>
                  <a:pt x="2962" y="9428"/>
                  <a:pt x="2760" y="9630"/>
                  <a:pt x="2505" y="9778"/>
                </a:cubicBezTo>
                <a:cubicBezTo>
                  <a:pt x="2249" y="9926"/>
                  <a:pt x="1970" y="10000"/>
                  <a:pt x="1666" y="10000"/>
                </a:cubicBezTo>
                <a:cubicBezTo>
                  <a:pt x="1362" y="10000"/>
                  <a:pt x="1083" y="9926"/>
                  <a:pt x="828" y="9778"/>
                </a:cubicBezTo>
                <a:cubicBezTo>
                  <a:pt x="572" y="9630"/>
                  <a:pt x="370" y="9428"/>
                  <a:pt x="222" y="9172"/>
                </a:cubicBezTo>
                <a:cubicBezTo>
                  <a:pt x="74" y="8916"/>
                  <a:pt x="0" y="8637"/>
                  <a:pt x="0" y="8333"/>
                </a:cubicBezTo>
                <a:cubicBezTo>
                  <a:pt x="0" y="7977"/>
                  <a:pt x="103" y="7655"/>
                  <a:pt x="311" y="7367"/>
                </a:cubicBezTo>
                <a:cubicBezTo>
                  <a:pt x="518" y="7077"/>
                  <a:pt x="785" y="6877"/>
                  <a:pt x="1111" y="6767"/>
                </a:cubicBezTo>
                <a:lnTo>
                  <a:pt x="1111" y="3233"/>
                </a:lnTo>
                <a:cubicBezTo>
                  <a:pt x="785" y="3122"/>
                  <a:pt x="518" y="2922"/>
                  <a:pt x="311" y="2633"/>
                </a:cubicBezTo>
                <a:cubicBezTo>
                  <a:pt x="103" y="2344"/>
                  <a:pt x="0" y="2022"/>
                  <a:pt x="0" y="1667"/>
                </a:cubicBezTo>
                <a:cubicBezTo>
                  <a:pt x="0" y="1363"/>
                  <a:pt x="74" y="1083"/>
                  <a:pt x="222" y="828"/>
                </a:cubicBezTo>
                <a:cubicBezTo>
                  <a:pt x="370" y="572"/>
                  <a:pt x="572" y="370"/>
                  <a:pt x="828" y="222"/>
                </a:cubicBezTo>
                <a:cubicBezTo>
                  <a:pt x="1083" y="74"/>
                  <a:pt x="1362" y="0"/>
                  <a:pt x="1666" y="0"/>
                </a:cubicBezTo>
                <a:cubicBezTo>
                  <a:pt x="1970" y="0"/>
                  <a:pt x="2249" y="74"/>
                  <a:pt x="2505" y="222"/>
                </a:cubicBezTo>
                <a:cubicBezTo>
                  <a:pt x="2760" y="370"/>
                  <a:pt x="2962" y="572"/>
                  <a:pt x="3110" y="828"/>
                </a:cubicBezTo>
                <a:cubicBezTo>
                  <a:pt x="3258" y="1083"/>
                  <a:pt x="3333" y="1363"/>
                  <a:pt x="3333" y="1667"/>
                </a:cubicBezTo>
                <a:cubicBezTo>
                  <a:pt x="3333" y="2022"/>
                  <a:pt x="3229" y="2344"/>
                  <a:pt x="3022" y="2633"/>
                </a:cubicBezTo>
                <a:cubicBezTo>
                  <a:pt x="2814" y="2922"/>
                  <a:pt x="2548" y="3122"/>
                  <a:pt x="2222" y="3233"/>
                </a:cubicBezTo>
                <a:lnTo>
                  <a:pt x="2222" y="5000"/>
                </a:lnTo>
                <a:cubicBezTo>
                  <a:pt x="2458" y="4822"/>
                  <a:pt x="2717" y="4685"/>
                  <a:pt x="2999" y="4589"/>
                </a:cubicBezTo>
                <a:cubicBezTo>
                  <a:pt x="3281" y="4492"/>
                  <a:pt x="3577" y="4444"/>
                  <a:pt x="3888" y="4444"/>
                </a:cubicBezTo>
                <a:lnTo>
                  <a:pt x="6110" y="4444"/>
                </a:lnTo>
                <a:cubicBezTo>
                  <a:pt x="6487" y="4444"/>
                  <a:pt x="6826" y="4329"/>
                  <a:pt x="7126" y="4100"/>
                </a:cubicBezTo>
                <a:cubicBezTo>
                  <a:pt x="7426" y="3870"/>
                  <a:pt x="7624" y="3574"/>
                  <a:pt x="7721" y="3211"/>
                </a:cubicBezTo>
                <a:cubicBezTo>
                  <a:pt x="7409" y="3092"/>
                  <a:pt x="7156" y="2892"/>
                  <a:pt x="6960" y="2611"/>
                </a:cubicBezTo>
                <a:cubicBezTo>
                  <a:pt x="6763" y="2329"/>
                  <a:pt x="6665" y="2015"/>
                  <a:pt x="6665" y="1667"/>
                </a:cubicBezTo>
                <a:cubicBezTo>
                  <a:pt x="6665" y="1363"/>
                  <a:pt x="6739" y="1083"/>
                  <a:pt x="6888" y="828"/>
                </a:cubicBezTo>
                <a:cubicBezTo>
                  <a:pt x="7036" y="572"/>
                  <a:pt x="7237" y="370"/>
                  <a:pt x="7493" y="222"/>
                </a:cubicBezTo>
                <a:cubicBezTo>
                  <a:pt x="7748" y="74"/>
                  <a:pt x="8028" y="0"/>
                  <a:pt x="8332" y="0"/>
                </a:cubicBezTo>
                <a:cubicBezTo>
                  <a:pt x="8635" y="0"/>
                  <a:pt x="8914" y="74"/>
                  <a:pt x="9170" y="222"/>
                </a:cubicBezTo>
                <a:cubicBezTo>
                  <a:pt x="9426" y="370"/>
                  <a:pt x="9628" y="572"/>
                  <a:pt x="9776" y="828"/>
                </a:cubicBezTo>
                <a:cubicBezTo>
                  <a:pt x="9924" y="1083"/>
                  <a:pt x="9998" y="1363"/>
                  <a:pt x="9998" y="1667"/>
                </a:cubicBezTo>
                <a:cubicBezTo>
                  <a:pt x="9998" y="2029"/>
                  <a:pt x="9890" y="2357"/>
                  <a:pt x="9676" y="2650"/>
                </a:cubicBezTo>
                <a:cubicBezTo>
                  <a:pt x="9461" y="2942"/>
                  <a:pt x="9183" y="3144"/>
                  <a:pt x="8843" y="3256"/>
                </a:cubicBezTo>
                <a:cubicBezTo>
                  <a:pt x="8769" y="3685"/>
                  <a:pt x="8602" y="4076"/>
                  <a:pt x="8343" y="4428"/>
                </a:cubicBezTo>
                <a:cubicBezTo>
                  <a:pt x="8083" y="4780"/>
                  <a:pt x="7759" y="5056"/>
                  <a:pt x="7371" y="5256"/>
                </a:cubicBezTo>
                <a:cubicBezTo>
                  <a:pt x="6982" y="5456"/>
                  <a:pt x="6562" y="5556"/>
                  <a:pt x="6110" y="5556"/>
                </a:cubicBezTo>
                <a:lnTo>
                  <a:pt x="3888" y="5556"/>
                </a:lnTo>
                <a:cubicBezTo>
                  <a:pt x="3510" y="5556"/>
                  <a:pt x="3172" y="5670"/>
                  <a:pt x="2872" y="5900"/>
                </a:cubicBezTo>
                <a:cubicBezTo>
                  <a:pt x="2572" y="6129"/>
                  <a:pt x="2373" y="6425"/>
                  <a:pt x="2277" y="6789"/>
                </a:cubicBezTo>
                <a:moveTo>
                  <a:pt x="1666" y="7778"/>
                </a:moveTo>
                <a:cubicBezTo>
                  <a:pt x="1510" y="7778"/>
                  <a:pt x="1379" y="7831"/>
                  <a:pt x="1272" y="7939"/>
                </a:cubicBezTo>
                <a:cubicBezTo>
                  <a:pt x="1164" y="8046"/>
                  <a:pt x="1111" y="8177"/>
                  <a:pt x="1111" y="8333"/>
                </a:cubicBezTo>
                <a:cubicBezTo>
                  <a:pt x="1111" y="8489"/>
                  <a:pt x="1164" y="8620"/>
                  <a:pt x="1272" y="8728"/>
                </a:cubicBezTo>
                <a:cubicBezTo>
                  <a:pt x="1379" y="8835"/>
                  <a:pt x="1510" y="8889"/>
                  <a:pt x="1666" y="8889"/>
                </a:cubicBezTo>
                <a:cubicBezTo>
                  <a:pt x="1822" y="8889"/>
                  <a:pt x="1953" y="8835"/>
                  <a:pt x="2061" y="8728"/>
                </a:cubicBezTo>
                <a:cubicBezTo>
                  <a:pt x="2168" y="8620"/>
                  <a:pt x="2222" y="8489"/>
                  <a:pt x="2222" y="8333"/>
                </a:cubicBezTo>
                <a:cubicBezTo>
                  <a:pt x="2222" y="8177"/>
                  <a:pt x="2168" y="8046"/>
                  <a:pt x="2061" y="7939"/>
                </a:cubicBezTo>
                <a:cubicBezTo>
                  <a:pt x="1953" y="7831"/>
                  <a:pt x="1822" y="7778"/>
                  <a:pt x="1666" y="7778"/>
                </a:cubicBezTo>
                <a:moveTo>
                  <a:pt x="1666" y="1111"/>
                </a:moveTo>
                <a:cubicBezTo>
                  <a:pt x="1510" y="1111"/>
                  <a:pt x="1379" y="1164"/>
                  <a:pt x="1272" y="1272"/>
                </a:cubicBezTo>
                <a:cubicBezTo>
                  <a:pt x="1164" y="1379"/>
                  <a:pt x="1111" y="1511"/>
                  <a:pt x="1111" y="1667"/>
                </a:cubicBezTo>
                <a:cubicBezTo>
                  <a:pt x="1111" y="1822"/>
                  <a:pt x="1164" y="1953"/>
                  <a:pt x="1272" y="2061"/>
                </a:cubicBezTo>
                <a:cubicBezTo>
                  <a:pt x="1379" y="2168"/>
                  <a:pt x="1510" y="2222"/>
                  <a:pt x="1666" y="2222"/>
                </a:cubicBezTo>
                <a:cubicBezTo>
                  <a:pt x="1822" y="2222"/>
                  <a:pt x="1953" y="2168"/>
                  <a:pt x="2061" y="2061"/>
                </a:cubicBezTo>
                <a:cubicBezTo>
                  <a:pt x="2168" y="1953"/>
                  <a:pt x="2222" y="1822"/>
                  <a:pt x="2222" y="1667"/>
                </a:cubicBezTo>
                <a:cubicBezTo>
                  <a:pt x="2222" y="1511"/>
                  <a:pt x="2168" y="1379"/>
                  <a:pt x="2061" y="1272"/>
                </a:cubicBezTo>
                <a:cubicBezTo>
                  <a:pt x="1953" y="1164"/>
                  <a:pt x="1822" y="1111"/>
                  <a:pt x="1666" y="1111"/>
                </a:cubicBezTo>
                <a:moveTo>
                  <a:pt x="8332" y="1111"/>
                </a:moveTo>
                <a:cubicBezTo>
                  <a:pt x="8176" y="1111"/>
                  <a:pt x="8044" y="1164"/>
                  <a:pt x="7937" y="1272"/>
                </a:cubicBezTo>
                <a:cubicBezTo>
                  <a:pt x="7829" y="1379"/>
                  <a:pt x="7776" y="1511"/>
                  <a:pt x="7776" y="1667"/>
                </a:cubicBezTo>
                <a:cubicBezTo>
                  <a:pt x="7776" y="1822"/>
                  <a:pt x="7829" y="1953"/>
                  <a:pt x="7937" y="2061"/>
                </a:cubicBezTo>
                <a:cubicBezTo>
                  <a:pt x="8044" y="2168"/>
                  <a:pt x="8176" y="2222"/>
                  <a:pt x="8332" y="2222"/>
                </a:cubicBezTo>
                <a:cubicBezTo>
                  <a:pt x="8487" y="2222"/>
                  <a:pt x="8618" y="2168"/>
                  <a:pt x="8726" y="2061"/>
                </a:cubicBezTo>
                <a:cubicBezTo>
                  <a:pt x="8833" y="1953"/>
                  <a:pt x="8887" y="1822"/>
                  <a:pt x="8887" y="1667"/>
                </a:cubicBezTo>
                <a:cubicBezTo>
                  <a:pt x="8887" y="1511"/>
                  <a:pt x="8833" y="1379"/>
                  <a:pt x="8726" y="1272"/>
                </a:cubicBezTo>
                <a:cubicBezTo>
                  <a:pt x="8618" y="1164"/>
                  <a:pt x="8487" y="1111"/>
                  <a:pt x="8332" y="1111"/>
                </a:cubicBezTo>
              </a:path>
            </a:pathLst>
          </a:custGeom>
          <a:solidFill>
            <a:srgbClr val="5B8CB8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26" name="TextBox 26"/>
          <p:cNvSpPr txBox="1"/>
          <p:nvPr/>
        </p:nvSpPr>
        <p:spPr>
          <a:xfrm>
            <a:off x="6776980" y="1798291"/>
            <a:ext cx="1126942" cy="2095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500" b="1" i="0" strike="noStrike">
                <a:solidFill>
                  <a:srgbClr val="0A1F3D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Git 提交记录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6582287" y="2498378"/>
            <a:ext cx="152362" cy="152400"/>
          </a:xfrm>
          <a:custGeom>
            <a:avLst/>
            <a:gdLst/>
            <a:ahLst/>
            <a:cxnLst/>
            <a:rect l="l" t="t" r="r" b="b"/>
            <a:pathLst>
              <a:path w="9998" h="10000">
                <a:moveTo>
                  <a:pt x="825" y="3538"/>
                </a:moveTo>
                <a:lnTo>
                  <a:pt x="3749" y="7641"/>
                </a:lnTo>
                <a:lnTo>
                  <a:pt x="9173" y="0"/>
                </a:lnTo>
                <a:lnTo>
                  <a:pt x="9998" y="1179"/>
                </a:lnTo>
                <a:lnTo>
                  <a:pt x="3749" y="10000"/>
                </a:lnTo>
                <a:lnTo>
                  <a:pt x="0" y="4701"/>
                </a:lnTo>
              </a:path>
            </a:pathLst>
          </a:custGeom>
          <a:solidFill>
            <a:srgbClr val="5B8CB8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28" name="TextBox 28"/>
          <p:cNvSpPr txBox="1"/>
          <p:nvPr/>
        </p:nvSpPr>
        <p:spPr>
          <a:xfrm>
            <a:off x="6832032" y="2436466"/>
            <a:ext cx="4547497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900" b="1" i="0" strike="noStrike">
                <a:solidFill>
                  <a:srgbClr val="5B8CB8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aff2ae9</a:t>
            </a:r>
            <a:endParaRPr lang="en-US" sz="1100"/>
          </a:p>
        </p:txBody>
      </p:sp>
      <p:sp>
        <p:nvSpPr>
          <p:cNvPr id="29" name="TextBox 29"/>
          <p:cNvSpPr txBox="1"/>
          <p:nvPr/>
        </p:nvSpPr>
        <p:spPr>
          <a:xfrm>
            <a:off x="6832032" y="2626966"/>
            <a:ext cx="4547497" cy="1524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000" b="0" i="0" strike="noStrike">
                <a:solidFill>
                  <a:srgbClr val="0A1F3D">
                    <a:alpha val="90196"/>
                  </a:srgbClr>
                </a:solidFill>
                <a:latin typeface="Source Han Sans"/>
                <a:ea typeface="Source Han Sans"/>
                <a:cs typeface="Source Han Sans"/>
              </a:rPr>
              <a:t>修复图书删除失败、查看大图检索失败问题，优化首页查询速度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6582287" y="3231803"/>
            <a:ext cx="152362" cy="152400"/>
          </a:xfrm>
          <a:custGeom>
            <a:avLst/>
            <a:gdLst/>
            <a:ahLst/>
            <a:cxnLst/>
            <a:rect l="l" t="t" r="r" b="b"/>
            <a:pathLst>
              <a:path w="9998" h="10000">
                <a:moveTo>
                  <a:pt x="825" y="3538"/>
                </a:moveTo>
                <a:lnTo>
                  <a:pt x="3749" y="7641"/>
                </a:lnTo>
                <a:lnTo>
                  <a:pt x="9173" y="0"/>
                </a:lnTo>
                <a:lnTo>
                  <a:pt x="9998" y="1179"/>
                </a:lnTo>
                <a:lnTo>
                  <a:pt x="3749" y="10000"/>
                </a:lnTo>
                <a:lnTo>
                  <a:pt x="0" y="4701"/>
                </a:lnTo>
              </a:path>
            </a:pathLst>
          </a:custGeom>
          <a:solidFill>
            <a:srgbClr val="5B8CB8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31" name="TextBox 31"/>
          <p:cNvSpPr txBox="1"/>
          <p:nvPr/>
        </p:nvSpPr>
        <p:spPr>
          <a:xfrm>
            <a:off x="6832032" y="3169891"/>
            <a:ext cx="4547497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900" b="1" i="0" strike="noStrike">
                <a:solidFill>
                  <a:srgbClr val="5B8CB8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16f8a2f</a:t>
            </a:r>
            <a:endParaRPr lang="en-US" sz="1100"/>
          </a:p>
        </p:txBody>
      </p:sp>
      <p:sp>
        <p:nvSpPr>
          <p:cNvPr id="32" name="TextBox 32"/>
          <p:cNvSpPr txBox="1"/>
          <p:nvPr/>
        </p:nvSpPr>
        <p:spPr>
          <a:xfrm>
            <a:off x="6832032" y="3360391"/>
            <a:ext cx="4547497" cy="1524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000" b="0" i="0" strike="noStrike">
                <a:solidFill>
                  <a:srgbClr val="0A1F3D">
                    <a:alpha val="90196"/>
                  </a:srgbClr>
                </a:solidFill>
                <a:latin typeface="Source Han Sans"/>
                <a:ea typeface="Source Han Sans"/>
                <a:cs typeface="Source Han Sans"/>
              </a:rPr>
              <a:t>优化整体 UI 布局和运行速度，修复订单、发货等问题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6582287" y="3965228"/>
            <a:ext cx="152362" cy="152400"/>
          </a:xfrm>
          <a:custGeom>
            <a:avLst/>
            <a:gdLst/>
            <a:ahLst/>
            <a:cxnLst/>
            <a:rect l="l" t="t" r="r" b="b"/>
            <a:pathLst>
              <a:path w="9998" h="10000">
                <a:moveTo>
                  <a:pt x="825" y="3538"/>
                </a:moveTo>
                <a:lnTo>
                  <a:pt x="3749" y="7641"/>
                </a:lnTo>
                <a:lnTo>
                  <a:pt x="9173" y="0"/>
                </a:lnTo>
                <a:lnTo>
                  <a:pt x="9998" y="1179"/>
                </a:lnTo>
                <a:lnTo>
                  <a:pt x="3749" y="10000"/>
                </a:lnTo>
                <a:lnTo>
                  <a:pt x="0" y="4701"/>
                </a:lnTo>
              </a:path>
            </a:pathLst>
          </a:custGeom>
          <a:solidFill>
            <a:srgbClr val="5B8CB8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34" name="TextBox 34"/>
          <p:cNvSpPr txBox="1"/>
          <p:nvPr/>
        </p:nvSpPr>
        <p:spPr>
          <a:xfrm>
            <a:off x="6832032" y="3903316"/>
            <a:ext cx="4547497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900" b="1" i="0" strike="noStrike">
                <a:solidFill>
                  <a:srgbClr val="5B8CB8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08bd841</a:t>
            </a:r>
            <a:endParaRPr lang="en-US" sz="1100"/>
          </a:p>
        </p:txBody>
      </p:sp>
      <p:sp>
        <p:nvSpPr>
          <p:cNvPr id="35" name="TextBox 35"/>
          <p:cNvSpPr txBox="1"/>
          <p:nvPr/>
        </p:nvSpPr>
        <p:spPr>
          <a:xfrm>
            <a:off x="6832032" y="4093816"/>
            <a:ext cx="4547497" cy="1524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000" b="0" i="0" strike="noStrike">
                <a:solidFill>
                  <a:srgbClr val="0A1F3D">
                    <a:alpha val="90196"/>
                  </a:srgbClr>
                </a:solidFill>
                <a:latin typeface="Source Han Sans"/>
                <a:ea typeface="Source Han Sans"/>
                <a:cs typeface="Source Han Sans"/>
              </a:rPr>
              <a:t>优化购物车及订单功能逻辑</a:t>
            </a:r>
            <a:endParaRPr lang="en-US" sz="1100"/>
          </a:p>
        </p:txBody>
      </p:sp>
      <p:sp>
        <p:nvSpPr>
          <p:cNvPr id="36" name="AutoShape 36"/>
          <p:cNvSpPr/>
          <p:nvPr/>
        </p:nvSpPr>
        <p:spPr>
          <a:xfrm>
            <a:off x="6582287" y="4698653"/>
            <a:ext cx="152362" cy="152400"/>
          </a:xfrm>
          <a:custGeom>
            <a:avLst/>
            <a:gdLst/>
            <a:ahLst/>
            <a:cxnLst/>
            <a:rect l="l" t="t" r="r" b="b"/>
            <a:pathLst>
              <a:path w="9998" h="10000">
                <a:moveTo>
                  <a:pt x="825" y="3538"/>
                </a:moveTo>
                <a:lnTo>
                  <a:pt x="3749" y="7641"/>
                </a:lnTo>
                <a:lnTo>
                  <a:pt x="9173" y="0"/>
                </a:lnTo>
                <a:lnTo>
                  <a:pt x="9998" y="1179"/>
                </a:lnTo>
                <a:lnTo>
                  <a:pt x="3749" y="10000"/>
                </a:lnTo>
                <a:lnTo>
                  <a:pt x="0" y="4701"/>
                </a:lnTo>
              </a:path>
            </a:pathLst>
          </a:custGeom>
          <a:solidFill>
            <a:srgbClr val="5B8CB8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37" name="TextBox 37"/>
          <p:cNvSpPr txBox="1"/>
          <p:nvPr/>
        </p:nvSpPr>
        <p:spPr>
          <a:xfrm>
            <a:off x="6832032" y="4636741"/>
            <a:ext cx="4547497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900" b="1" i="0" strike="noStrike">
                <a:solidFill>
                  <a:srgbClr val="5B8CB8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4be644d</a:t>
            </a:r>
            <a:endParaRPr lang="en-US" sz="1100"/>
          </a:p>
        </p:txBody>
      </p:sp>
      <p:sp>
        <p:nvSpPr>
          <p:cNvPr id="38" name="TextBox 38"/>
          <p:cNvSpPr txBox="1"/>
          <p:nvPr/>
        </p:nvSpPr>
        <p:spPr>
          <a:xfrm>
            <a:off x="6832032" y="4827241"/>
            <a:ext cx="4547497" cy="1524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000" b="0" i="0" strike="noStrike">
                <a:solidFill>
                  <a:srgbClr val="0A1F3D">
                    <a:alpha val="90196"/>
                  </a:srgbClr>
                </a:solidFill>
                <a:latin typeface="Source Han Sans"/>
                <a:ea typeface="Source Han Sans"/>
                <a:cs typeface="Source Han Sans"/>
              </a:rPr>
              <a:t>添加收藏功能后端代码（曹项登）</a:t>
            </a:r>
            <a:endParaRPr lang="en-US" sz="1100"/>
          </a:p>
        </p:txBody>
      </p:sp>
      <p:sp>
        <p:nvSpPr>
          <p:cNvPr id="39" name="AutoShape 39"/>
          <p:cNvSpPr/>
          <p:nvPr/>
        </p:nvSpPr>
        <p:spPr>
          <a:xfrm>
            <a:off x="6582287" y="5432078"/>
            <a:ext cx="152362" cy="152400"/>
          </a:xfrm>
          <a:custGeom>
            <a:avLst/>
            <a:gdLst/>
            <a:ahLst/>
            <a:cxnLst/>
            <a:rect l="l" t="t" r="r" b="b"/>
            <a:pathLst>
              <a:path w="9998" h="10000">
                <a:moveTo>
                  <a:pt x="825" y="3538"/>
                </a:moveTo>
                <a:lnTo>
                  <a:pt x="3749" y="7641"/>
                </a:lnTo>
                <a:lnTo>
                  <a:pt x="9173" y="0"/>
                </a:lnTo>
                <a:lnTo>
                  <a:pt x="9998" y="1179"/>
                </a:lnTo>
                <a:lnTo>
                  <a:pt x="3749" y="10000"/>
                </a:lnTo>
                <a:lnTo>
                  <a:pt x="0" y="4701"/>
                </a:lnTo>
              </a:path>
            </a:pathLst>
          </a:custGeom>
          <a:solidFill>
            <a:srgbClr val="5B8CB8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40" name="TextBox 40"/>
          <p:cNvSpPr txBox="1"/>
          <p:nvPr/>
        </p:nvSpPr>
        <p:spPr>
          <a:xfrm>
            <a:off x="6832032" y="5370166"/>
            <a:ext cx="4547497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900" b="1" i="0" strike="noStrike">
                <a:solidFill>
                  <a:srgbClr val="5B8CB8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a17789b</a:t>
            </a:r>
            <a:endParaRPr lang="en-US" sz="1100"/>
          </a:p>
        </p:txBody>
      </p:sp>
      <p:sp>
        <p:nvSpPr>
          <p:cNvPr id="41" name="TextBox 41"/>
          <p:cNvSpPr txBox="1"/>
          <p:nvPr/>
        </p:nvSpPr>
        <p:spPr>
          <a:xfrm>
            <a:off x="6832032" y="5560666"/>
            <a:ext cx="4547497" cy="1524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000" b="0" i="0" strike="noStrike">
                <a:solidFill>
                  <a:srgbClr val="0A1F3D">
                    <a:alpha val="90196"/>
                  </a:srgbClr>
                </a:solidFill>
                <a:latin typeface="Source Han Sans"/>
                <a:ea typeface="Source Han Sans"/>
                <a:cs typeface="Source Han Sans"/>
              </a:rPr>
              <a:t>修复删除图书后本地图片残留问题</a:t>
            </a:r>
            <a:endParaRPr lang="en-US" sz="1100"/>
          </a:p>
        </p:txBody>
      </p:sp>
      <p:sp>
        <p:nvSpPr>
          <p:cNvPr id="42" name="AutoShape 42"/>
          <p:cNvSpPr/>
          <p:nvPr/>
        </p:nvSpPr>
        <p:spPr>
          <a:xfrm>
            <a:off x="6582287" y="6165503"/>
            <a:ext cx="152362" cy="152400"/>
          </a:xfrm>
          <a:custGeom>
            <a:avLst/>
            <a:gdLst/>
            <a:ahLst/>
            <a:cxnLst/>
            <a:rect l="l" t="t" r="r" b="b"/>
            <a:pathLst>
              <a:path w="9998" h="10000">
                <a:moveTo>
                  <a:pt x="825" y="3538"/>
                </a:moveTo>
                <a:lnTo>
                  <a:pt x="3749" y="7641"/>
                </a:lnTo>
                <a:lnTo>
                  <a:pt x="9173" y="0"/>
                </a:lnTo>
                <a:lnTo>
                  <a:pt x="9998" y="1179"/>
                </a:lnTo>
                <a:lnTo>
                  <a:pt x="3749" y="10000"/>
                </a:lnTo>
                <a:lnTo>
                  <a:pt x="0" y="4701"/>
                </a:lnTo>
              </a:path>
            </a:pathLst>
          </a:custGeom>
          <a:solidFill>
            <a:srgbClr val="5B8CB8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43" name="TextBox 43"/>
          <p:cNvSpPr txBox="1"/>
          <p:nvPr/>
        </p:nvSpPr>
        <p:spPr>
          <a:xfrm>
            <a:off x="6832032" y="6103591"/>
            <a:ext cx="4547497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900" b="1" i="0" strike="noStrike">
                <a:solidFill>
                  <a:srgbClr val="5B8CB8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ed99759</a:t>
            </a:r>
            <a:endParaRPr lang="en-US" sz="1100"/>
          </a:p>
        </p:txBody>
      </p:sp>
      <p:sp>
        <p:nvSpPr>
          <p:cNvPr id="44" name="TextBox 44"/>
          <p:cNvSpPr txBox="1"/>
          <p:nvPr/>
        </p:nvSpPr>
        <p:spPr>
          <a:xfrm>
            <a:off x="6832032" y="6294091"/>
            <a:ext cx="4547497" cy="1524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000" b="0" i="0" strike="noStrike">
                <a:solidFill>
                  <a:srgbClr val="0A1F3D">
                    <a:alpha val="90196"/>
                  </a:srgbClr>
                </a:solidFill>
                <a:latin typeface="Source Han Sans"/>
                <a:ea typeface="Source Han Sans"/>
                <a:cs typeface="Source Han Sans"/>
              </a:rPr>
              <a:t>追加公告管理和订单生成功能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333333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3" name="AutoShap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blipFill rotWithShape="1">
            <a:blip r:embed="rId1">
              <a:alphaModFix amt="100000"/>
              <a:alphaModFix amt="100000"/>
            </a:blip>
            <a:stretch>
              <a:fillRect/>
            </a:stretch>
          </a:blipFill>
          <a:ln>
            <a:headEnd type="none"/>
            <a:tailEnd type="none"/>
          </a:ln>
        </p:spPr>
      </p:sp>
      <p:sp>
        <p:nvSpPr>
          <p:cNvPr id="4" name="AutoShape 4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F3D">
              <a:alpha val="65098"/>
            </a:srgbClr>
          </a:solidFill>
          <a:ln>
            <a:headEnd type="none"/>
            <a:tailEnd type="none"/>
          </a:ln>
        </p:spPr>
      </p:sp>
      <p:sp>
        <p:nvSpPr>
          <p:cNvPr id="5" name="TextBox 5"/>
          <p:cNvSpPr txBox="1"/>
          <p:nvPr/>
        </p:nvSpPr>
        <p:spPr>
          <a:xfrm>
            <a:off x="457086" y="476250"/>
            <a:ext cx="11274781" cy="14287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solidFill>
                  <a:srgbClr val="F1F3F5">
                    <a:alpha val="60000"/>
                  </a:srgbClr>
                </a:solidFill>
                <a:latin typeface="Inter"/>
                <a:ea typeface="Inter"/>
                <a:cs typeface="Inter"/>
              </a:rPr>
              <a:t>校园二手图书交易平台</a:t>
            </a:r>
            <a:endParaRPr lang="en-US" sz="1100"/>
          </a:p>
        </p:txBody>
      </p:sp>
      <p:sp>
        <p:nvSpPr>
          <p:cNvPr id="6" name="TextBox 6"/>
          <p:cNvSpPr txBox="1"/>
          <p:nvPr/>
        </p:nvSpPr>
        <p:spPr>
          <a:xfrm>
            <a:off x="2529148" y="2719835"/>
            <a:ext cx="7130656" cy="8382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1"/>
          <a:lstStyle/>
          <a:p>
            <a:pPr algn="ctr">
              <a:defRPr/>
            </a:pPr>
            <a:r>
              <a:rPr lang="en-US" sz="6000" b="1" i="0" strike="noStrike">
                <a:solidFill>
                  <a:srgbClr val="F1F3F5">
                    <a:alpha val="100000"/>
                  </a:srgbClr>
                </a:solidFill>
                <a:latin typeface="Source Han Serif CN"/>
                <a:ea typeface="Source Han Serif CN"/>
                <a:cs typeface="Source Han Serif CN"/>
              </a:rPr>
              <a:t>感谢聆听</a:t>
            </a:r>
            <a:endParaRPr lang="en-US" sz="1100"/>
          </a:p>
        </p:txBody>
      </p:sp>
      <p:sp>
        <p:nvSpPr>
          <p:cNvPr id="7" name="TextBox 7"/>
          <p:cNvSpPr txBox="1"/>
          <p:nvPr/>
        </p:nvSpPr>
        <p:spPr>
          <a:xfrm>
            <a:off x="2647288" y="3786635"/>
            <a:ext cx="6894375" cy="365671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1"/>
          <a:lstStyle/>
          <a:p>
            <a:pPr algn="ctr">
              <a:defRPr/>
            </a:pPr>
            <a:r>
              <a:rPr lang="en-US" sz="1800" b="0" i="0" strike="noStrike">
                <a:solidFill>
                  <a:srgbClr val="F1F3F5">
                    <a:alpha val="90196"/>
                  </a:srgbClr>
                </a:solidFill>
                <a:latin typeface="Source Han Sans"/>
                <a:ea typeface="Source Han Sans"/>
                <a:cs typeface="Source Han Sans"/>
              </a:rPr>
              <a:t>欢迎各位老师提问与指导</a:t>
            </a:r>
            <a:endParaRPr lang="en-US" sz="1100"/>
          </a:p>
        </p:txBody>
      </p:sp>
      <p:sp>
        <p:nvSpPr>
          <p:cNvPr id="8" name="TextBox 8"/>
          <p:cNvSpPr txBox="1"/>
          <p:nvPr/>
        </p:nvSpPr>
        <p:spPr>
          <a:xfrm>
            <a:off x="457086" y="6248400"/>
            <a:ext cx="748567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solidFill>
                  <a:srgbClr val="F1F3F5">
                    <a:alpha val="100000"/>
                  </a:srgbClr>
                </a:solidFill>
                <a:latin typeface="Inter"/>
                <a:ea typeface="Inter"/>
                <a:cs typeface="Inter"/>
              </a:rPr>
              <a:t>项目结项答辩</a:t>
            </a:r>
            <a:endParaRPr lang="en-US" sz="1100"/>
          </a:p>
        </p:txBody>
      </p:sp>
      <p:sp>
        <p:nvSpPr>
          <p:cNvPr id="9" name="TextBox 9"/>
          <p:cNvSpPr txBox="1"/>
          <p:nvPr/>
        </p:nvSpPr>
        <p:spPr>
          <a:xfrm>
            <a:off x="11382356" y="6248400"/>
            <a:ext cx="378078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solidFill>
                  <a:srgbClr val="F1F3F5">
                    <a:alpha val="100000"/>
                  </a:srgbClr>
                </a:solidFill>
                <a:latin typeface="Inter"/>
                <a:ea typeface="Inter"/>
                <a:cs typeface="Inter"/>
              </a:rPr>
              <a:t>15 / 15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6004</Words>
  <Application>WPS 演示</Application>
  <PresentationFormat>On-screen Show (4:3)</PresentationFormat>
  <Paragraphs>651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31" baseType="lpstr">
      <vt:lpstr>Arial</vt:lpstr>
      <vt:lpstr>宋体</vt:lpstr>
      <vt:lpstr>Wingdings</vt:lpstr>
      <vt:lpstr>Inter</vt:lpstr>
      <vt:lpstr>Segoe Print</vt:lpstr>
      <vt:lpstr>Source Han Serif CN</vt:lpstr>
      <vt:lpstr>Source Han Sans</vt:lpstr>
      <vt:lpstr>AlibabaPuHuiTi</vt:lpstr>
      <vt:lpstr>Inter, sans-serif</vt:lpstr>
      <vt:lpstr>"Source Han Serif CN", serif</vt:lpstr>
      <vt:lpstr>"Source Han Sans", AlibabaPuHuiTi, sans-serif</vt:lpstr>
      <vt:lpstr>Poppins</vt:lpstr>
      <vt:lpstr>Calibri</vt:lpstr>
      <vt:lpstr>微软雅黑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WRJ</cp:lastModifiedBy>
  <cp:revision>2</cp:revision>
  <dcterms:created xsi:type="dcterms:W3CDTF">2006-08-16T00:00:00Z</dcterms:created>
  <dcterms:modified xsi:type="dcterms:W3CDTF">2026-05-17T09:51:07Z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55033541BB454C13814A30C2D26F7C04_12</vt:lpwstr>
  </property>
  <property fmtid="{D5CDD505-2E9C-101B-9397-08002B2CF9AE}" pid="3" name="KSOProductBuildVer">
    <vt:lpwstr>2052-12.1.0.22130</vt:lpwstr>
  </property>
</Properties>
</file>